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118"/>
    <p:restoredTop sz="76719"/>
  </p:normalViewPr>
  <p:slideViewPr>
    <p:cSldViewPr snapToGrid="0">
      <p:cViewPr varScale="1">
        <p:scale>
          <a:sx n="93" d="100"/>
          <a:sy n="93" d="100"/>
        </p:scale>
        <p:origin x="8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BF400-B80D-7D46-A17B-C89D18A2AF3A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2878B2-BA50-8E49-9A78-C01B05709F5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9877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878B2-BA50-8E49-9A78-C01B05709F52}" type="slidenum">
              <a:rPr lang="sk-SK" smtClean="0"/>
              <a:t>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14682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878B2-BA50-8E49-9A78-C01B05709F52}" type="slidenum">
              <a:rPr lang="sk-SK" smtClean="0"/>
              <a:t>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3241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878B2-BA50-8E49-9A78-C01B05709F52}" type="slidenum">
              <a:rPr lang="sk-SK" smtClean="0"/>
              <a:t>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68772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878B2-BA50-8E49-9A78-C01B05709F52}" type="slidenum">
              <a:rPr lang="sk-SK" smtClean="0"/>
              <a:t>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87781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878B2-BA50-8E49-9A78-C01B05709F52}" type="slidenum">
              <a:rPr lang="sk-SK" smtClean="0"/>
              <a:t>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90439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878B2-BA50-8E49-9A78-C01B05709F52}" type="slidenum">
              <a:rPr lang="sk-SK" smtClean="0"/>
              <a:t>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39238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878B2-BA50-8E49-9A78-C01B05709F52}" type="slidenum">
              <a:rPr lang="sk-SK" smtClean="0"/>
              <a:t>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23562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878B2-BA50-8E49-9A78-C01B05709F52}" type="slidenum">
              <a:rPr lang="sk-SK" smtClean="0"/>
              <a:t>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60193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878B2-BA50-8E49-9A78-C01B05709F52}" type="slidenum">
              <a:rPr lang="sk-SK" smtClean="0"/>
              <a:t>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72653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878B2-BA50-8E49-9A78-C01B05709F52}" type="slidenum">
              <a:rPr lang="sk-SK" smtClean="0"/>
              <a:t>10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47048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878B2-BA50-8E49-9A78-C01B05709F52}" type="slidenum">
              <a:rPr lang="sk-SK" smtClean="0"/>
              <a:t>11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33712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878B2-BA50-8E49-9A78-C01B05709F52}" type="slidenum">
              <a:rPr lang="sk-SK" smtClean="0"/>
              <a:t>12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98063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EF0690-7B45-C5FF-57CF-CF0F91915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B5E9AC0-B38B-5B7F-5616-F4596FD18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4C4A7E17-3FA0-4847-85F7-A3E6A01AC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A4B3-3C9E-E04F-B55D-F59C9BC1799F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25EE1B3-B09D-F5A0-FB82-98BF15249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CDBBD1A7-C7CF-F211-AC55-365BB65E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9CA-FFDF-5E4A-B93F-5EEBFADE75D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2421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A4F59B-8980-EFCC-970B-CE1ECAB2E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83744CC-67B0-4836-9AB3-8E6370C28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74AE6190-77D7-B226-9754-0FFCC8E01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A4B3-3C9E-E04F-B55D-F59C9BC1799F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02B0149-D4BC-AAC4-CAA9-BC0C79DEE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4CF7E12-576F-B404-8108-DD25E7435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9CA-FFDF-5E4A-B93F-5EEBFADE75D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0204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7F335B-AE35-E7E8-D75F-BAAEABD4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83EBDF0-8B17-295D-4E8E-CAB68DE28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F8AD5D42-2BE3-53AE-8061-99AAD6344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A4B3-3C9E-E04F-B55D-F59C9BC1799F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D9EAA24-4AF1-5888-3FD7-25698F7A7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E75398EB-D169-6A41-AF07-E8EBC673A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9CA-FFDF-5E4A-B93F-5EEBFADE75D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24324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81E003-BDF3-0386-B022-BD4B750A4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8788122-8857-5F0C-24B9-7736898ED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6CE9AE55-8A24-85FD-58EB-37BA985A1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3C026CD4-4E70-8A2C-5D85-8566912A6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A4B3-3C9E-E04F-B55D-F59C9BC1799F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B4E038C-FB59-761D-73D3-B45FF0FBD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586A6AD5-3A3C-9559-4A0A-D6C26EB6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9CA-FFDF-5E4A-B93F-5EEBFADE75D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95402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6AA1FC-8488-0941-2B70-42A56FE8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55A40EE-5649-D18C-3663-E5F01C734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C3F5D867-D88F-218F-F816-B73198B5B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DDAA8F6-8C10-E582-E156-2D413996D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F7F1A70F-D23B-F326-B6FC-A12783462A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E972568B-661E-B957-DA71-4CF02FAA1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A4B3-3C9E-E04F-B55D-F59C9BC1799F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81B5BFAA-AEB7-6419-41D0-1190944C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19DA019D-7911-217B-0AC7-E057A19B2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9CA-FFDF-5E4A-B93F-5EEBFADE75D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7268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554F05-4BE4-7CC6-E37A-3CE0F71F0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3F28F065-693C-0EE5-D27F-1CCBCDC72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A4B3-3C9E-E04F-B55D-F59C9BC1799F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E02B991B-7386-62F8-2510-E547D91C8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98B2E6C1-FA0A-C96C-E048-5675BA9C7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9CA-FFDF-5E4A-B93F-5EEBFADE75D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2717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2D053EF2-E6D4-7C82-1BED-DFAB2631E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A4B3-3C9E-E04F-B55D-F59C9BC1799F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80E0FA22-A281-8255-63E2-C9007CD67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61B1FC1-8367-7E9F-5EA4-F6B4FD335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9CA-FFDF-5E4A-B93F-5EEBFADE75D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9712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4A415C-CE71-D47A-B15C-C8AE45401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54B6308-1D7C-B32D-13B5-9786B1D61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33EB404-BC26-02E4-B696-4DC4F765E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20862442-19C1-BBE9-029E-CD24296E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A4B3-3C9E-E04F-B55D-F59C9BC1799F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6330443D-449C-5BB3-5AAF-EC740F0F8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1451D085-BAF9-23D8-0CED-FEC41580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9CA-FFDF-5E4A-B93F-5EEBFADE75D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2832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A455EC-C631-D3F7-2664-86FA236E9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33A44B42-A83B-7745-44C1-E1F8D96CF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A4A74A0-1FA2-6A8E-95AF-5623EB083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85389D4A-7ED0-3856-AA32-EAB5E5EB4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A4B3-3C9E-E04F-B55D-F59C9BC1799F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A185337E-AB02-15E6-08B7-4A35D9558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80F0ECB7-7450-8A56-54F6-CC987FF7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9CA-FFDF-5E4A-B93F-5EEBFADE75D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41350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28887E-DCD2-AA9C-91E1-0661E8177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4BA7269E-A8A8-9016-160E-3ABDB2485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0D704455-A11E-6528-B7A5-AE144BF0D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A4B3-3C9E-E04F-B55D-F59C9BC1799F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A89C664A-F647-DC25-6121-E1237316F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EED1534D-6F89-E844-F2D9-15F65EDE0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9CA-FFDF-5E4A-B93F-5EEBFADE75D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94850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A7ED57BC-D467-9856-360D-40FD10FB1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57803AF7-C7BA-8D39-E5B2-F3DB542BF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ACB0603B-D8E5-5779-4424-2C143440D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A4B3-3C9E-E04F-B55D-F59C9BC1799F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B5FB7FEF-B13B-AA5F-B31C-16087B37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C939CB95-EDB0-5F0C-C2B9-44FDD720E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9CA-FFDF-5E4A-B93F-5EEBFADE75D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98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F7345FE0-5365-00A5-2D94-AAD1336C9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384122A-D192-1A0F-A72F-1323A0B4B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C3231574-EF41-D96C-E8C6-9843FC7EC7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CA4B3-3C9E-E04F-B55D-F59C9BC1799F}" type="datetimeFigureOut">
              <a:rPr lang="sk-SK" smtClean="0"/>
              <a:t>10. 5. 2026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872F2ED-1AFA-780C-EF00-8299B82EE6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9487BEC2-0D74-D203-B439-D47036AD7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5439CA-FFDF-5E4A-B93F-5EEBFADE75D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8775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3474720" y="3584448"/>
            <a:ext cx="5212080" cy="254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88720" y="3840480"/>
            <a:ext cx="3200400" cy="96012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3886200"/>
            <a:ext cx="3017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C5CAE9"/>
                </a:solidFill>
              </a:rPr>
              <a:t>DATASET</a:t>
            </a:r>
            <a:endParaRPr sz="800" b="0" i="0" dirty="0">
              <a:solidFill>
                <a:srgbClr val="C5CAE9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80160" y="4241581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</a:rPr>
              <a:t>meteo_data_raw.csv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3840480"/>
            <a:ext cx="3200400" cy="96012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3886200"/>
            <a:ext cx="3017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C5CAE9"/>
                </a:solidFill>
              </a:rPr>
              <a:t>VZORIEK</a:t>
            </a:r>
            <a:endParaRPr sz="800" b="0" i="0" dirty="0">
              <a:solidFill>
                <a:srgbClr val="C5CAE9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46320" y="422708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</a:rPr>
              <a:t>25 600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3840480"/>
            <a:ext cx="3200400" cy="96012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3886200"/>
            <a:ext cx="3017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CAE9"/>
                </a:solidFill>
              </a:rPr>
              <a:t>PARAMETROV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41581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C5E0BA7A-3C04-D236-42F5-B820648B5545}"/>
              </a:ext>
            </a:extLst>
          </p:cNvPr>
          <p:cNvSpPr txBox="1"/>
          <p:nvPr/>
        </p:nvSpPr>
        <p:spPr>
          <a:xfrm>
            <a:off x="2244735" y="1290728"/>
            <a:ext cx="73727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3600" b="1" dirty="0">
                <a:solidFill>
                  <a:schemeClr val="bg1"/>
                </a:solidFill>
              </a:rPr>
              <a:t>Štatistická analýza meteorologických dát</a:t>
            </a:r>
          </a:p>
        </p:txBody>
      </p:sp>
      <p:sp>
        <p:nvSpPr>
          <p:cNvPr id="18" name="BlokTextu 17">
            <a:extLst>
              <a:ext uri="{FF2B5EF4-FFF2-40B4-BE49-F238E27FC236}">
                <a16:creationId xmlns:a16="http://schemas.microsoft.com/office/drawing/2014/main" id="{E1541E03-32F8-FA19-6136-85BD1840D857}"/>
              </a:ext>
            </a:extLst>
          </p:cNvPr>
          <p:cNvSpPr txBox="1"/>
          <p:nvPr/>
        </p:nvSpPr>
        <p:spPr>
          <a:xfrm>
            <a:off x="5931091" y="6067168"/>
            <a:ext cx="6787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2000" dirty="0">
                <a:solidFill>
                  <a:schemeClr val="bg1"/>
                </a:solidFill>
              </a:rPr>
              <a:t>Bc. Matej </a:t>
            </a:r>
            <a:r>
              <a:rPr lang="sk-SK" sz="2000" dirty="0" err="1">
                <a:solidFill>
                  <a:schemeClr val="bg1"/>
                </a:solidFill>
              </a:rPr>
              <a:t>Režnák</a:t>
            </a:r>
            <a:r>
              <a:rPr lang="sk-SK" sz="2000" dirty="0">
                <a:solidFill>
                  <a:schemeClr val="bg1"/>
                </a:solidFill>
              </a:rPr>
              <a:t>, Bc. Tomáš Varmuža</a:t>
            </a:r>
          </a:p>
        </p:txBody>
      </p:sp>
      <p:sp>
        <p:nvSpPr>
          <p:cNvPr id="19" name="BlokTextu 18">
            <a:extLst>
              <a:ext uri="{FF2B5EF4-FFF2-40B4-BE49-F238E27FC236}">
                <a16:creationId xmlns:a16="http://schemas.microsoft.com/office/drawing/2014/main" id="{ABD478AA-0BF1-819A-2ED7-C6ECF467E40B}"/>
              </a:ext>
            </a:extLst>
          </p:cNvPr>
          <p:cNvSpPr txBox="1"/>
          <p:nvPr/>
        </p:nvSpPr>
        <p:spPr>
          <a:xfrm>
            <a:off x="2701858" y="3080516"/>
            <a:ext cx="6787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dirty="0">
                <a:solidFill>
                  <a:schemeClr val="bg1"/>
                </a:solidFill>
              </a:rPr>
              <a:t>MKR – Semestrálne zadanie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7"/>
            <a:ext cx="34977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"/>
            <a:ext cx="33524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</a:rPr>
              <a:t>Zadanie</a:t>
            </a:r>
            <a:r>
              <a:rPr sz="2400" b="1" dirty="0">
                <a:solidFill>
                  <a:srgbClr val="FFFFFF"/>
                </a:solidFill>
              </a:rPr>
              <a:t> a </a:t>
            </a:r>
            <a:r>
              <a:rPr sz="2400" b="1" dirty="0" err="1">
                <a:solidFill>
                  <a:srgbClr val="FFFFFF"/>
                </a:solidFill>
              </a:rPr>
              <a:t>cieľ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projektu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478300"/>
            <a:ext cx="11551615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dirty="0">
                <a:solidFill>
                  <a:srgbClr val="222222"/>
                </a:solidFill>
              </a:rPr>
              <a:t>•</a:t>
            </a:r>
            <a:r>
              <a:rPr sz="1250" dirty="0">
                <a:solidFill>
                  <a:srgbClr val="222222"/>
                </a:solidFill>
              </a:rPr>
              <a:t> </a:t>
            </a:r>
            <a:r>
              <a:rPr dirty="0">
                <a:solidFill>
                  <a:srgbClr val="222222"/>
                </a:solidFill>
              </a:rPr>
              <a:t>Uskutočniť </a:t>
            </a:r>
            <a:r>
              <a:rPr dirty="0" err="1">
                <a:solidFill>
                  <a:srgbClr val="222222"/>
                </a:solidFill>
              </a:rPr>
              <a:t>základnú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štatistickú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analýzu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meteorologickej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dátovej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sady</a:t>
            </a:r>
            <a:endParaRPr lang="sk-SK" dirty="0">
              <a:solidFill>
                <a:srgbClr val="222222"/>
              </a:solidFill>
            </a:endParaRPr>
          </a:p>
          <a:p>
            <a:pPr>
              <a:spcAft>
                <a:spcPts val="700"/>
              </a:spcAft>
            </a:pPr>
            <a:endParaRPr dirty="0">
              <a:solidFill>
                <a:srgbClr val="222222"/>
              </a:solidFill>
            </a:endParaRP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222222"/>
                </a:solidFill>
              </a:rPr>
              <a:t>• </a:t>
            </a:r>
            <a:r>
              <a:rPr dirty="0" err="1">
                <a:solidFill>
                  <a:srgbClr val="222222"/>
                </a:solidFill>
              </a:rPr>
              <a:t>Identifikovať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chýbajúce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dni</a:t>
            </a:r>
            <a:r>
              <a:rPr dirty="0">
                <a:solidFill>
                  <a:srgbClr val="222222"/>
                </a:solidFill>
              </a:rPr>
              <a:t> a </a:t>
            </a:r>
            <a:r>
              <a:rPr dirty="0" err="1">
                <a:solidFill>
                  <a:srgbClr val="222222"/>
                </a:solidFill>
              </a:rPr>
              <a:t>chýbajúce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vzorky</a:t>
            </a:r>
            <a:r>
              <a:rPr dirty="0">
                <a:solidFill>
                  <a:srgbClr val="222222"/>
                </a:solidFill>
              </a:rPr>
              <a:t> (</a:t>
            </a:r>
            <a:r>
              <a:rPr dirty="0" err="1">
                <a:solidFill>
                  <a:srgbClr val="222222"/>
                </a:solidFill>
              </a:rPr>
              <a:t>NaN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hodnoty</a:t>
            </a:r>
            <a:r>
              <a:rPr dirty="0">
                <a:solidFill>
                  <a:srgbClr val="222222"/>
                </a:solidFill>
              </a:rPr>
              <a:t>)</a:t>
            </a:r>
            <a:endParaRPr lang="sk-SK" dirty="0">
              <a:solidFill>
                <a:srgbClr val="222222"/>
              </a:solidFill>
            </a:endParaRPr>
          </a:p>
          <a:p>
            <a:pPr>
              <a:spcAft>
                <a:spcPts val="700"/>
              </a:spcAft>
            </a:pPr>
            <a:endParaRPr dirty="0">
              <a:solidFill>
                <a:srgbClr val="222222"/>
              </a:solidFill>
            </a:endParaRP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222222"/>
                </a:solidFill>
              </a:rPr>
              <a:t>• </a:t>
            </a:r>
            <a:r>
              <a:rPr dirty="0" err="1">
                <a:solidFill>
                  <a:srgbClr val="222222"/>
                </a:solidFill>
              </a:rPr>
              <a:t>Detekovať</a:t>
            </a:r>
            <a:r>
              <a:rPr dirty="0">
                <a:solidFill>
                  <a:srgbClr val="222222"/>
                </a:solidFill>
              </a:rPr>
              <a:t> a </a:t>
            </a:r>
            <a:r>
              <a:rPr dirty="0" err="1">
                <a:solidFill>
                  <a:srgbClr val="222222"/>
                </a:solidFill>
              </a:rPr>
              <a:t>odstrániť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poškodené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vzorky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pomocou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fyzikálnych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medzí</a:t>
            </a:r>
            <a:endParaRPr lang="sk-SK" dirty="0">
              <a:solidFill>
                <a:srgbClr val="222222"/>
              </a:solidFill>
            </a:endParaRPr>
          </a:p>
          <a:p>
            <a:pPr>
              <a:spcAft>
                <a:spcPts val="700"/>
              </a:spcAft>
            </a:pPr>
            <a:endParaRPr dirty="0">
              <a:solidFill>
                <a:srgbClr val="222222"/>
              </a:solidFill>
            </a:endParaRP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222222"/>
                </a:solidFill>
              </a:rPr>
              <a:t>• </a:t>
            </a:r>
            <a:r>
              <a:rPr dirty="0" err="1">
                <a:solidFill>
                  <a:srgbClr val="222222"/>
                </a:solidFill>
              </a:rPr>
              <a:t>Vizualizovať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slnečné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žiarenie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lang="sk-SK" dirty="0">
                <a:solidFill>
                  <a:srgbClr val="222222"/>
                </a:solidFill>
              </a:rPr>
              <a:t>-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ročný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priebeh</a:t>
            </a:r>
            <a:r>
              <a:rPr dirty="0">
                <a:solidFill>
                  <a:srgbClr val="222222"/>
                </a:solidFill>
              </a:rPr>
              <a:t> a </a:t>
            </a:r>
            <a:r>
              <a:rPr dirty="0" err="1">
                <a:solidFill>
                  <a:srgbClr val="222222"/>
                </a:solidFill>
              </a:rPr>
              <a:t>mesačné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denné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profily</a:t>
            </a:r>
            <a:endParaRPr lang="sk-SK" dirty="0">
              <a:solidFill>
                <a:srgbClr val="222222"/>
              </a:solidFill>
            </a:endParaRPr>
          </a:p>
          <a:p>
            <a:pPr>
              <a:spcAft>
                <a:spcPts val="700"/>
              </a:spcAft>
            </a:pPr>
            <a:endParaRPr dirty="0">
              <a:solidFill>
                <a:srgbClr val="222222"/>
              </a:solidFill>
            </a:endParaRP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222222"/>
                </a:solidFill>
              </a:rPr>
              <a:t>• </a:t>
            </a:r>
            <a:r>
              <a:rPr dirty="0" err="1">
                <a:solidFill>
                  <a:srgbClr val="222222"/>
                </a:solidFill>
              </a:rPr>
              <a:t>Analyzovať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korelačné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závislosti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medzi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parametrami</a:t>
            </a:r>
            <a:r>
              <a:rPr dirty="0">
                <a:solidFill>
                  <a:srgbClr val="222222"/>
                </a:solidFill>
              </a:rPr>
              <a:t> (</a:t>
            </a:r>
            <a:r>
              <a:rPr dirty="0" err="1">
                <a:solidFill>
                  <a:srgbClr val="222222"/>
                </a:solidFill>
              </a:rPr>
              <a:t>Pearsonova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matica</a:t>
            </a:r>
            <a:r>
              <a:rPr sz="1250" dirty="0">
                <a:solidFill>
                  <a:srgbClr val="222222"/>
                </a:solidFill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623560"/>
            <a:ext cx="11551615" cy="1033272"/>
          </a:xfrm>
          <a:prstGeom prst="rect">
            <a:avLst/>
          </a:prstGeom>
          <a:solidFill>
            <a:srgbClr val="E8EAF6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39" y="5847808"/>
            <a:ext cx="112772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1A237E"/>
                </a:solidFill>
              </a:rPr>
              <a:t>Vstup</a:t>
            </a:r>
            <a:r>
              <a:rPr sz="1600" b="1" dirty="0">
                <a:solidFill>
                  <a:srgbClr val="1A237E"/>
                </a:solidFill>
              </a:rPr>
              <a:t>: </a:t>
            </a:r>
            <a:r>
              <a:rPr sz="1600" b="0" dirty="0" err="1">
                <a:solidFill>
                  <a:srgbClr val="222222"/>
                </a:solidFill>
              </a:rPr>
              <a:t>meteo_data</a:t>
            </a:r>
            <a:r>
              <a:rPr sz="1600" b="0" dirty="0">
                <a:solidFill>
                  <a:srgbClr val="222222"/>
                </a:solidFill>
              </a:rPr>
              <a:t>/train/meteo_data_raw.csv</a:t>
            </a:r>
          </a:p>
          <a:p>
            <a:r>
              <a:rPr sz="1600" b="1" dirty="0" err="1">
                <a:solidFill>
                  <a:srgbClr val="1A237E"/>
                </a:solidFill>
              </a:rPr>
              <a:t>Výstup</a:t>
            </a:r>
            <a:r>
              <a:rPr sz="1600" b="1" dirty="0">
                <a:solidFill>
                  <a:srgbClr val="1A237E"/>
                </a:solidFill>
              </a:rPr>
              <a:t>: </a:t>
            </a:r>
            <a:r>
              <a:rPr sz="1600" b="0" dirty="0" err="1">
                <a:solidFill>
                  <a:srgbClr val="222222"/>
                </a:solidFill>
              </a:rPr>
              <a:t>output_analyza_train_raw</a:t>
            </a:r>
            <a:r>
              <a:rPr sz="1600" b="0" dirty="0">
                <a:solidFill>
                  <a:srgbClr val="222222"/>
                </a:solidFill>
              </a:rPr>
              <a:t>/ — </a:t>
            </a:r>
            <a:r>
              <a:rPr sz="1600" b="0" dirty="0" err="1">
                <a:solidFill>
                  <a:srgbClr val="222222"/>
                </a:solidFill>
              </a:rPr>
              <a:t>grafy</a:t>
            </a:r>
            <a:r>
              <a:rPr sz="1600" b="0" dirty="0">
                <a:solidFill>
                  <a:srgbClr val="222222"/>
                </a:solidFill>
              </a:rPr>
              <a:t>, </a:t>
            </a:r>
            <a:r>
              <a:rPr sz="1600" b="0" dirty="0" err="1">
                <a:solidFill>
                  <a:srgbClr val="222222"/>
                </a:solidFill>
              </a:rPr>
              <a:t>štatistiky</a:t>
            </a:r>
            <a:r>
              <a:rPr sz="1600" b="0" dirty="0">
                <a:solidFill>
                  <a:srgbClr val="222222"/>
                </a:solidFill>
              </a:rPr>
              <a:t>, HTML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1569" y="201167"/>
            <a:ext cx="34977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"/>
            <a:ext cx="36275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Dataset a </a:t>
            </a:r>
            <a:r>
              <a:rPr sz="2400" b="1" dirty="0" err="1">
                <a:solidFill>
                  <a:srgbClr val="FFFFFF"/>
                </a:solidFill>
              </a:rPr>
              <a:t>merací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systém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684367" cy="4937760"/>
          </a:xfrm>
          <a:prstGeom prst="rect">
            <a:avLst/>
          </a:prstGeom>
          <a:solidFill>
            <a:srgbClr val="F8F9FF"/>
          </a:solidFill>
          <a:ln w="6350">
            <a:solidFill>
              <a:srgbClr val="E0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41004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3949AB"/>
                </a:solidFill>
              </a:rPr>
              <a:t>O </a:t>
            </a:r>
            <a:r>
              <a:rPr sz="2600" b="1" i="0" dirty="0" err="1">
                <a:solidFill>
                  <a:srgbClr val="3949AB"/>
                </a:solidFill>
              </a:rPr>
              <a:t>datasete</a:t>
            </a:r>
            <a:r>
              <a:rPr lang="sk-SK" sz="2600" b="1" dirty="0">
                <a:solidFill>
                  <a:srgbClr val="3949AB"/>
                </a:solidFill>
              </a:rPr>
              <a:t>:</a:t>
            </a:r>
            <a:endParaRPr sz="2600" b="1" i="0" dirty="0">
              <a:solidFill>
                <a:srgbClr val="3949A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740932"/>
            <a:ext cx="5410047" cy="3860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600" b="1" dirty="0">
                <a:solidFill>
                  <a:srgbClr val="222222"/>
                </a:solidFill>
              </a:rPr>
              <a:t>• </a:t>
            </a:r>
            <a:r>
              <a:rPr sz="1600" b="1" dirty="0" err="1">
                <a:solidFill>
                  <a:srgbClr val="222222"/>
                </a:solidFill>
              </a:rPr>
              <a:t>Meracia</a:t>
            </a:r>
            <a:r>
              <a:rPr sz="1600" b="1" dirty="0">
                <a:solidFill>
                  <a:srgbClr val="222222"/>
                </a:solidFill>
              </a:rPr>
              <a:t> </a:t>
            </a:r>
            <a:r>
              <a:rPr sz="1600" b="1" dirty="0" err="1">
                <a:solidFill>
                  <a:srgbClr val="222222"/>
                </a:solidFill>
              </a:rPr>
              <a:t>stanica</a:t>
            </a:r>
            <a:r>
              <a:rPr sz="1600" b="1" dirty="0">
                <a:solidFill>
                  <a:srgbClr val="222222"/>
                </a:solidFill>
              </a:rPr>
              <a:t>:</a:t>
            </a:r>
          </a:p>
          <a:p>
            <a:pPr>
              <a:spcAft>
                <a:spcPts val="400"/>
              </a:spcAft>
            </a:pPr>
            <a:r>
              <a:rPr sz="1600" i="1" dirty="0">
                <a:solidFill>
                  <a:srgbClr val="555555"/>
                </a:solidFill>
              </a:rPr>
              <a:t>   </a:t>
            </a:r>
            <a:r>
              <a:rPr sz="1600" i="1" dirty="0" err="1">
                <a:solidFill>
                  <a:srgbClr val="555555"/>
                </a:solidFill>
              </a:rPr>
              <a:t>Alpnach</a:t>
            </a:r>
            <a:r>
              <a:rPr sz="1600" i="1" dirty="0">
                <a:solidFill>
                  <a:srgbClr val="555555"/>
                </a:solidFill>
              </a:rPr>
              <a:t>, </a:t>
            </a:r>
            <a:r>
              <a:rPr sz="1600" i="1" dirty="0" err="1">
                <a:solidFill>
                  <a:srgbClr val="555555"/>
                </a:solidFill>
              </a:rPr>
              <a:t>Švajčiarsko</a:t>
            </a:r>
            <a:r>
              <a:rPr sz="1600" i="1" dirty="0">
                <a:solidFill>
                  <a:srgbClr val="555555"/>
                </a:solidFill>
              </a:rPr>
              <a:t> (46,94° N)</a:t>
            </a:r>
          </a:p>
          <a:p>
            <a:pPr>
              <a:spcAft>
                <a:spcPts val="100"/>
              </a:spcAft>
            </a:pPr>
            <a:endParaRPr lang="en-US" sz="1600" b="1" dirty="0">
              <a:solidFill>
                <a:srgbClr val="222222"/>
              </a:solidFill>
            </a:endParaRPr>
          </a:p>
          <a:p>
            <a:pPr>
              <a:spcAft>
                <a:spcPts val="100"/>
              </a:spcAft>
            </a:pPr>
            <a:r>
              <a:rPr sz="1600" b="1" dirty="0">
                <a:solidFill>
                  <a:srgbClr val="222222"/>
                </a:solidFill>
              </a:rPr>
              <a:t>• Pyranometer:</a:t>
            </a:r>
          </a:p>
          <a:p>
            <a:pPr>
              <a:spcAft>
                <a:spcPts val="400"/>
              </a:spcAft>
            </a:pPr>
            <a:r>
              <a:rPr sz="1600" i="1" dirty="0">
                <a:solidFill>
                  <a:srgbClr val="555555"/>
                </a:solidFill>
              </a:rPr>
              <a:t>   Kipp &amp; </a:t>
            </a:r>
            <a:r>
              <a:rPr sz="1600" i="1" dirty="0" err="1">
                <a:solidFill>
                  <a:srgbClr val="555555"/>
                </a:solidFill>
              </a:rPr>
              <a:t>Zonen</a:t>
            </a:r>
            <a:r>
              <a:rPr sz="1600" i="1" dirty="0">
                <a:solidFill>
                  <a:srgbClr val="555555"/>
                </a:solidFill>
              </a:rPr>
              <a:t> SMP10</a:t>
            </a:r>
          </a:p>
          <a:p>
            <a:pPr>
              <a:spcAft>
                <a:spcPts val="100"/>
              </a:spcAft>
            </a:pPr>
            <a:endParaRPr lang="en-US" sz="1600" b="1" dirty="0">
              <a:solidFill>
                <a:srgbClr val="222222"/>
              </a:solidFill>
            </a:endParaRPr>
          </a:p>
          <a:p>
            <a:pPr>
              <a:spcAft>
                <a:spcPts val="100"/>
              </a:spcAft>
            </a:pPr>
            <a:r>
              <a:rPr sz="1600" b="1" dirty="0">
                <a:solidFill>
                  <a:srgbClr val="222222"/>
                </a:solidFill>
              </a:rPr>
              <a:t>• </a:t>
            </a:r>
            <a:r>
              <a:rPr sz="1600" b="1" dirty="0" err="1">
                <a:solidFill>
                  <a:srgbClr val="222222"/>
                </a:solidFill>
              </a:rPr>
              <a:t>Ventilovaný</a:t>
            </a:r>
            <a:r>
              <a:rPr sz="1600" b="1" dirty="0">
                <a:solidFill>
                  <a:srgbClr val="222222"/>
                </a:solidFill>
              </a:rPr>
              <a:t> </a:t>
            </a:r>
            <a:r>
              <a:rPr sz="1600" b="1" dirty="0" err="1">
                <a:solidFill>
                  <a:srgbClr val="222222"/>
                </a:solidFill>
              </a:rPr>
              <a:t>kryt</a:t>
            </a:r>
            <a:r>
              <a:rPr sz="1600" b="1" dirty="0">
                <a:solidFill>
                  <a:srgbClr val="222222"/>
                </a:solidFill>
              </a:rPr>
              <a:t>:</a:t>
            </a:r>
          </a:p>
          <a:p>
            <a:pPr>
              <a:spcAft>
                <a:spcPts val="400"/>
              </a:spcAft>
            </a:pPr>
            <a:r>
              <a:rPr sz="1600" i="1" dirty="0">
                <a:solidFill>
                  <a:srgbClr val="555555"/>
                </a:solidFill>
              </a:rPr>
              <a:t>   CVF4 (</a:t>
            </a:r>
            <a:r>
              <a:rPr sz="1600" i="1" dirty="0" err="1">
                <a:solidFill>
                  <a:srgbClr val="555555"/>
                </a:solidFill>
              </a:rPr>
              <a:t>ventilátor</a:t>
            </a:r>
            <a:r>
              <a:rPr sz="1600" i="1" dirty="0">
                <a:solidFill>
                  <a:srgbClr val="555555"/>
                </a:solidFill>
              </a:rPr>
              <a:t> + </a:t>
            </a:r>
            <a:r>
              <a:rPr sz="1600" i="1" dirty="0" err="1">
                <a:solidFill>
                  <a:srgbClr val="555555"/>
                </a:solidFill>
              </a:rPr>
              <a:t>ohrievač</a:t>
            </a:r>
            <a:r>
              <a:rPr sz="1600" i="1" dirty="0">
                <a:solidFill>
                  <a:srgbClr val="555555"/>
                </a:solidFill>
              </a:rPr>
              <a:t>)</a:t>
            </a:r>
          </a:p>
          <a:p>
            <a:pPr>
              <a:spcAft>
                <a:spcPts val="100"/>
              </a:spcAft>
            </a:pPr>
            <a:endParaRPr lang="en-US" sz="1600" b="1" dirty="0">
              <a:solidFill>
                <a:srgbClr val="222222"/>
              </a:solidFill>
            </a:endParaRPr>
          </a:p>
          <a:p>
            <a:pPr>
              <a:spcAft>
                <a:spcPts val="100"/>
              </a:spcAft>
            </a:pPr>
            <a:r>
              <a:rPr sz="1600" b="1" dirty="0">
                <a:solidFill>
                  <a:srgbClr val="222222"/>
                </a:solidFill>
              </a:rPr>
              <a:t>• Rok </a:t>
            </a:r>
            <a:r>
              <a:rPr sz="1600" b="1" dirty="0" err="1">
                <a:solidFill>
                  <a:srgbClr val="222222"/>
                </a:solidFill>
              </a:rPr>
              <a:t>merania</a:t>
            </a:r>
            <a:r>
              <a:rPr sz="1600" b="1" dirty="0">
                <a:solidFill>
                  <a:srgbClr val="222222"/>
                </a:solidFill>
              </a:rPr>
              <a:t>:</a:t>
            </a:r>
          </a:p>
          <a:p>
            <a:pPr>
              <a:spcAft>
                <a:spcPts val="400"/>
              </a:spcAft>
            </a:pPr>
            <a:r>
              <a:rPr sz="1600" i="1" dirty="0">
                <a:solidFill>
                  <a:srgbClr val="555555"/>
                </a:solidFill>
              </a:rPr>
              <a:t>   2018</a:t>
            </a:r>
          </a:p>
          <a:p>
            <a:pPr>
              <a:spcAft>
                <a:spcPts val="100"/>
              </a:spcAft>
            </a:pPr>
            <a:endParaRPr lang="en-US" sz="1600" b="1" dirty="0">
              <a:solidFill>
                <a:srgbClr val="222222"/>
              </a:solidFill>
            </a:endParaRPr>
          </a:p>
          <a:p>
            <a:pPr>
              <a:spcAft>
                <a:spcPts val="100"/>
              </a:spcAft>
            </a:pPr>
            <a:r>
              <a:rPr sz="1600" b="1" dirty="0">
                <a:solidFill>
                  <a:srgbClr val="222222"/>
                </a:solidFill>
              </a:rPr>
              <a:t>• </a:t>
            </a:r>
            <a:r>
              <a:rPr sz="1600" b="1" dirty="0" err="1">
                <a:solidFill>
                  <a:srgbClr val="222222"/>
                </a:solidFill>
              </a:rPr>
              <a:t>Vzorkovanie</a:t>
            </a:r>
            <a:r>
              <a:rPr sz="1600" b="1" dirty="0">
                <a:solidFill>
                  <a:srgbClr val="222222"/>
                </a:solidFill>
              </a:rPr>
              <a:t>:</a:t>
            </a:r>
          </a:p>
          <a:p>
            <a:pPr>
              <a:spcAft>
                <a:spcPts val="400"/>
              </a:spcAft>
            </a:pPr>
            <a:r>
              <a:rPr sz="1600" i="1" dirty="0">
                <a:solidFill>
                  <a:srgbClr val="555555"/>
                </a:solidFill>
              </a:rPr>
              <a:t>   ~70 </a:t>
            </a:r>
            <a:r>
              <a:rPr sz="1600" i="1" dirty="0" err="1">
                <a:solidFill>
                  <a:srgbClr val="555555"/>
                </a:solidFill>
              </a:rPr>
              <a:t>vzoriek</a:t>
            </a:r>
            <a:r>
              <a:rPr sz="1600" i="1" dirty="0">
                <a:solidFill>
                  <a:srgbClr val="555555"/>
                </a:solidFill>
              </a:rPr>
              <a:t>/</a:t>
            </a:r>
            <a:r>
              <a:rPr sz="1600" i="1" dirty="0" err="1">
                <a:solidFill>
                  <a:srgbClr val="555555"/>
                </a:solidFill>
              </a:rPr>
              <a:t>deň</a:t>
            </a:r>
            <a:endParaRPr sz="1600" i="1" dirty="0">
              <a:solidFill>
                <a:srgbClr val="555555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87287" y="1143000"/>
            <a:ext cx="5684367" cy="4937760"/>
          </a:xfrm>
          <a:prstGeom prst="rect">
            <a:avLst/>
          </a:prstGeom>
          <a:solidFill>
            <a:srgbClr val="F8F9FF"/>
          </a:solidFill>
          <a:ln w="6350">
            <a:solidFill>
              <a:srgbClr val="E0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4447" y="1234440"/>
            <a:ext cx="541004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3949AB"/>
                </a:solidFill>
              </a:rPr>
              <a:t>Parametre</a:t>
            </a:r>
            <a:r>
              <a:rPr sz="2600" b="1" i="0" dirty="0">
                <a:solidFill>
                  <a:srgbClr val="3949AB"/>
                </a:solidFill>
              </a:rPr>
              <a:t> (18 </a:t>
            </a:r>
            <a:r>
              <a:rPr sz="2600" b="1" i="0" dirty="0" err="1">
                <a:solidFill>
                  <a:srgbClr val="3949AB"/>
                </a:solidFill>
              </a:rPr>
              <a:t>stĺpcov</a:t>
            </a:r>
            <a:r>
              <a:rPr sz="2600" b="1" i="0" dirty="0">
                <a:solidFill>
                  <a:srgbClr val="3949AB"/>
                </a:solidFill>
              </a:rPr>
              <a:t>)</a:t>
            </a:r>
            <a:r>
              <a:rPr lang="sk-SK" sz="2600" b="1" dirty="0">
                <a:solidFill>
                  <a:srgbClr val="3949AB"/>
                </a:solidFill>
              </a:rPr>
              <a:t>:</a:t>
            </a:r>
            <a:endParaRPr sz="2600" b="1" i="0" dirty="0">
              <a:solidFill>
                <a:srgbClr val="3949AB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24446" y="1740932"/>
            <a:ext cx="5410047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dirty="0">
                <a:solidFill>
                  <a:srgbClr val="222222"/>
                </a:solidFill>
              </a:rPr>
              <a:t>• </a:t>
            </a:r>
            <a:r>
              <a:rPr sz="1600" dirty="0" err="1">
                <a:solidFill>
                  <a:srgbClr val="222222"/>
                </a:solidFill>
              </a:rPr>
              <a:t>Žiarenie</a:t>
            </a:r>
            <a:r>
              <a:rPr sz="1600" dirty="0">
                <a:solidFill>
                  <a:srgbClr val="222222"/>
                </a:solidFill>
              </a:rPr>
              <a:t>: </a:t>
            </a:r>
            <a:endParaRPr lang="sk-SK"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r>
              <a:rPr lang="sk-SK" sz="1600" dirty="0">
                <a:solidFill>
                  <a:srgbClr val="222222"/>
                </a:solidFill>
              </a:rPr>
              <a:t>        • </a:t>
            </a:r>
            <a:r>
              <a:rPr lang="sk-SK" sz="1600" dirty="0" err="1">
                <a:solidFill>
                  <a:srgbClr val="222222"/>
                </a:solidFill>
              </a:rPr>
              <a:t>Irradiance</a:t>
            </a:r>
            <a:r>
              <a:rPr lang="sk-SK" sz="1600" dirty="0">
                <a:solidFill>
                  <a:srgbClr val="222222"/>
                </a:solidFill>
              </a:rPr>
              <a:t>, </a:t>
            </a:r>
            <a:r>
              <a:rPr lang="sk-SK" sz="1600" dirty="0" err="1">
                <a:solidFill>
                  <a:srgbClr val="222222"/>
                </a:solidFill>
              </a:rPr>
              <a:t>IrradianceNotCompensated</a:t>
            </a:r>
            <a:endParaRPr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222222"/>
                </a:solidFill>
              </a:rPr>
              <a:t>• </a:t>
            </a:r>
            <a:r>
              <a:rPr sz="1600" dirty="0" err="1">
                <a:solidFill>
                  <a:srgbClr val="222222"/>
                </a:solidFill>
              </a:rPr>
              <a:t>Teploty</a:t>
            </a:r>
            <a:r>
              <a:rPr sz="1600" dirty="0">
                <a:solidFill>
                  <a:srgbClr val="222222"/>
                </a:solidFill>
              </a:rPr>
              <a:t>: </a:t>
            </a:r>
            <a:endParaRPr lang="sk-SK"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r>
              <a:rPr lang="sk-SK" sz="1600" dirty="0">
                <a:solidFill>
                  <a:srgbClr val="222222"/>
                </a:solidFill>
              </a:rPr>
              <a:t>        • </a:t>
            </a:r>
            <a:r>
              <a:rPr sz="1600" dirty="0" err="1">
                <a:solidFill>
                  <a:srgbClr val="222222"/>
                </a:solidFill>
              </a:rPr>
              <a:t>BodyTemp</a:t>
            </a:r>
            <a:r>
              <a:rPr sz="1600" dirty="0">
                <a:solidFill>
                  <a:srgbClr val="222222"/>
                </a:solidFill>
              </a:rPr>
              <a:t>, </a:t>
            </a:r>
            <a:r>
              <a:rPr sz="1600" dirty="0" err="1">
                <a:solidFill>
                  <a:srgbClr val="222222"/>
                </a:solidFill>
              </a:rPr>
              <a:t>HumidityTemp</a:t>
            </a:r>
            <a:r>
              <a:rPr sz="1600" dirty="0">
                <a:solidFill>
                  <a:srgbClr val="222222"/>
                </a:solidFill>
              </a:rPr>
              <a:t>, </a:t>
            </a:r>
            <a:r>
              <a:rPr sz="1600" dirty="0" err="1">
                <a:solidFill>
                  <a:srgbClr val="222222"/>
                </a:solidFill>
              </a:rPr>
              <a:t>PressureTemp</a:t>
            </a:r>
            <a:r>
              <a:rPr sz="1600" dirty="0">
                <a:solidFill>
                  <a:srgbClr val="222222"/>
                </a:solidFill>
              </a:rPr>
              <a:t> </a:t>
            </a: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222222"/>
                </a:solidFill>
              </a:rPr>
              <a:t>• </a:t>
            </a:r>
            <a:r>
              <a:rPr sz="1600" dirty="0" err="1">
                <a:solidFill>
                  <a:srgbClr val="222222"/>
                </a:solidFill>
              </a:rPr>
              <a:t>Tlak</a:t>
            </a:r>
            <a:r>
              <a:rPr sz="1600" dirty="0">
                <a:solidFill>
                  <a:srgbClr val="222222"/>
                </a:solidFill>
              </a:rPr>
              <a:t>: </a:t>
            </a:r>
            <a:endParaRPr lang="sk-SK"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r>
              <a:rPr lang="sk-SK" sz="1600" dirty="0">
                <a:solidFill>
                  <a:srgbClr val="222222"/>
                </a:solidFill>
              </a:rPr>
              <a:t>        • </a:t>
            </a:r>
            <a:r>
              <a:rPr sz="1600" dirty="0">
                <a:solidFill>
                  <a:srgbClr val="222222"/>
                </a:solidFill>
              </a:rPr>
              <a:t>Pressure, </a:t>
            </a:r>
            <a:r>
              <a:rPr sz="1600" dirty="0" err="1">
                <a:solidFill>
                  <a:srgbClr val="222222"/>
                </a:solidFill>
              </a:rPr>
              <a:t>PressureAvg</a:t>
            </a:r>
            <a:endParaRPr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222222"/>
                </a:solidFill>
              </a:rPr>
              <a:t>• </a:t>
            </a:r>
            <a:r>
              <a:rPr sz="1600" dirty="0" err="1">
                <a:solidFill>
                  <a:srgbClr val="222222"/>
                </a:solidFill>
              </a:rPr>
              <a:t>Vlhkosť</a:t>
            </a:r>
            <a:r>
              <a:rPr sz="1600" dirty="0">
                <a:solidFill>
                  <a:srgbClr val="222222"/>
                </a:solidFill>
              </a:rPr>
              <a:t>: </a:t>
            </a:r>
            <a:endParaRPr lang="sk-SK"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r>
              <a:rPr lang="sk-SK" sz="1600" dirty="0">
                <a:solidFill>
                  <a:srgbClr val="222222"/>
                </a:solidFill>
              </a:rPr>
              <a:t>        • </a:t>
            </a:r>
            <a:r>
              <a:rPr sz="1600" dirty="0" err="1">
                <a:solidFill>
                  <a:srgbClr val="222222"/>
                </a:solidFill>
              </a:rPr>
              <a:t>RelativeHumidity</a:t>
            </a:r>
            <a:endParaRPr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222222"/>
                </a:solidFill>
              </a:rPr>
              <a:t>• </a:t>
            </a:r>
            <a:r>
              <a:rPr sz="1600" dirty="0" err="1">
                <a:solidFill>
                  <a:srgbClr val="222222"/>
                </a:solidFill>
              </a:rPr>
              <a:t>Mechanika</a:t>
            </a:r>
            <a:r>
              <a:rPr sz="1600" dirty="0">
                <a:solidFill>
                  <a:srgbClr val="222222"/>
                </a:solidFill>
              </a:rPr>
              <a:t>: </a:t>
            </a:r>
            <a:endParaRPr lang="sk-SK"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r>
              <a:rPr lang="sk-SK" sz="1600" dirty="0">
                <a:solidFill>
                  <a:srgbClr val="222222"/>
                </a:solidFill>
              </a:rPr>
              <a:t>        • </a:t>
            </a:r>
            <a:r>
              <a:rPr sz="1600" dirty="0" err="1">
                <a:solidFill>
                  <a:srgbClr val="222222"/>
                </a:solidFill>
              </a:rPr>
              <a:t>FanSpeed</a:t>
            </a:r>
            <a:r>
              <a:rPr sz="1600" dirty="0">
                <a:solidFill>
                  <a:srgbClr val="222222"/>
                </a:solidFill>
              </a:rPr>
              <a:t>, </a:t>
            </a:r>
            <a:r>
              <a:rPr sz="1600" dirty="0" err="1">
                <a:solidFill>
                  <a:srgbClr val="222222"/>
                </a:solidFill>
              </a:rPr>
              <a:t>HeaterCurrent</a:t>
            </a:r>
            <a:r>
              <a:rPr sz="1600" dirty="0">
                <a:solidFill>
                  <a:srgbClr val="222222"/>
                </a:solidFill>
              </a:rPr>
              <a:t>, </a:t>
            </a:r>
            <a:r>
              <a:rPr sz="1600" dirty="0" err="1">
                <a:solidFill>
                  <a:srgbClr val="222222"/>
                </a:solidFill>
              </a:rPr>
              <a:t>FanCurrent</a:t>
            </a:r>
            <a:r>
              <a:rPr sz="1600" dirty="0">
                <a:solidFill>
                  <a:srgbClr val="222222"/>
                </a:solidFill>
              </a:rPr>
              <a:t>, </a:t>
            </a:r>
            <a:r>
              <a:rPr sz="1600" dirty="0" err="1">
                <a:solidFill>
                  <a:srgbClr val="222222"/>
                </a:solidFill>
              </a:rPr>
              <a:t>TiltAngle</a:t>
            </a:r>
            <a:r>
              <a:rPr sz="1600" dirty="0">
                <a:solidFill>
                  <a:srgbClr val="222222"/>
                </a:solidFill>
              </a:rPr>
              <a:t> </a:t>
            </a: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222222"/>
                </a:solidFill>
              </a:rPr>
              <a:t>• </a:t>
            </a:r>
            <a:r>
              <a:rPr sz="1600" dirty="0" err="1">
                <a:solidFill>
                  <a:srgbClr val="222222"/>
                </a:solidFill>
              </a:rPr>
              <a:t>Poloha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slnka</a:t>
            </a:r>
            <a:r>
              <a:rPr sz="1600" dirty="0">
                <a:solidFill>
                  <a:srgbClr val="222222"/>
                </a:solidFill>
              </a:rPr>
              <a:t>: </a:t>
            </a:r>
            <a:endParaRPr lang="sk-SK"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r>
              <a:rPr lang="sk-SK" sz="1600" dirty="0">
                <a:solidFill>
                  <a:srgbClr val="222222"/>
                </a:solidFill>
              </a:rPr>
              <a:t>        • </a:t>
            </a:r>
            <a:r>
              <a:rPr sz="1600" dirty="0" err="1">
                <a:solidFill>
                  <a:srgbClr val="222222"/>
                </a:solidFill>
              </a:rPr>
              <a:t>SunAzimuth</a:t>
            </a:r>
            <a:r>
              <a:rPr sz="1600" dirty="0">
                <a:solidFill>
                  <a:srgbClr val="222222"/>
                </a:solidFill>
              </a:rPr>
              <a:t>, </a:t>
            </a:r>
            <a:r>
              <a:rPr sz="1600" dirty="0" err="1">
                <a:solidFill>
                  <a:srgbClr val="222222"/>
                </a:solidFill>
              </a:rPr>
              <a:t>SunZenith</a:t>
            </a:r>
            <a:r>
              <a:rPr sz="1600" dirty="0">
                <a:solidFill>
                  <a:srgbClr val="222222"/>
                </a:solidFill>
              </a:rPr>
              <a:t>, </a:t>
            </a:r>
            <a:r>
              <a:rPr sz="1600" dirty="0" err="1">
                <a:solidFill>
                  <a:srgbClr val="222222"/>
                </a:solidFill>
              </a:rPr>
              <a:t>SunLatitude</a:t>
            </a:r>
            <a:r>
              <a:rPr sz="1600" dirty="0">
                <a:solidFill>
                  <a:srgbClr val="222222"/>
                </a:solidFill>
              </a:rPr>
              <a:t>, </a:t>
            </a:r>
            <a:r>
              <a:rPr sz="1600" dirty="0" err="1">
                <a:solidFill>
                  <a:srgbClr val="222222"/>
                </a:solidFill>
              </a:rPr>
              <a:t>SunLongitude</a:t>
            </a:r>
            <a:endParaRPr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222222"/>
                </a:solidFill>
              </a:rPr>
              <a:t>• </a:t>
            </a:r>
            <a:r>
              <a:rPr sz="1600" dirty="0" err="1">
                <a:solidFill>
                  <a:srgbClr val="222222"/>
                </a:solidFill>
              </a:rPr>
              <a:t>konštanty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lang="sk-SK" sz="1600" dirty="0">
                <a:solidFill>
                  <a:srgbClr val="222222"/>
                </a:solidFill>
              </a:rPr>
              <a:t>-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vyl</a:t>
            </a:r>
            <a:r>
              <a:rPr lang="sk-SK" sz="1600" dirty="0">
                <a:solidFill>
                  <a:srgbClr val="222222"/>
                </a:solidFill>
              </a:rPr>
              <a:t>ú</a:t>
            </a:r>
            <a:r>
              <a:rPr sz="1600" dirty="0" err="1">
                <a:solidFill>
                  <a:srgbClr val="222222"/>
                </a:solidFill>
              </a:rPr>
              <a:t>čené</a:t>
            </a:r>
            <a:r>
              <a:rPr sz="1600" dirty="0">
                <a:solidFill>
                  <a:srgbClr val="222222"/>
                </a:solidFill>
              </a:rPr>
              <a:t> z </a:t>
            </a:r>
            <a:r>
              <a:rPr sz="1600" dirty="0" err="1">
                <a:solidFill>
                  <a:srgbClr val="222222"/>
                </a:solidFill>
              </a:rPr>
              <a:t>korelačnej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analýzy</a:t>
            </a:r>
            <a:endParaRPr sz="1600"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4977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"/>
            <a:ext cx="60684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</a:rPr>
              <a:t>Architektúra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riešenia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lang="sk-SK" sz="2400" b="1" dirty="0">
                <a:solidFill>
                  <a:srgbClr val="FFFFFF"/>
                </a:solidFill>
              </a:rPr>
              <a:t>-</a:t>
            </a:r>
            <a:r>
              <a:rPr sz="2400" b="1" dirty="0">
                <a:solidFill>
                  <a:srgbClr val="FFFFFF"/>
                </a:solidFill>
              </a:rPr>
              <a:t> 6 </a:t>
            </a:r>
            <a:r>
              <a:rPr sz="2400" b="1" dirty="0" err="1">
                <a:solidFill>
                  <a:srgbClr val="FFFFFF"/>
                </a:solidFill>
              </a:rPr>
              <a:t>modulov</a:t>
            </a:r>
            <a:r>
              <a:rPr sz="2400" b="1" dirty="0">
                <a:solidFill>
                  <a:srgbClr val="FFFFFF"/>
                </a:solidFill>
              </a:rPr>
              <a:t>,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1551615" cy="402336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" y="1273917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Modul</a:t>
            </a:r>
            <a:endParaRPr sz="1100" b="1" i="0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2152" y="1273917"/>
            <a:ext cx="8442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Zodpovednosť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36776"/>
            <a:ext cx="11551615" cy="512064"/>
          </a:xfrm>
          <a:prstGeom prst="rect">
            <a:avLst/>
          </a:prstGeom>
          <a:solidFill>
            <a:srgbClr val="F8F9FF"/>
          </a:solidFill>
          <a:ln w="6350">
            <a:solidFill>
              <a:srgbClr val="E0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" y="1755225"/>
            <a:ext cx="301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237E"/>
                </a:solidFill>
              </a:rPr>
              <a:t>nacitanie_dat.py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3864" y="1774466"/>
            <a:ext cx="83512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222222"/>
                </a:solidFill>
              </a:rPr>
              <a:t>Načítanie</a:t>
            </a:r>
            <a:r>
              <a:rPr sz="1200" b="0" i="0" dirty="0">
                <a:solidFill>
                  <a:srgbClr val="222222"/>
                </a:solidFill>
              </a:rPr>
              <a:t> CSV, </a:t>
            </a:r>
            <a:r>
              <a:rPr sz="1200" b="0" i="0" dirty="0" err="1">
                <a:solidFill>
                  <a:srgbClr val="222222"/>
                </a:solidFill>
              </a:rPr>
              <a:t>parsovanie</a:t>
            </a:r>
            <a:r>
              <a:rPr sz="1200" b="0" i="0" dirty="0">
                <a:solidFill>
                  <a:srgbClr val="222222"/>
                </a:solidFill>
              </a:rPr>
              <a:t> </a:t>
            </a:r>
            <a:r>
              <a:rPr sz="1200" b="0" i="0" dirty="0" err="1">
                <a:solidFill>
                  <a:srgbClr val="222222"/>
                </a:solidFill>
              </a:rPr>
              <a:t>DateTime</a:t>
            </a:r>
            <a:r>
              <a:rPr sz="1200" b="0" i="0" dirty="0">
                <a:solidFill>
                  <a:srgbClr val="222222"/>
                </a:solidFill>
              </a:rPr>
              <a:t>, </a:t>
            </a:r>
            <a:r>
              <a:rPr sz="1200" b="0" i="0" dirty="0" err="1">
                <a:solidFill>
                  <a:srgbClr val="222222"/>
                </a:solidFill>
              </a:rPr>
              <a:t>pomocné</a:t>
            </a:r>
            <a:r>
              <a:rPr sz="1200" b="0" i="0" dirty="0">
                <a:solidFill>
                  <a:srgbClr val="222222"/>
                </a:solidFill>
              </a:rPr>
              <a:t> </a:t>
            </a:r>
            <a:r>
              <a:rPr sz="1200" b="0" i="0" dirty="0" err="1">
                <a:solidFill>
                  <a:srgbClr val="222222"/>
                </a:solidFill>
              </a:rPr>
              <a:t>stĺpce</a:t>
            </a:r>
            <a:r>
              <a:rPr sz="1200" b="0" i="0" dirty="0">
                <a:solidFill>
                  <a:srgbClr val="222222"/>
                </a:solidFill>
              </a:rPr>
              <a:t> (Date, Hour, Month, </a:t>
            </a:r>
            <a:r>
              <a:rPr sz="1200" b="0" i="0" dirty="0" err="1">
                <a:solidFill>
                  <a:srgbClr val="222222"/>
                </a:solidFill>
              </a:rPr>
              <a:t>DayOfYear</a:t>
            </a:r>
            <a:r>
              <a:rPr sz="1200" b="0" i="0" dirty="0">
                <a:solidFill>
                  <a:srgbClr val="222222"/>
                </a:solidFill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48840"/>
            <a:ext cx="1155161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3192" y="2221992"/>
            <a:ext cx="301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A237E"/>
                </a:solidFill>
              </a:rPr>
              <a:t>analyza_chyb.py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1" y="2237380"/>
            <a:ext cx="83512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222222"/>
                </a:solidFill>
              </a:rPr>
              <a:t>NaN</a:t>
            </a:r>
            <a:r>
              <a:rPr sz="1200" b="0" i="0" dirty="0">
                <a:solidFill>
                  <a:srgbClr val="222222"/>
                </a:solidFill>
              </a:rPr>
              <a:t>, </a:t>
            </a:r>
            <a:r>
              <a:rPr sz="1200" b="0" i="0" dirty="0" err="1">
                <a:solidFill>
                  <a:srgbClr val="222222"/>
                </a:solidFill>
              </a:rPr>
              <a:t>chýbajúce</a:t>
            </a:r>
            <a:r>
              <a:rPr sz="1200" b="0" i="0" dirty="0">
                <a:solidFill>
                  <a:srgbClr val="222222"/>
                </a:solidFill>
              </a:rPr>
              <a:t> </a:t>
            </a:r>
            <a:r>
              <a:rPr sz="1200" b="0" i="0" dirty="0" err="1">
                <a:solidFill>
                  <a:srgbClr val="222222"/>
                </a:solidFill>
              </a:rPr>
              <a:t>dni</a:t>
            </a:r>
            <a:r>
              <a:rPr sz="1200" b="0" i="0" dirty="0">
                <a:solidFill>
                  <a:srgbClr val="222222"/>
                </a:solidFill>
              </a:rPr>
              <a:t>, </a:t>
            </a:r>
            <a:r>
              <a:rPr sz="1200" b="0" i="0" dirty="0" err="1">
                <a:solidFill>
                  <a:srgbClr val="222222"/>
                </a:solidFill>
              </a:rPr>
              <a:t>fyzikálne</a:t>
            </a:r>
            <a:r>
              <a:rPr sz="1200" b="0" i="0" dirty="0">
                <a:solidFill>
                  <a:srgbClr val="222222"/>
                </a:solidFill>
              </a:rPr>
              <a:t> </a:t>
            </a:r>
            <a:r>
              <a:rPr sz="1200" b="0" i="0" dirty="0" err="1">
                <a:solidFill>
                  <a:srgbClr val="222222"/>
                </a:solidFill>
              </a:rPr>
              <a:t>medze</a:t>
            </a:r>
            <a:r>
              <a:rPr sz="1200" b="0" i="0" dirty="0">
                <a:solidFill>
                  <a:srgbClr val="222222"/>
                </a:solidFill>
              </a:rPr>
              <a:t>, </a:t>
            </a:r>
            <a:r>
              <a:rPr sz="1200" b="0" i="0" dirty="0" err="1">
                <a:solidFill>
                  <a:srgbClr val="222222"/>
                </a:solidFill>
              </a:rPr>
              <a:t>histogramy</a:t>
            </a:r>
            <a:r>
              <a:rPr sz="1200" b="0" i="0" dirty="0">
                <a:solidFill>
                  <a:srgbClr val="222222"/>
                </a:solidFill>
              </a:rPr>
              <a:t> </a:t>
            </a:r>
            <a:r>
              <a:rPr sz="1200" b="0" i="0" dirty="0" err="1">
                <a:solidFill>
                  <a:srgbClr val="222222"/>
                </a:solidFill>
              </a:rPr>
              <a:t>skupín</a:t>
            </a:r>
            <a:r>
              <a:rPr sz="1200" b="0" i="0" dirty="0">
                <a:solidFill>
                  <a:srgbClr val="222222"/>
                </a:solidFill>
              </a:rPr>
              <a:t> </a:t>
            </a:r>
            <a:r>
              <a:rPr sz="1200" b="0" i="0" dirty="0" err="1">
                <a:solidFill>
                  <a:srgbClr val="222222"/>
                </a:solidFill>
              </a:rPr>
              <a:t>chýb</a:t>
            </a:r>
            <a:r>
              <a:rPr sz="1200" b="0" i="0" dirty="0">
                <a:solidFill>
                  <a:srgbClr val="222222"/>
                </a:solidFill>
              </a:rPr>
              <a:t>, </a:t>
            </a:r>
            <a:r>
              <a:rPr sz="1200" b="0" i="0" dirty="0" err="1">
                <a:solidFill>
                  <a:srgbClr val="222222"/>
                </a:solidFill>
              </a:rPr>
              <a:t>čistenie</a:t>
            </a:r>
            <a:r>
              <a:rPr sz="1200" b="0" i="0" dirty="0">
                <a:solidFill>
                  <a:srgbClr val="222222"/>
                </a:solidFill>
              </a:rPr>
              <a:t> → cleaned.csv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60904"/>
            <a:ext cx="11551615" cy="512064"/>
          </a:xfrm>
          <a:prstGeom prst="rect">
            <a:avLst/>
          </a:prstGeom>
          <a:solidFill>
            <a:srgbClr val="F8F9FF"/>
          </a:solidFill>
          <a:ln w="6350">
            <a:solidFill>
              <a:srgbClr val="E0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3192" y="2734056"/>
            <a:ext cx="301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A237E"/>
                </a:solidFill>
              </a:rPr>
              <a:t>analyza_ziarenia.py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2775758"/>
            <a:ext cx="83512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222222"/>
                </a:solidFill>
              </a:rPr>
              <a:t>Ročná</a:t>
            </a:r>
            <a:r>
              <a:rPr sz="1200" b="0" i="0" dirty="0">
                <a:solidFill>
                  <a:srgbClr val="222222"/>
                </a:solidFill>
              </a:rPr>
              <a:t> </a:t>
            </a:r>
            <a:r>
              <a:rPr sz="1200" b="0" i="0" dirty="0" err="1">
                <a:solidFill>
                  <a:srgbClr val="222222"/>
                </a:solidFill>
              </a:rPr>
              <a:t>analýza</a:t>
            </a:r>
            <a:r>
              <a:rPr sz="1200" b="0" i="0" dirty="0">
                <a:solidFill>
                  <a:srgbClr val="222222"/>
                </a:solidFill>
              </a:rPr>
              <a:t> (</a:t>
            </a:r>
            <a:r>
              <a:rPr sz="1200" b="0" i="0" dirty="0" err="1">
                <a:solidFill>
                  <a:srgbClr val="222222"/>
                </a:solidFill>
              </a:rPr>
              <a:t>DayOfYear</a:t>
            </a:r>
            <a:r>
              <a:rPr sz="1200" b="0" i="0" dirty="0">
                <a:solidFill>
                  <a:srgbClr val="222222"/>
                </a:solidFill>
              </a:rPr>
              <a:t>) + </a:t>
            </a:r>
            <a:r>
              <a:rPr sz="1200" b="0" i="0" dirty="0" err="1">
                <a:solidFill>
                  <a:srgbClr val="222222"/>
                </a:solidFill>
              </a:rPr>
              <a:t>mesačné</a:t>
            </a:r>
            <a:r>
              <a:rPr sz="1200" b="0" i="0" dirty="0">
                <a:solidFill>
                  <a:srgbClr val="222222"/>
                </a:solidFill>
              </a:rPr>
              <a:t> </a:t>
            </a:r>
            <a:r>
              <a:rPr sz="1200" b="0" i="0" dirty="0" err="1">
                <a:solidFill>
                  <a:srgbClr val="222222"/>
                </a:solidFill>
              </a:rPr>
              <a:t>hodinové</a:t>
            </a:r>
            <a:r>
              <a:rPr sz="1200" b="0" i="0" dirty="0">
                <a:solidFill>
                  <a:srgbClr val="222222"/>
                </a:solidFill>
              </a:rPr>
              <a:t> </a:t>
            </a:r>
            <a:r>
              <a:rPr sz="1200" b="0" i="0" dirty="0" err="1">
                <a:solidFill>
                  <a:srgbClr val="222222"/>
                </a:solidFill>
              </a:rPr>
              <a:t>profily</a:t>
            </a:r>
            <a:r>
              <a:rPr sz="1200" b="0" i="0" dirty="0">
                <a:solidFill>
                  <a:srgbClr val="222222"/>
                </a:solidFill>
              </a:rPr>
              <a:t>, </a:t>
            </a:r>
            <a:r>
              <a:rPr sz="1200" b="0" i="0" dirty="0" err="1">
                <a:solidFill>
                  <a:srgbClr val="222222"/>
                </a:solidFill>
              </a:rPr>
              <a:t>PyTorch</a:t>
            </a:r>
            <a:r>
              <a:rPr sz="1200" b="0" i="0" dirty="0">
                <a:solidFill>
                  <a:srgbClr val="222222"/>
                </a:solidFill>
              </a:rPr>
              <a:t> </a:t>
            </a:r>
            <a:r>
              <a:rPr sz="1200" b="0" i="0" dirty="0" err="1">
                <a:solidFill>
                  <a:srgbClr val="222222"/>
                </a:solidFill>
              </a:rPr>
              <a:t>štatistiky</a:t>
            </a:r>
            <a:endParaRPr sz="1200" b="0" i="0" dirty="0">
              <a:solidFill>
                <a:srgbClr val="222222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" y="3172968"/>
            <a:ext cx="1155161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3192" y="3246120"/>
            <a:ext cx="301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A237E"/>
                </a:solidFill>
              </a:rPr>
              <a:t>analyza_korelacie.py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1" y="3261508"/>
            <a:ext cx="83512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22222"/>
                </a:solidFill>
              </a:rPr>
              <a:t>Súhrnné </a:t>
            </a:r>
            <a:r>
              <a:rPr sz="1200" b="0" i="0" dirty="0" err="1">
                <a:solidFill>
                  <a:srgbClr val="222222"/>
                </a:solidFill>
              </a:rPr>
              <a:t>štatistiky</a:t>
            </a:r>
            <a:r>
              <a:rPr sz="1200" b="0" i="0" dirty="0">
                <a:solidFill>
                  <a:srgbClr val="222222"/>
                </a:solidFill>
              </a:rPr>
              <a:t>, </a:t>
            </a:r>
            <a:r>
              <a:rPr sz="1200" b="0" i="0" dirty="0" err="1">
                <a:solidFill>
                  <a:srgbClr val="222222"/>
                </a:solidFill>
              </a:rPr>
              <a:t>Pearsonova</a:t>
            </a:r>
            <a:r>
              <a:rPr sz="1200" b="0" i="0" dirty="0">
                <a:solidFill>
                  <a:srgbClr val="222222"/>
                </a:solidFill>
              </a:rPr>
              <a:t> </a:t>
            </a:r>
            <a:r>
              <a:rPr sz="1200" b="0" i="0" dirty="0" err="1">
                <a:solidFill>
                  <a:srgbClr val="222222"/>
                </a:solidFill>
              </a:rPr>
              <a:t>matica</a:t>
            </a:r>
            <a:r>
              <a:rPr sz="1200" b="0" i="0" dirty="0">
                <a:solidFill>
                  <a:srgbClr val="222222"/>
                </a:solidFill>
              </a:rPr>
              <a:t>, </a:t>
            </a:r>
            <a:r>
              <a:rPr sz="1200" b="0" i="0" dirty="0" err="1">
                <a:solidFill>
                  <a:srgbClr val="222222"/>
                </a:solidFill>
              </a:rPr>
              <a:t>heatmapa</a:t>
            </a:r>
            <a:r>
              <a:rPr sz="1200" b="0" i="0" dirty="0">
                <a:solidFill>
                  <a:srgbClr val="222222"/>
                </a:solidFill>
              </a:rPr>
              <a:t>, 12 scatter </a:t>
            </a:r>
            <a:r>
              <a:rPr sz="1200" b="0" i="0" dirty="0" err="1">
                <a:solidFill>
                  <a:srgbClr val="222222"/>
                </a:solidFill>
              </a:rPr>
              <a:t>plotov</a:t>
            </a:r>
            <a:endParaRPr sz="1200" b="0" i="0" dirty="0">
              <a:solidFill>
                <a:srgbClr val="222222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0040" y="3685032"/>
            <a:ext cx="11551615" cy="512064"/>
          </a:xfrm>
          <a:prstGeom prst="rect">
            <a:avLst/>
          </a:prstGeom>
          <a:solidFill>
            <a:srgbClr val="F8F9FF"/>
          </a:solidFill>
          <a:ln w="6350">
            <a:solidFill>
              <a:srgbClr val="E0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3192" y="3758184"/>
            <a:ext cx="301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A237E"/>
                </a:solidFill>
              </a:rPr>
              <a:t>generuj_html.py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2151" y="3775302"/>
            <a:ext cx="83512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22222"/>
                </a:solidFill>
              </a:rPr>
              <a:t>Self-contained HTML report (base64 </a:t>
            </a:r>
            <a:r>
              <a:rPr sz="1200" b="0" i="0" dirty="0" err="1">
                <a:solidFill>
                  <a:srgbClr val="222222"/>
                </a:solidFill>
              </a:rPr>
              <a:t>obrázky</a:t>
            </a:r>
            <a:r>
              <a:rPr sz="1200" b="0" i="0" dirty="0">
                <a:solidFill>
                  <a:srgbClr val="222222"/>
                </a:solidFill>
              </a:rPr>
              <a:t>, </a:t>
            </a:r>
            <a:r>
              <a:rPr sz="1200" b="0" i="0" dirty="0" err="1">
                <a:solidFill>
                  <a:srgbClr val="222222"/>
                </a:solidFill>
              </a:rPr>
              <a:t>zachytenie</a:t>
            </a:r>
            <a:r>
              <a:rPr sz="1200" b="0" i="0" dirty="0">
                <a:solidFill>
                  <a:srgbClr val="222222"/>
                </a:solidFill>
              </a:rPr>
              <a:t> </a:t>
            </a:r>
            <a:r>
              <a:rPr sz="1200" b="0" i="0" dirty="0" err="1">
                <a:solidFill>
                  <a:srgbClr val="222222"/>
                </a:solidFill>
              </a:rPr>
              <a:t>stdout</a:t>
            </a:r>
            <a:r>
              <a:rPr sz="1200" b="0" i="0" dirty="0">
                <a:solidFill>
                  <a:srgbClr val="222222"/>
                </a:solidFill>
              </a:rPr>
              <a:t>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197096"/>
            <a:ext cx="1155161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3192" y="4270248"/>
            <a:ext cx="3017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k-SK"/>
            </a:defPPr>
            <a:lvl1pPr>
              <a:defRPr sz="1400" b="1" i="0">
                <a:solidFill>
                  <a:srgbClr val="1A237E"/>
                </a:solidFill>
              </a:defRPr>
            </a:lvl1pPr>
          </a:lstStyle>
          <a:p>
            <a:r>
              <a:rPr dirty="0"/>
              <a:t>main.py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1" y="4289772"/>
            <a:ext cx="83512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222222"/>
                </a:solidFill>
              </a:rPr>
              <a:t>Orchestrácia</a:t>
            </a:r>
            <a:r>
              <a:rPr sz="1200" b="0" i="0" dirty="0">
                <a:solidFill>
                  <a:srgbClr val="222222"/>
                </a:solidFill>
              </a:rPr>
              <a:t> — </a:t>
            </a:r>
            <a:r>
              <a:rPr sz="1200" b="0" i="0" dirty="0" err="1">
                <a:solidFill>
                  <a:srgbClr val="222222"/>
                </a:solidFill>
              </a:rPr>
              <a:t>spúšťa</a:t>
            </a:r>
            <a:r>
              <a:rPr sz="1200" b="0" i="0" dirty="0">
                <a:solidFill>
                  <a:srgbClr val="222222"/>
                </a:solidFill>
              </a:rPr>
              <a:t> </a:t>
            </a:r>
            <a:r>
              <a:rPr sz="1200" b="0" i="0" dirty="0" err="1">
                <a:solidFill>
                  <a:srgbClr val="222222"/>
                </a:solidFill>
              </a:rPr>
              <a:t>moduly</a:t>
            </a:r>
            <a:r>
              <a:rPr sz="1200" b="0" i="0" dirty="0">
                <a:solidFill>
                  <a:srgbClr val="222222"/>
                </a:solidFill>
              </a:rPr>
              <a:t> v </a:t>
            </a:r>
            <a:r>
              <a:rPr sz="1200" b="0" i="0" dirty="0" err="1">
                <a:solidFill>
                  <a:srgbClr val="222222"/>
                </a:solidFill>
              </a:rPr>
              <a:t>správnom</a:t>
            </a:r>
            <a:r>
              <a:rPr sz="1200" b="0" i="0" dirty="0">
                <a:solidFill>
                  <a:srgbClr val="222222"/>
                </a:solidFill>
              </a:rPr>
              <a:t> </a:t>
            </a:r>
            <a:r>
              <a:rPr sz="1200" b="0" i="0" dirty="0" err="1">
                <a:solidFill>
                  <a:srgbClr val="222222"/>
                </a:solidFill>
              </a:rPr>
              <a:t>poradí</a:t>
            </a:r>
            <a:endParaRPr sz="1200" b="0" i="0" dirty="0">
              <a:solidFill>
                <a:srgbClr val="222222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0040" y="4782312"/>
            <a:ext cx="11551615" cy="512064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4846320"/>
            <a:ext cx="11368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222222"/>
                </a:solidFill>
              </a:rPr>
              <a:t>Pipeline:  raw CSV  →  </a:t>
            </a:r>
            <a:r>
              <a:rPr b="0" i="0" dirty="0" err="1">
                <a:solidFill>
                  <a:srgbClr val="222222"/>
                </a:solidFill>
              </a:rPr>
              <a:t>NaN</a:t>
            </a:r>
            <a:r>
              <a:rPr b="0" i="0" dirty="0">
                <a:solidFill>
                  <a:srgbClr val="222222"/>
                </a:solidFill>
              </a:rPr>
              <a:t>/</a:t>
            </a:r>
            <a:r>
              <a:rPr b="0" i="0" dirty="0" err="1">
                <a:solidFill>
                  <a:srgbClr val="222222"/>
                </a:solidFill>
              </a:rPr>
              <a:t>chyby</a:t>
            </a:r>
            <a:r>
              <a:rPr b="0" i="0" dirty="0">
                <a:solidFill>
                  <a:srgbClr val="222222"/>
                </a:solidFill>
              </a:rPr>
              <a:t>  →  </a:t>
            </a:r>
            <a:r>
              <a:rPr b="0" i="0" dirty="0" err="1">
                <a:solidFill>
                  <a:srgbClr val="222222"/>
                </a:solidFill>
              </a:rPr>
              <a:t>vyčistenie</a:t>
            </a:r>
            <a:r>
              <a:rPr b="0" i="0" dirty="0">
                <a:solidFill>
                  <a:srgbClr val="222222"/>
                </a:solidFill>
              </a:rPr>
              <a:t>  →  </a:t>
            </a:r>
            <a:r>
              <a:rPr b="0" i="0" dirty="0" err="1">
                <a:solidFill>
                  <a:srgbClr val="222222"/>
                </a:solidFill>
              </a:rPr>
              <a:t>žiarenie</a:t>
            </a:r>
            <a:r>
              <a:rPr b="0" i="0" dirty="0">
                <a:solidFill>
                  <a:srgbClr val="222222"/>
                </a:solidFill>
              </a:rPr>
              <a:t>  →  </a:t>
            </a:r>
            <a:r>
              <a:rPr b="0" i="0" dirty="0" err="1">
                <a:solidFill>
                  <a:srgbClr val="222222"/>
                </a:solidFill>
              </a:rPr>
              <a:t>korélácie</a:t>
            </a:r>
            <a:r>
              <a:rPr b="0" i="0" dirty="0">
                <a:solidFill>
                  <a:srgbClr val="222222"/>
                </a:solidFill>
              </a:rPr>
              <a:t>  →  HTML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1569" y="201167"/>
            <a:ext cx="34977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5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1168"/>
            <a:ext cx="433804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</a:rPr>
              <a:t>Použité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technológie</a:t>
            </a:r>
            <a:r>
              <a:rPr sz="2400" b="1" dirty="0">
                <a:solidFill>
                  <a:srgbClr val="FFFFFF"/>
                </a:solidFill>
              </a:rPr>
              <a:t> a </a:t>
            </a:r>
            <a:r>
              <a:rPr sz="2400" b="1" dirty="0" err="1">
                <a:solidFill>
                  <a:srgbClr val="FFFFFF"/>
                </a:solidFill>
              </a:rPr>
              <a:t>PyTorch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3200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5CAE9"/>
                </a:solidFill>
              </a:rPr>
              <a:t>⏱ 45 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684367" cy="4937760"/>
          </a:xfrm>
          <a:prstGeom prst="rect">
            <a:avLst/>
          </a:prstGeom>
          <a:solidFill>
            <a:srgbClr val="F8F9FF"/>
          </a:solidFill>
          <a:ln w="6350">
            <a:solidFill>
              <a:srgbClr val="E0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41004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sk-SK" sz="2600" b="1" i="0" dirty="0">
                <a:solidFill>
                  <a:srgbClr val="3949AB"/>
                </a:solidFill>
              </a:rPr>
              <a:t>Knižnice</a:t>
            </a:r>
            <a:endParaRPr sz="2600" b="1" i="0" dirty="0">
              <a:solidFill>
                <a:srgbClr val="3949A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792224"/>
            <a:ext cx="5410047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dirty="0">
                <a:solidFill>
                  <a:srgbClr val="222222"/>
                </a:solidFill>
              </a:rPr>
              <a:t>• pandas </a:t>
            </a:r>
            <a:r>
              <a:rPr lang="sk-SK" sz="1600" dirty="0">
                <a:solidFill>
                  <a:srgbClr val="222222"/>
                </a:solidFill>
              </a:rPr>
              <a:t>-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DataFrame</a:t>
            </a:r>
            <a:r>
              <a:rPr sz="1600" dirty="0">
                <a:solidFill>
                  <a:srgbClr val="222222"/>
                </a:solidFill>
              </a:rPr>
              <a:t>, </a:t>
            </a:r>
            <a:r>
              <a:rPr sz="1600" dirty="0" err="1">
                <a:solidFill>
                  <a:srgbClr val="222222"/>
                </a:solidFill>
              </a:rPr>
              <a:t>groupby</a:t>
            </a:r>
            <a:r>
              <a:rPr sz="1600" dirty="0">
                <a:solidFill>
                  <a:srgbClr val="222222"/>
                </a:solidFill>
              </a:rPr>
              <a:t>, </a:t>
            </a:r>
            <a:r>
              <a:rPr sz="1600" dirty="0" err="1">
                <a:solidFill>
                  <a:srgbClr val="222222"/>
                </a:solidFill>
              </a:rPr>
              <a:t>corr</a:t>
            </a:r>
            <a:r>
              <a:rPr sz="1600" dirty="0">
                <a:solidFill>
                  <a:srgbClr val="222222"/>
                </a:solidFill>
              </a:rPr>
              <a:t>()</a:t>
            </a:r>
            <a:endParaRPr lang="en-US"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endParaRPr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222222"/>
                </a:solidFill>
              </a:rPr>
              <a:t>• matplotlib </a:t>
            </a:r>
            <a:r>
              <a:rPr lang="sk-SK" sz="1600" dirty="0">
                <a:solidFill>
                  <a:srgbClr val="222222"/>
                </a:solidFill>
              </a:rPr>
              <a:t>-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grafy</a:t>
            </a:r>
            <a:r>
              <a:rPr sz="1600" dirty="0">
                <a:solidFill>
                  <a:srgbClr val="222222"/>
                </a:solidFill>
              </a:rPr>
              <a:t> (line, hist, scatter)</a:t>
            </a:r>
            <a:endParaRPr lang="en-US"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endParaRPr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222222"/>
                </a:solidFill>
              </a:rPr>
              <a:t>• seaborn </a:t>
            </a:r>
            <a:r>
              <a:rPr lang="sk-SK" sz="1600" dirty="0">
                <a:solidFill>
                  <a:srgbClr val="222222"/>
                </a:solidFill>
              </a:rPr>
              <a:t>-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heatmapa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korelácií</a:t>
            </a:r>
            <a:endParaRPr lang="en-US"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endParaRPr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222222"/>
                </a:solidFill>
              </a:rPr>
              <a:t>• </a:t>
            </a:r>
            <a:r>
              <a:rPr sz="1600" dirty="0" err="1">
                <a:solidFill>
                  <a:srgbClr val="222222"/>
                </a:solidFill>
              </a:rPr>
              <a:t>numpy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lang="sk-SK" sz="1600" dirty="0">
                <a:solidFill>
                  <a:srgbClr val="222222"/>
                </a:solidFill>
              </a:rPr>
              <a:t>-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priemer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dĺžok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skupín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chýb</a:t>
            </a:r>
            <a:endParaRPr lang="en-US"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endParaRPr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222222"/>
                </a:solidFill>
              </a:rPr>
              <a:t>• torch (</a:t>
            </a:r>
            <a:r>
              <a:rPr sz="1600" dirty="0" err="1">
                <a:solidFill>
                  <a:srgbClr val="222222"/>
                </a:solidFill>
              </a:rPr>
              <a:t>PyTorch</a:t>
            </a:r>
            <a:r>
              <a:rPr sz="1600" dirty="0">
                <a:solidFill>
                  <a:srgbClr val="222222"/>
                </a:solidFill>
              </a:rPr>
              <a:t>)</a:t>
            </a:r>
            <a:r>
              <a:rPr lang="sk-SK" sz="1600" dirty="0">
                <a:solidFill>
                  <a:srgbClr val="222222"/>
                </a:solidFill>
              </a:rPr>
              <a:t> - </a:t>
            </a:r>
            <a:r>
              <a:rPr sz="1600" dirty="0" err="1">
                <a:solidFill>
                  <a:srgbClr val="222222"/>
                </a:solidFill>
              </a:rPr>
              <a:t>overenie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štatistík</a:t>
            </a:r>
            <a:endParaRPr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endParaRPr lang="en-US"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222222"/>
                </a:solidFill>
              </a:rPr>
              <a:t>• </a:t>
            </a:r>
            <a:r>
              <a:rPr sz="1600" dirty="0" err="1">
                <a:solidFill>
                  <a:srgbClr val="222222"/>
                </a:solidFill>
              </a:rPr>
              <a:t>io.StringIO</a:t>
            </a:r>
            <a:r>
              <a:rPr sz="1600" dirty="0">
                <a:solidFill>
                  <a:srgbClr val="222222"/>
                </a:solidFill>
              </a:rPr>
              <a:t> + </a:t>
            </a:r>
            <a:r>
              <a:rPr sz="1600" dirty="0" err="1">
                <a:solidFill>
                  <a:srgbClr val="222222"/>
                </a:solidFill>
              </a:rPr>
              <a:t>contextlib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lang="sk-SK" sz="1600" dirty="0">
                <a:solidFill>
                  <a:srgbClr val="222222"/>
                </a:solidFill>
              </a:rPr>
              <a:t>-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zachytenie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stdout</a:t>
            </a:r>
            <a:endParaRPr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endParaRPr lang="en-US" sz="16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222222"/>
                </a:solidFill>
              </a:rPr>
              <a:t>• base64 </a:t>
            </a:r>
            <a:r>
              <a:rPr lang="sk-SK" sz="1600" dirty="0">
                <a:solidFill>
                  <a:srgbClr val="222222"/>
                </a:solidFill>
              </a:rPr>
              <a:t>-</a:t>
            </a:r>
            <a:r>
              <a:rPr sz="1600" dirty="0">
                <a:solidFill>
                  <a:srgbClr val="222222"/>
                </a:solidFill>
              </a:rPr>
              <a:t> PNG → HTML embedding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7287" y="1143000"/>
            <a:ext cx="5684367" cy="4937760"/>
          </a:xfrm>
          <a:prstGeom prst="rect">
            <a:avLst/>
          </a:prstGeom>
          <a:solidFill>
            <a:srgbClr val="F8F9FF"/>
          </a:solidFill>
          <a:ln w="6350">
            <a:solidFill>
              <a:srgbClr val="E0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4447" y="1234440"/>
            <a:ext cx="541004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3949AB"/>
                </a:solidFill>
              </a:rPr>
              <a:t>PyTorch</a:t>
            </a:r>
            <a:endParaRPr sz="2600" b="1" i="0" dirty="0">
              <a:solidFill>
                <a:srgbClr val="3949A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324447" y="1792044"/>
                <a:ext cx="5410047" cy="2421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400"/>
                  </a:spcAft>
                </a:pPr>
                <a:r>
                  <a:rPr lang="sk-SK" sz="1600" dirty="0">
                    <a:solidFill>
                      <a:srgbClr val="222222"/>
                    </a:solidFill>
                  </a:rPr>
                  <a:t>• </a:t>
                </a:r>
                <a:r>
                  <a:rPr lang="sk-SK" sz="1600" dirty="0" err="1">
                    <a:solidFill>
                      <a:srgbClr val="222222"/>
                    </a:solidFill>
                  </a:rPr>
                  <a:t>Nezávislé</a:t>
                </a:r>
                <a:r>
                  <a:rPr lang="sk-SK" sz="1600" dirty="0">
                    <a:solidFill>
                      <a:srgbClr val="222222"/>
                    </a:solidFill>
                  </a:rPr>
                  <a:t> </a:t>
                </a:r>
                <a:r>
                  <a:rPr lang="sk-SK" sz="1600" dirty="0" err="1">
                    <a:solidFill>
                      <a:srgbClr val="222222"/>
                    </a:solidFill>
                  </a:rPr>
                  <a:t>overenie</a:t>
                </a:r>
                <a:r>
                  <a:rPr lang="sk-SK" sz="1600" dirty="0">
                    <a:solidFill>
                      <a:srgbClr val="222222"/>
                    </a:solidFill>
                  </a:rPr>
                  <a:t> </a:t>
                </a:r>
                <a:r>
                  <a:rPr lang="sk-SK" sz="1600" dirty="0" err="1">
                    <a:solidFill>
                      <a:srgbClr val="222222"/>
                    </a:solidFill>
                  </a:rPr>
                  <a:t>štatistík</a:t>
                </a:r>
                <a:r>
                  <a:rPr lang="sk-SK" sz="1600" dirty="0">
                    <a:solidFill>
                      <a:srgbClr val="222222"/>
                    </a:solidFill>
                  </a:rPr>
                  <a:t> z pandas</a:t>
                </a:r>
              </a:p>
              <a:p>
                <a:pPr>
                  <a:spcAft>
                    <a:spcPts val="400"/>
                  </a:spcAft>
                </a:pPr>
                <a:endParaRPr lang="en-US" sz="1600" dirty="0">
                  <a:solidFill>
                    <a:srgbClr val="222222"/>
                  </a:solidFill>
                </a:endParaRPr>
              </a:p>
              <a:p>
                <a:pPr>
                  <a:spcAft>
                    <a:spcPts val="400"/>
                  </a:spcAft>
                </a:pPr>
                <a:r>
                  <a:rPr lang="sk-SK" sz="1600" dirty="0">
                    <a:solidFill>
                      <a:srgbClr val="222222"/>
                    </a:solidFill>
                  </a:rPr>
                  <a:t>• Výpočty nad </a:t>
                </a:r>
                <a:r>
                  <a:rPr lang="sk-SK" sz="1600" dirty="0" err="1">
                    <a:solidFill>
                      <a:srgbClr val="222222"/>
                    </a:solidFill>
                  </a:rPr>
                  <a:t>tenzormi</a:t>
                </a:r>
                <a:r>
                  <a:rPr lang="sk-SK" sz="1600" dirty="0">
                    <a:solidFill>
                      <a:srgbClr val="222222"/>
                    </a:solidFill>
                  </a:rPr>
                  <a:t> (N-</a:t>
                </a:r>
                <a:r>
                  <a:rPr lang="sk-SK" sz="1600" dirty="0" err="1">
                    <a:solidFill>
                      <a:srgbClr val="222222"/>
                    </a:solidFill>
                  </a:rPr>
                  <a:t>dimenzionálne</a:t>
                </a:r>
                <a:r>
                  <a:rPr lang="sk-SK" sz="1600" dirty="0">
                    <a:solidFill>
                      <a:srgbClr val="222222"/>
                    </a:solidFill>
                  </a:rPr>
                  <a:t> </a:t>
                </a:r>
                <a:r>
                  <a:rPr lang="sk-SK" sz="1600" dirty="0" err="1">
                    <a:solidFill>
                      <a:srgbClr val="222222"/>
                    </a:solidFill>
                  </a:rPr>
                  <a:t>polia</a:t>
                </a:r>
                <a:r>
                  <a:rPr lang="sk-SK" sz="1600" dirty="0">
                    <a:solidFill>
                      <a:srgbClr val="222222"/>
                    </a:solidFill>
                  </a:rPr>
                  <a:t>)</a:t>
                </a:r>
              </a:p>
              <a:p>
                <a:pPr>
                  <a:spcAft>
                    <a:spcPts val="400"/>
                  </a:spcAft>
                </a:pPr>
                <a:endParaRPr lang="en-US" sz="1600" dirty="0">
                  <a:solidFill>
                    <a:srgbClr val="222222"/>
                  </a:solidFill>
                </a:endParaRPr>
              </a:p>
              <a:p>
                <a:pPr>
                  <a:spcAft>
                    <a:spcPts val="400"/>
                  </a:spcAft>
                </a:pPr>
                <a:r>
                  <a:rPr lang="sk-SK" sz="1600" dirty="0">
                    <a:solidFill>
                      <a:srgbClr val="222222"/>
                    </a:solidFill>
                  </a:rPr>
                  <a:t>• Ručná </a:t>
                </a:r>
                <a:r>
                  <a:rPr lang="sk-SK" sz="1600" dirty="0" err="1">
                    <a:solidFill>
                      <a:srgbClr val="222222"/>
                    </a:solidFill>
                  </a:rPr>
                  <a:t>Pearsonova</a:t>
                </a:r>
                <a:r>
                  <a:rPr lang="sk-SK" sz="1600" dirty="0">
                    <a:solidFill>
                      <a:srgbClr val="222222"/>
                    </a:solidFill>
                  </a:rPr>
                  <a:t> </a:t>
                </a:r>
                <a:r>
                  <a:rPr lang="sk-SK" sz="1600" dirty="0" err="1">
                    <a:solidFill>
                      <a:srgbClr val="222222"/>
                    </a:solidFill>
                  </a:rPr>
                  <a:t>korelácia</a:t>
                </a:r>
                <a:r>
                  <a:rPr lang="sk-SK" sz="1600" dirty="0">
                    <a:solidFill>
                      <a:srgbClr val="222222"/>
                    </a:solidFill>
                  </a:rPr>
                  <a:t>:</a:t>
                </a:r>
              </a:p>
              <a:p>
                <a:pPr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sz="16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sk-SK" sz="16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sk-SK" sz="16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k-SK" sz="16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sk-SK" sz="16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sk-SK" sz="1600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sk-SK" sz="16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sk-SK" sz="16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sk-SK" sz="16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()/(||</m:t>
                      </m:r>
                      <m:r>
                        <a:rPr lang="sk-SK" sz="16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sk-SK" sz="16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6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sk-SK" sz="16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6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sk-SK" sz="16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k-SK" sz="1600" dirty="0">
                  <a:solidFill>
                    <a:srgbClr val="222222"/>
                  </a:solidFill>
                </a:endParaRPr>
              </a:p>
              <a:p>
                <a:pPr>
                  <a:spcAft>
                    <a:spcPts val="400"/>
                  </a:spcAft>
                </a:pPr>
                <a:endParaRPr lang="en-US" sz="1600" dirty="0">
                  <a:solidFill>
                    <a:srgbClr val="222222"/>
                  </a:solidFill>
                </a:endParaRPr>
              </a:p>
              <a:p>
                <a:pPr>
                  <a:spcAft>
                    <a:spcPts val="400"/>
                  </a:spcAft>
                </a:pPr>
                <a:r>
                  <a:rPr lang="sk-SK" sz="1600" dirty="0">
                    <a:solidFill>
                      <a:srgbClr val="222222"/>
                    </a:solidFill>
                  </a:rPr>
                  <a:t>• Typická knižnica ML/DS prostredia</a:t>
                </a:r>
                <a:endParaRPr sz="1600" dirty="0">
                  <a:solidFill>
                    <a:srgbClr val="222222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447" y="1792044"/>
                <a:ext cx="5410047" cy="2421176"/>
              </a:xfrm>
              <a:prstGeom prst="rect">
                <a:avLst/>
              </a:prstGeom>
              <a:blipFill>
                <a:blip r:embed="rId3"/>
                <a:stretch>
                  <a:fillRect l="-563" t="-756" b="-2267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7"/>
            <a:ext cx="34977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6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1168"/>
            <a:ext cx="587519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</a:rPr>
              <a:t>Analýza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kvality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dát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lang="sk-SK" sz="2400" b="1" dirty="0">
                <a:solidFill>
                  <a:srgbClr val="FFFFFF"/>
                </a:solidFill>
              </a:rPr>
              <a:t>-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NaN</a:t>
            </a:r>
            <a:r>
              <a:rPr sz="2400" b="1" dirty="0">
                <a:solidFill>
                  <a:srgbClr val="FFFFFF"/>
                </a:solidFill>
              </a:rPr>
              <a:t> a </a:t>
            </a:r>
            <a:r>
              <a:rPr sz="2400" b="1" dirty="0" err="1">
                <a:solidFill>
                  <a:srgbClr val="FFFFFF"/>
                </a:solidFill>
              </a:rPr>
              <a:t>chýbajúce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dni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728618" cy="1005840"/>
          </a:xfrm>
          <a:prstGeom prst="rect">
            <a:avLst/>
          </a:prstGeom>
          <a:solidFill>
            <a:srgbClr val="F0F4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35457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/>
              <a:t>NAN HODNÔT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14276"/>
            <a:ext cx="354573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29384"/>
            <a:ext cx="35457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/>
              <a:t>dataset je </a:t>
            </a:r>
            <a:r>
              <a:rPr sz="1000" b="0" i="0" dirty="0" err="1"/>
              <a:t>kompletný</a:t>
            </a:r>
            <a:endParaRPr sz="1000" b="0" i="0" dirty="0"/>
          </a:p>
        </p:txBody>
      </p:sp>
      <p:sp>
        <p:nvSpPr>
          <p:cNvPr id="10" name="Rectangle 9"/>
          <p:cNvSpPr/>
          <p:nvPr/>
        </p:nvSpPr>
        <p:spPr>
          <a:xfrm>
            <a:off x="4231538" y="1234440"/>
            <a:ext cx="3728618" cy="1005840"/>
          </a:xfrm>
          <a:prstGeom prst="rect">
            <a:avLst/>
          </a:prstGeom>
          <a:solidFill>
            <a:srgbClr val="F0F4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2978" y="1280160"/>
            <a:ext cx="35457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/>
              <a:t>CHÝBAJÚCE DNI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2978" y="1497224"/>
            <a:ext cx="354573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C62828"/>
                </a:solidFill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2978" y="1929384"/>
            <a:ext cx="35457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/>
              <a:t>zo 365 </a:t>
            </a:r>
            <a:r>
              <a:rPr sz="1000" b="0" i="0" dirty="0" err="1"/>
              <a:t>dní</a:t>
            </a:r>
            <a:endParaRPr sz="1000" b="0" i="0" dirty="0"/>
          </a:p>
        </p:txBody>
      </p:sp>
      <p:sp>
        <p:nvSpPr>
          <p:cNvPr id="14" name="Rectangle 13"/>
          <p:cNvSpPr/>
          <p:nvPr/>
        </p:nvSpPr>
        <p:spPr>
          <a:xfrm>
            <a:off x="8143036" y="1234440"/>
            <a:ext cx="3728618" cy="1005840"/>
          </a:xfrm>
          <a:prstGeom prst="rect">
            <a:avLst/>
          </a:prstGeom>
          <a:solidFill>
            <a:srgbClr val="F0F4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34476" y="1280160"/>
            <a:ext cx="35457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/>
              <a:t>DNÍ S MERAÍNM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4476" y="1497224"/>
            <a:ext cx="354573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1A237E"/>
                </a:solidFill>
              </a:rPr>
              <a:t>357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4476" y="1929384"/>
            <a:ext cx="35457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/>
              <a:t>97.8 % </a:t>
            </a:r>
            <a:r>
              <a:rPr sz="1000" b="0" i="0" dirty="0" err="1"/>
              <a:t>pokrytie</a:t>
            </a:r>
            <a:endParaRPr sz="1000" b="0" i="0" dirty="0"/>
          </a:p>
        </p:txBody>
      </p:sp>
      <p:sp>
        <p:nvSpPr>
          <p:cNvPr id="18" name="Rectangle 17"/>
          <p:cNvSpPr/>
          <p:nvPr/>
        </p:nvSpPr>
        <p:spPr>
          <a:xfrm>
            <a:off x="320039" y="5902528"/>
            <a:ext cx="11551615" cy="667100"/>
          </a:xfrm>
          <a:prstGeom prst="rect">
            <a:avLst/>
          </a:prstGeom>
          <a:solidFill>
            <a:srgbClr val="FFF8E1"/>
          </a:solidFill>
          <a:ln w="6350">
            <a:solidFill>
              <a:srgbClr val="FBC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Obrázok 21">
            <a:extLst>
              <a:ext uri="{FF2B5EF4-FFF2-40B4-BE49-F238E27FC236}">
                <a16:creationId xmlns:a16="http://schemas.microsoft.com/office/drawing/2014/main" id="{CABE311F-9D99-3BC5-5526-484EBBEFB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701" y="3293370"/>
            <a:ext cx="6265377" cy="260915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20039" y="2432304"/>
            <a:ext cx="11551615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dirty="0">
                <a:solidFill>
                  <a:srgbClr val="222222"/>
                </a:solidFill>
              </a:rPr>
              <a:t>• </a:t>
            </a:r>
            <a:r>
              <a:rPr dirty="0" err="1">
                <a:solidFill>
                  <a:srgbClr val="222222"/>
                </a:solidFill>
              </a:rPr>
              <a:t>Dva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výpadky</a:t>
            </a:r>
            <a:r>
              <a:rPr dirty="0">
                <a:solidFill>
                  <a:srgbClr val="222222"/>
                </a:solidFill>
              </a:rPr>
              <a:t>: 1 </a:t>
            </a:r>
            <a:r>
              <a:rPr dirty="0" err="1">
                <a:solidFill>
                  <a:srgbClr val="222222"/>
                </a:solidFill>
              </a:rPr>
              <a:t>deň</a:t>
            </a:r>
            <a:r>
              <a:rPr dirty="0">
                <a:solidFill>
                  <a:srgbClr val="222222"/>
                </a:solidFill>
              </a:rPr>
              <a:t> (</a:t>
            </a:r>
            <a:r>
              <a:rPr dirty="0" err="1">
                <a:solidFill>
                  <a:srgbClr val="222222"/>
                </a:solidFill>
              </a:rPr>
              <a:t>koniec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marca</a:t>
            </a:r>
            <a:r>
              <a:rPr dirty="0">
                <a:solidFill>
                  <a:srgbClr val="222222"/>
                </a:solidFill>
              </a:rPr>
              <a:t>) + 7 </a:t>
            </a:r>
            <a:r>
              <a:rPr dirty="0" err="1">
                <a:solidFill>
                  <a:srgbClr val="222222"/>
                </a:solidFill>
              </a:rPr>
              <a:t>dní</a:t>
            </a:r>
            <a:r>
              <a:rPr dirty="0">
                <a:solidFill>
                  <a:srgbClr val="222222"/>
                </a:solidFill>
              </a:rPr>
              <a:t> (</a:t>
            </a:r>
            <a:r>
              <a:rPr dirty="0" err="1">
                <a:solidFill>
                  <a:srgbClr val="222222"/>
                </a:solidFill>
              </a:rPr>
              <a:t>koniec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augusta</a:t>
            </a:r>
            <a:r>
              <a:rPr dirty="0">
                <a:solidFill>
                  <a:srgbClr val="222222"/>
                </a:solidFill>
              </a:rPr>
              <a:t> / </a:t>
            </a:r>
            <a:r>
              <a:rPr dirty="0" err="1">
                <a:solidFill>
                  <a:srgbClr val="222222"/>
                </a:solidFill>
              </a:rPr>
              <a:t>začiatok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septembra</a:t>
            </a:r>
            <a:r>
              <a:rPr dirty="0">
                <a:solidFill>
                  <a:srgbClr val="222222"/>
                </a:solidFill>
              </a:rPr>
              <a:t>)</a:t>
            </a:r>
          </a:p>
          <a:p>
            <a:pPr>
              <a:spcAft>
                <a:spcPts val="700"/>
              </a:spcAft>
            </a:pPr>
            <a:endParaRPr lang="en-US" dirty="0">
              <a:solidFill>
                <a:srgbClr val="222222"/>
              </a:solidFill>
            </a:endParaRP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222222"/>
                </a:solidFill>
              </a:rPr>
              <a:t>• </a:t>
            </a:r>
            <a:r>
              <a:rPr dirty="0" err="1">
                <a:solidFill>
                  <a:srgbClr val="222222"/>
                </a:solidFill>
              </a:rPr>
              <a:t>Pravdepodobná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príčina</a:t>
            </a:r>
            <a:r>
              <a:rPr dirty="0">
                <a:solidFill>
                  <a:srgbClr val="222222"/>
                </a:solidFill>
              </a:rPr>
              <a:t>: </a:t>
            </a:r>
            <a:r>
              <a:rPr dirty="0" err="1">
                <a:solidFill>
                  <a:srgbClr val="222222"/>
                </a:solidFill>
              </a:rPr>
              <a:t>výpadok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zariadenia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alebo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prenosu</a:t>
            </a:r>
            <a:r>
              <a:rPr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dát</a:t>
            </a:r>
            <a:endParaRPr dirty="0">
              <a:solidFill>
                <a:srgbClr val="222222"/>
              </a:solidFill>
            </a:endParaRPr>
          </a:p>
          <a:p>
            <a:pPr>
              <a:spcAft>
                <a:spcPts val="700"/>
              </a:spcAft>
            </a:pPr>
            <a:endParaRPr lang="en-US" dirty="0">
              <a:solidFill>
                <a:srgbClr val="222222"/>
              </a:solidFill>
            </a:endParaRP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222222"/>
                </a:solidFill>
              </a:rPr>
              <a:t>• </a:t>
            </a:r>
            <a:r>
              <a:rPr dirty="0" err="1">
                <a:solidFill>
                  <a:srgbClr val="222222"/>
                </a:solidFill>
              </a:rPr>
              <a:t>Výstup</a:t>
            </a:r>
            <a:r>
              <a:rPr dirty="0">
                <a:solidFill>
                  <a:srgbClr val="222222"/>
                </a:solidFill>
              </a:rPr>
              <a:t>: histogram_chybajucich_dni.png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646" y="6051412"/>
            <a:ext cx="754405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 err="1">
                <a:solidFill>
                  <a:srgbClr val="222222"/>
                </a:solidFill>
              </a:rPr>
              <a:t>Chýbajúce</a:t>
            </a:r>
            <a:r>
              <a:rPr b="1" dirty="0">
                <a:solidFill>
                  <a:srgbClr val="222222"/>
                </a:solidFill>
              </a:rPr>
              <a:t> </a:t>
            </a:r>
            <a:r>
              <a:rPr b="1" dirty="0" err="1">
                <a:solidFill>
                  <a:srgbClr val="222222"/>
                </a:solidFill>
              </a:rPr>
              <a:t>dni</a:t>
            </a:r>
            <a:r>
              <a:rPr b="1" dirty="0">
                <a:solidFill>
                  <a:srgbClr val="222222"/>
                </a:solidFill>
              </a:rPr>
              <a:t> (8):  </a:t>
            </a:r>
            <a:r>
              <a:rPr b="0" dirty="0">
                <a:solidFill>
                  <a:srgbClr val="222222"/>
                </a:solidFill>
              </a:rPr>
              <a:t>2018-03-31  |  2018-08-31  |  2018-09-01 </a:t>
            </a:r>
            <a:r>
              <a:rPr b="0" dirty="0" err="1">
                <a:solidFill>
                  <a:srgbClr val="222222"/>
                </a:solidFill>
              </a:rPr>
              <a:t>až</a:t>
            </a:r>
            <a:r>
              <a:rPr b="0" dirty="0">
                <a:solidFill>
                  <a:srgbClr val="222222"/>
                </a:solidFill>
              </a:rPr>
              <a:t> 2018-09-06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7"/>
            <a:ext cx="34977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7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1168"/>
            <a:ext cx="691227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</a:rPr>
              <a:t>Detekcia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poškodených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vzoriek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lang="sk-SK" sz="2400" b="1" dirty="0">
                <a:solidFill>
                  <a:srgbClr val="FFFFFF"/>
                </a:solidFill>
              </a:rPr>
              <a:t>-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fyzikálne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medze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1124712"/>
            <a:ext cx="5684367" cy="4700016"/>
          </a:xfrm>
          <a:prstGeom prst="rect">
            <a:avLst/>
          </a:prstGeom>
          <a:solidFill>
            <a:srgbClr val="F8F9FF"/>
          </a:solidFill>
          <a:ln w="6350">
            <a:solidFill>
              <a:srgbClr val="E0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17485"/>
            <a:ext cx="541004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3949AB"/>
                </a:solidFill>
              </a:rPr>
              <a:t>Príklady </a:t>
            </a:r>
            <a:r>
              <a:rPr sz="2600" b="1" i="0" dirty="0" err="1">
                <a:solidFill>
                  <a:srgbClr val="3949AB"/>
                </a:solidFill>
              </a:rPr>
              <a:t>fyzikálnych</a:t>
            </a:r>
            <a:r>
              <a:rPr sz="2600" b="1" i="0" dirty="0">
                <a:solidFill>
                  <a:srgbClr val="3949AB"/>
                </a:solidFill>
              </a:rPr>
              <a:t> </a:t>
            </a:r>
            <a:r>
              <a:rPr sz="2600" b="1" i="0" dirty="0" err="1">
                <a:solidFill>
                  <a:srgbClr val="3949AB"/>
                </a:solidFill>
              </a:rPr>
              <a:t>medzí</a:t>
            </a:r>
            <a:endParaRPr sz="2600" b="1" i="0" dirty="0">
              <a:solidFill>
                <a:srgbClr val="3949AB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774116"/>
            <a:ext cx="5410047" cy="3860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600" b="1" dirty="0">
                <a:solidFill>
                  <a:srgbClr val="222222"/>
                </a:solidFill>
              </a:rPr>
              <a:t>• Irradiance: (0, 1 500) W/m²</a:t>
            </a:r>
          </a:p>
          <a:p>
            <a:pPr>
              <a:spcAft>
                <a:spcPts val="400"/>
              </a:spcAft>
            </a:pPr>
            <a:r>
              <a:rPr sz="1600" i="1" dirty="0">
                <a:solidFill>
                  <a:srgbClr val="555555"/>
                </a:solidFill>
              </a:rPr>
              <a:t>   </a:t>
            </a:r>
            <a:r>
              <a:rPr sz="1600" i="1" dirty="0" err="1">
                <a:solidFill>
                  <a:srgbClr val="555555"/>
                </a:solidFill>
              </a:rPr>
              <a:t>záporné</a:t>
            </a:r>
            <a:r>
              <a:rPr sz="1600" i="1" dirty="0">
                <a:solidFill>
                  <a:srgbClr val="555555"/>
                </a:solidFill>
              </a:rPr>
              <a:t> </a:t>
            </a:r>
            <a:r>
              <a:rPr sz="1600" i="1" dirty="0" err="1">
                <a:solidFill>
                  <a:srgbClr val="555555"/>
                </a:solidFill>
              </a:rPr>
              <a:t>žiarenie</a:t>
            </a:r>
            <a:r>
              <a:rPr sz="1600" i="1" dirty="0">
                <a:solidFill>
                  <a:srgbClr val="555555"/>
                </a:solidFill>
              </a:rPr>
              <a:t> </a:t>
            </a:r>
            <a:r>
              <a:rPr sz="1600" i="1" dirty="0" err="1">
                <a:solidFill>
                  <a:srgbClr val="555555"/>
                </a:solidFill>
              </a:rPr>
              <a:t>fyzikálne</a:t>
            </a:r>
            <a:r>
              <a:rPr sz="1600" i="1" dirty="0">
                <a:solidFill>
                  <a:srgbClr val="555555"/>
                </a:solidFill>
              </a:rPr>
              <a:t> </a:t>
            </a:r>
            <a:r>
              <a:rPr sz="1600" i="1" dirty="0" err="1">
                <a:solidFill>
                  <a:srgbClr val="555555"/>
                </a:solidFill>
              </a:rPr>
              <a:t>nemožné</a:t>
            </a:r>
            <a:endParaRPr sz="1600" i="1" dirty="0">
              <a:solidFill>
                <a:srgbClr val="555555"/>
              </a:solidFill>
            </a:endParaRPr>
          </a:p>
          <a:p>
            <a:pPr>
              <a:spcAft>
                <a:spcPts val="100"/>
              </a:spcAft>
            </a:pPr>
            <a:endParaRPr lang="en-US" sz="1600" b="1" dirty="0">
              <a:solidFill>
                <a:srgbClr val="222222"/>
              </a:solidFill>
            </a:endParaRPr>
          </a:p>
          <a:p>
            <a:pPr>
              <a:spcAft>
                <a:spcPts val="100"/>
              </a:spcAft>
            </a:pPr>
            <a:r>
              <a:rPr sz="1600" b="1" dirty="0">
                <a:solidFill>
                  <a:srgbClr val="222222"/>
                </a:solidFill>
              </a:rPr>
              <a:t>• Pressure: (870, 1 085) </a:t>
            </a:r>
            <a:r>
              <a:rPr sz="1600" b="1" dirty="0" err="1">
                <a:solidFill>
                  <a:srgbClr val="222222"/>
                </a:solidFill>
              </a:rPr>
              <a:t>hPa</a:t>
            </a:r>
            <a:endParaRPr sz="1600" b="1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r>
              <a:rPr sz="1600" i="1" dirty="0">
                <a:solidFill>
                  <a:srgbClr val="555555"/>
                </a:solidFill>
              </a:rPr>
              <a:t>   </a:t>
            </a:r>
            <a:r>
              <a:rPr sz="1600" i="1" dirty="0" err="1">
                <a:solidFill>
                  <a:srgbClr val="555555"/>
                </a:solidFill>
              </a:rPr>
              <a:t>pozemné</a:t>
            </a:r>
            <a:r>
              <a:rPr sz="1600" i="1" dirty="0">
                <a:solidFill>
                  <a:srgbClr val="555555"/>
                </a:solidFill>
              </a:rPr>
              <a:t> </a:t>
            </a:r>
            <a:r>
              <a:rPr sz="1600" i="1" dirty="0" err="1">
                <a:solidFill>
                  <a:srgbClr val="555555"/>
                </a:solidFill>
              </a:rPr>
              <a:t>extrémy</a:t>
            </a:r>
            <a:r>
              <a:rPr sz="1600" i="1" dirty="0">
                <a:solidFill>
                  <a:srgbClr val="555555"/>
                </a:solidFill>
              </a:rPr>
              <a:t> (</a:t>
            </a:r>
            <a:r>
              <a:rPr sz="1600" i="1" dirty="0" err="1">
                <a:solidFill>
                  <a:srgbClr val="555555"/>
                </a:solidFill>
              </a:rPr>
              <a:t>cyklón</a:t>
            </a:r>
            <a:r>
              <a:rPr sz="1600" i="1" dirty="0">
                <a:solidFill>
                  <a:srgbClr val="555555"/>
                </a:solidFill>
              </a:rPr>
              <a:t> / </a:t>
            </a:r>
            <a:r>
              <a:rPr sz="1600" i="1" dirty="0" err="1">
                <a:solidFill>
                  <a:srgbClr val="555555"/>
                </a:solidFill>
              </a:rPr>
              <a:t>Mongolsko</a:t>
            </a:r>
            <a:r>
              <a:rPr sz="1600" i="1" dirty="0">
                <a:solidFill>
                  <a:srgbClr val="555555"/>
                </a:solidFill>
              </a:rPr>
              <a:t>)</a:t>
            </a:r>
          </a:p>
          <a:p>
            <a:pPr>
              <a:spcAft>
                <a:spcPts val="100"/>
              </a:spcAft>
            </a:pPr>
            <a:endParaRPr lang="en-US" sz="1600" b="1" dirty="0">
              <a:solidFill>
                <a:srgbClr val="222222"/>
              </a:solidFill>
            </a:endParaRPr>
          </a:p>
          <a:p>
            <a:pPr>
              <a:spcAft>
                <a:spcPts val="100"/>
              </a:spcAft>
            </a:pPr>
            <a:r>
              <a:rPr sz="1600" b="1" dirty="0">
                <a:solidFill>
                  <a:srgbClr val="222222"/>
                </a:solidFill>
              </a:rPr>
              <a:t>• </a:t>
            </a:r>
            <a:r>
              <a:rPr sz="1600" b="1" dirty="0" err="1">
                <a:solidFill>
                  <a:srgbClr val="222222"/>
                </a:solidFill>
              </a:rPr>
              <a:t>SunZenith</a:t>
            </a:r>
            <a:r>
              <a:rPr sz="1600" b="1" dirty="0">
                <a:solidFill>
                  <a:srgbClr val="222222"/>
                </a:solidFill>
              </a:rPr>
              <a:t>: (0, 90)°</a:t>
            </a:r>
          </a:p>
          <a:p>
            <a:pPr>
              <a:spcAft>
                <a:spcPts val="400"/>
              </a:spcAft>
            </a:pPr>
            <a:r>
              <a:rPr sz="1600" i="1" dirty="0">
                <a:solidFill>
                  <a:srgbClr val="555555"/>
                </a:solidFill>
              </a:rPr>
              <a:t>   </a:t>
            </a:r>
            <a:r>
              <a:rPr sz="1600" i="1" dirty="0" err="1">
                <a:solidFill>
                  <a:srgbClr val="555555"/>
                </a:solidFill>
              </a:rPr>
              <a:t>záporný</a:t>
            </a:r>
            <a:r>
              <a:rPr sz="1600" i="1" dirty="0">
                <a:solidFill>
                  <a:srgbClr val="555555"/>
                </a:solidFill>
              </a:rPr>
              <a:t> </a:t>
            </a:r>
            <a:r>
              <a:rPr sz="1600" i="1" dirty="0" err="1">
                <a:solidFill>
                  <a:srgbClr val="555555"/>
                </a:solidFill>
              </a:rPr>
              <a:t>elevačný</a:t>
            </a:r>
            <a:r>
              <a:rPr sz="1600" i="1" dirty="0">
                <a:solidFill>
                  <a:srgbClr val="555555"/>
                </a:solidFill>
              </a:rPr>
              <a:t> </a:t>
            </a:r>
            <a:r>
              <a:rPr sz="1600" i="1" dirty="0" err="1">
                <a:solidFill>
                  <a:srgbClr val="555555"/>
                </a:solidFill>
              </a:rPr>
              <a:t>uhol</a:t>
            </a:r>
            <a:r>
              <a:rPr sz="1600" i="1" dirty="0">
                <a:solidFill>
                  <a:srgbClr val="555555"/>
                </a:solidFill>
              </a:rPr>
              <a:t> </a:t>
            </a:r>
            <a:r>
              <a:rPr sz="1600" i="1" dirty="0" err="1">
                <a:solidFill>
                  <a:srgbClr val="555555"/>
                </a:solidFill>
              </a:rPr>
              <a:t>neexistuje</a:t>
            </a:r>
            <a:endParaRPr sz="1600" i="1" dirty="0">
              <a:solidFill>
                <a:srgbClr val="555555"/>
              </a:solidFill>
            </a:endParaRPr>
          </a:p>
          <a:p>
            <a:pPr>
              <a:spcAft>
                <a:spcPts val="100"/>
              </a:spcAft>
            </a:pPr>
            <a:endParaRPr lang="en-US" sz="1600" b="1" dirty="0">
              <a:solidFill>
                <a:srgbClr val="222222"/>
              </a:solidFill>
            </a:endParaRPr>
          </a:p>
          <a:p>
            <a:pPr>
              <a:spcAft>
                <a:spcPts val="100"/>
              </a:spcAft>
            </a:pPr>
            <a:r>
              <a:rPr sz="1600" b="1" dirty="0">
                <a:solidFill>
                  <a:srgbClr val="222222"/>
                </a:solidFill>
              </a:rPr>
              <a:t>• </a:t>
            </a:r>
            <a:r>
              <a:rPr sz="1600" b="1" dirty="0" err="1">
                <a:solidFill>
                  <a:srgbClr val="222222"/>
                </a:solidFill>
              </a:rPr>
              <a:t>BodyTemperature</a:t>
            </a:r>
            <a:r>
              <a:rPr sz="1600" b="1" dirty="0">
                <a:solidFill>
                  <a:srgbClr val="222222"/>
                </a:solidFill>
              </a:rPr>
              <a:t>: (−40, 80) °C</a:t>
            </a:r>
          </a:p>
          <a:p>
            <a:pPr>
              <a:spcAft>
                <a:spcPts val="400"/>
              </a:spcAft>
            </a:pPr>
            <a:r>
              <a:rPr sz="1600" i="1" dirty="0">
                <a:solidFill>
                  <a:srgbClr val="555555"/>
                </a:solidFill>
              </a:rPr>
              <a:t>   </a:t>
            </a:r>
            <a:r>
              <a:rPr sz="1600" i="1" dirty="0" err="1">
                <a:solidFill>
                  <a:srgbClr val="555555"/>
                </a:solidFill>
              </a:rPr>
              <a:t>operačný</a:t>
            </a:r>
            <a:r>
              <a:rPr sz="1600" i="1" dirty="0">
                <a:solidFill>
                  <a:srgbClr val="555555"/>
                </a:solidFill>
              </a:rPr>
              <a:t> </a:t>
            </a:r>
            <a:r>
              <a:rPr sz="1600" i="1" dirty="0" err="1">
                <a:solidFill>
                  <a:srgbClr val="555555"/>
                </a:solidFill>
              </a:rPr>
              <a:t>rozsah</a:t>
            </a:r>
            <a:r>
              <a:rPr sz="1600" i="1" dirty="0">
                <a:solidFill>
                  <a:srgbClr val="555555"/>
                </a:solidFill>
              </a:rPr>
              <a:t> Kipp &amp; </a:t>
            </a:r>
            <a:r>
              <a:rPr sz="1600" i="1" dirty="0" err="1">
                <a:solidFill>
                  <a:srgbClr val="555555"/>
                </a:solidFill>
              </a:rPr>
              <a:t>Zonen</a:t>
            </a:r>
            <a:r>
              <a:rPr sz="1600" i="1" dirty="0">
                <a:solidFill>
                  <a:srgbClr val="555555"/>
                </a:solidFill>
              </a:rPr>
              <a:t> SMP10</a:t>
            </a:r>
          </a:p>
          <a:p>
            <a:pPr>
              <a:spcAft>
                <a:spcPts val="100"/>
              </a:spcAft>
            </a:pPr>
            <a:endParaRPr lang="en-US" sz="1600" b="1" dirty="0">
              <a:solidFill>
                <a:srgbClr val="222222"/>
              </a:solidFill>
            </a:endParaRPr>
          </a:p>
          <a:p>
            <a:pPr>
              <a:spcAft>
                <a:spcPts val="100"/>
              </a:spcAft>
            </a:pPr>
            <a:r>
              <a:rPr sz="1600" b="1" dirty="0">
                <a:solidFill>
                  <a:srgbClr val="222222"/>
                </a:solidFill>
              </a:rPr>
              <a:t>• </a:t>
            </a:r>
            <a:r>
              <a:rPr sz="1600" b="1" dirty="0" err="1">
                <a:solidFill>
                  <a:srgbClr val="222222"/>
                </a:solidFill>
              </a:rPr>
              <a:t>RelativeHumidity</a:t>
            </a:r>
            <a:r>
              <a:rPr sz="1600" b="1" dirty="0">
                <a:solidFill>
                  <a:srgbClr val="222222"/>
                </a:solidFill>
              </a:rPr>
              <a:t>: (0, 100) %</a:t>
            </a:r>
          </a:p>
          <a:p>
            <a:pPr>
              <a:spcAft>
                <a:spcPts val="400"/>
              </a:spcAft>
            </a:pPr>
            <a:r>
              <a:rPr sz="1600" i="1" dirty="0">
                <a:solidFill>
                  <a:srgbClr val="555555"/>
                </a:solidFill>
              </a:rPr>
              <a:t>   </a:t>
            </a:r>
            <a:r>
              <a:rPr sz="1600" i="1" dirty="0" err="1">
                <a:solidFill>
                  <a:srgbClr val="555555"/>
                </a:solidFill>
              </a:rPr>
              <a:t>fyzikálna</a:t>
            </a:r>
            <a:r>
              <a:rPr sz="1600" i="1" dirty="0">
                <a:solidFill>
                  <a:srgbClr val="555555"/>
                </a:solidFill>
              </a:rPr>
              <a:t> </a:t>
            </a:r>
            <a:r>
              <a:rPr sz="1600" i="1" dirty="0" err="1">
                <a:solidFill>
                  <a:srgbClr val="555555"/>
                </a:solidFill>
              </a:rPr>
              <a:t>definícia</a:t>
            </a:r>
            <a:r>
              <a:rPr sz="1600" i="1" dirty="0">
                <a:solidFill>
                  <a:srgbClr val="555555"/>
                </a:solidFill>
              </a:rPr>
              <a:t> </a:t>
            </a:r>
            <a:r>
              <a:rPr sz="1600" i="1" dirty="0" err="1">
                <a:solidFill>
                  <a:srgbClr val="555555"/>
                </a:solidFill>
              </a:rPr>
              <a:t>vlhkosti</a:t>
            </a:r>
            <a:endParaRPr sz="1600" i="1" dirty="0">
              <a:solidFill>
                <a:srgbClr val="555555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87287" y="1124712"/>
            <a:ext cx="5684367" cy="4700016"/>
          </a:xfrm>
          <a:prstGeom prst="rect">
            <a:avLst/>
          </a:prstGeom>
          <a:solidFill>
            <a:srgbClr val="F8F9FF"/>
          </a:solidFill>
          <a:ln w="6350">
            <a:solidFill>
              <a:srgbClr val="E0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24446" y="1217484"/>
            <a:ext cx="541004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3949AB"/>
                </a:solidFill>
              </a:rPr>
              <a:t>Výsledky </a:t>
            </a:r>
            <a:r>
              <a:rPr sz="2600" b="1" i="0" dirty="0" err="1">
                <a:solidFill>
                  <a:srgbClr val="3949AB"/>
                </a:solidFill>
              </a:rPr>
              <a:t>detekcie</a:t>
            </a:r>
            <a:endParaRPr sz="2600" b="1" i="0" dirty="0">
              <a:solidFill>
                <a:srgbClr val="3949A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4445" y="1774116"/>
            <a:ext cx="5410047" cy="3860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600" b="1" dirty="0">
                <a:solidFill>
                  <a:srgbClr val="222222"/>
                </a:solidFill>
              </a:rPr>
              <a:t>• Poškodených </a:t>
            </a:r>
            <a:r>
              <a:rPr sz="1600" b="1" dirty="0" err="1">
                <a:solidFill>
                  <a:srgbClr val="222222"/>
                </a:solidFill>
              </a:rPr>
              <a:t>riadkov</a:t>
            </a:r>
            <a:r>
              <a:rPr sz="1600" b="1" dirty="0">
                <a:solidFill>
                  <a:srgbClr val="222222"/>
                </a:solidFill>
              </a:rPr>
              <a:t>:</a:t>
            </a:r>
          </a:p>
          <a:p>
            <a:pPr>
              <a:spcAft>
                <a:spcPts val="400"/>
              </a:spcAft>
            </a:pPr>
            <a:r>
              <a:rPr sz="1600" i="1" dirty="0">
                <a:solidFill>
                  <a:srgbClr val="555555"/>
                </a:solidFill>
              </a:rPr>
              <a:t>   189 (0.74 %)</a:t>
            </a:r>
          </a:p>
          <a:p>
            <a:pPr>
              <a:spcAft>
                <a:spcPts val="100"/>
              </a:spcAft>
            </a:pPr>
            <a:endParaRPr lang="en-US" sz="1600" b="1" dirty="0">
              <a:solidFill>
                <a:srgbClr val="222222"/>
              </a:solidFill>
            </a:endParaRPr>
          </a:p>
          <a:p>
            <a:pPr>
              <a:spcAft>
                <a:spcPts val="100"/>
              </a:spcAft>
            </a:pPr>
            <a:r>
              <a:rPr sz="1600" b="1" dirty="0">
                <a:solidFill>
                  <a:srgbClr val="222222"/>
                </a:solidFill>
              </a:rPr>
              <a:t>• </a:t>
            </a:r>
            <a:r>
              <a:rPr sz="1600" b="1" dirty="0" err="1">
                <a:solidFill>
                  <a:srgbClr val="222222"/>
                </a:solidFill>
              </a:rPr>
              <a:t>Skupín</a:t>
            </a:r>
            <a:r>
              <a:rPr sz="1600" b="1" dirty="0">
                <a:solidFill>
                  <a:srgbClr val="222222"/>
                </a:solidFill>
              </a:rPr>
              <a:t> za </a:t>
            </a:r>
            <a:r>
              <a:rPr sz="1600" b="1" dirty="0" err="1">
                <a:solidFill>
                  <a:srgbClr val="222222"/>
                </a:solidFill>
              </a:rPr>
              <a:t>sebou</a:t>
            </a:r>
            <a:r>
              <a:rPr sz="1600" b="1" dirty="0">
                <a:solidFill>
                  <a:srgbClr val="222222"/>
                </a:solidFill>
              </a:rPr>
              <a:t>:</a:t>
            </a:r>
          </a:p>
          <a:p>
            <a:pPr>
              <a:spcAft>
                <a:spcPts val="400"/>
              </a:spcAft>
            </a:pPr>
            <a:r>
              <a:rPr sz="1600" i="1" dirty="0">
                <a:solidFill>
                  <a:srgbClr val="555555"/>
                </a:solidFill>
              </a:rPr>
              <a:t>   151</a:t>
            </a:r>
          </a:p>
          <a:p>
            <a:pPr>
              <a:spcAft>
                <a:spcPts val="100"/>
              </a:spcAft>
            </a:pPr>
            <a:endParaRPr lang="en-US" sz="1600" b="1" dirty="0">
              <a:solidFill>
                <a:srgbClr val="222222"/>
              </a:solidFill>
            </a:endParaRPr>
          </a:p>
          <a:p>
            <a:pPr>
              <a:spcAft>
                <a:spcPts val="100"/>
              </a:spcAft>
            </a:pPr>
            <a:r>
              <a:rPr sz="1600" b="1" dirty="0">
                <a:solidFill>
                  <a:srgbClr val="222222"/>
                </a:solidFill>
              </a:rPr>
              <a:t>• Max. </a:t>
            </a:r>
            <a:r>
              <a:rPr sz="1600" b="1" dirty="0" err="1">
                <a:solidFill>
                  <a:srgbClr val="222222"/>
                </a:solidFill>
              </a:rPr>
              <a:t>dĺžka</a:t>
            </a:r>
            <a:r>
              <a:rPr sz="1600" b="1" dirty="0">
                <a:solidFill>
                  <a:srgbClr val="222222"/>
                </a:solidFill>
              </a:rPr>
              <a:t> </a:t>
            </a:r>
            <a:r>
              <a:rPr sz="1600" b="1" dirty="0" err="1">
                <a:solidFill>
                  <a:srgbClr val="222222"/>
                </a:solidFill>
              </a:rPr>
              <a:t>skupiny</a:t>
            </a:r>
            <a:r>
              <a:rPr sz="1600" b="1" dirty="0">
                <a:solidFill>
                  <a:srgbClr val="222222"/>
                </a:solidFill>
              </a:rPr>
              <a:t>:</a:t>
            </a:r>
          </a:p>
          <a:p>
            <a:pPr>
              <a:spcAft>
                <a:spcPts val="400"/>
              </a:spcAft>
            </a:pPr>
            <a:r>
              <a:rPr sz="1600" i="1" dirty="0">
                <a:solidFill>
                  <a:srgbClr val="555555"/>
                </a:solidFill>
              </a:rPr>
              <a:t>   12 </a:t>
            </a:r>
            <a:r>
              <a:rPr sz="1600" i="1" dirty="0" err="1">
                <a:solidFill>
                  <a:srgbClr val="555555"/>
                </a:solidFill>
              </a:rPr>
              <a:t>vzoriek</a:t>
            </a:r>
            <a:endParaRPr sz="1600" i="1" dirty="0">
              <a:solidFill>
                <a:srgbClr val="555555"/>
              </a:solidFill>
            </a:endParaRPr>
          </a:p>
          <a:p>
            <a:pPr>
              <a:spcAft>
                <a:spcPts val="100"/>
              </a:spcAft>
            </a:pPr>
            <a:endParaRPr lang="en-US" sz="1600" b="1" dirty="0">
              <a:solidFill>
                <a:srgbClr val="222222"/>
              </a:solidFill>
            </a:endParaRPr>
          </a:p>
          <a:p>
            <a:pPr>
              <a:spcAft>
                <a:spcPts val="100"/>
              </a:spcAft>
            </a:pPr>
            <a:r>
              <a:rPr sz="1600" b="1" dirty="0">
                <a:solidFill>
                  <a:srgbClr val="222222"/>
                </a:solidFill>
              </a:rPr>
              <a:t>• </a:t>
            </a:r>
            <a:r>
              <a:rPr sz="1600" b="1" dirty="0" err="1">
                <a:solidFill>
                  <a:srgbClr val="222222"/>
                </a:solidFill>
              </a:rPr>
              <a:t>Distribúcia</a:t>
            </a:r>
            <a:r>
              <a:rPr sz="1600" b="1" dirty="0">
                <a:solidFill>
                  <a:srgbClr val="222222"/>
                </a:solidFill>
              </a:rPr>
              <a:t>:</a:t>
            </a:r>
          </a:p>
          <a:p>
            <a:pPr>
              <a:spcAft>
                <a:spcPts val="400"/>
              </a:spcAft>
            </a:pPr>
            <a:r>
              <a:rPr sz="1600" i="1" dirty="0">
                <a:solidFill>
                  <a:srgbClr val="555555"/>
                </a:solidFill>
              </a:rPr>
              <a:t>   137×1, 7×2, 3×3, 1×4, 1×5, 1×8, 1×12</a:t>
            </a:r>
          </a:p>
          <a:p>
            <a:pPr>
              <a:spcAft>
                <a:spcPts val="100"/>
              </a:spcAft>
            </a:pPr>
            <a:endParaRPr lang="en-US" sz="1600" b="1" dirty="0">
              <a:solidFill>
                <a:srgbClr val="222222"/>
              </a:solidFill>
            </a:endParaRPr>
          </a:p>
          <a:p>
            <a:pPr>
              <a:spcAft>
                <a:spcPts val="100"/>
              </a:spcAft>
            </a:pPr>
            <a:r>
              <a:rPr sz="1600" b="1" dirty="0">
                <a:solidFill>
                  <a:srgbClr val="222222"/>
                </a:solidFill>
              </a:rPr>
              <a:t>• 91 % </a:t>
            </a:r>
            <a:r>
              <a:rPr sz="1600" b="1" dirty="0" err="1">
                <a:solidFill>
                  <a:srgbClr val="222222"/>
                </a:solidFill>
              </a:rPr>
              <a:t>skupín</a:t>
            </a:r>
            <a:r>
              <a:rPr sz="1600" b="1" dirty="0">
                <a:solidFill>
                  <a:srgbClr val="222222"/>
                </a:solidFill>
              </a:rPr>
              <a:t> = </a:t>
            </a:r>
            <a:r>
              <a:rPr sz="1600" b="1" dirty="0" err="1">
                <a:solidFill>
                  <a:srgbClr val="222222"/>
                </a:solidFill>
              </a:rPr>
              <a:t>dĺžka</a:t>
            </a:r>
            <a:r>
              <a:rPr sz="1600" b="1" dirty="0">
                <a:solidFill>
                  <a:srgbClr val="222222"/>
                </a:solidFill>
              </a:rPr>
              <a:t> 1</a:t>
            </a:r>
          </a:p>
          <a:p>
            <a:pPr>
              <a:spcAft>
                <a:spcPts val="400"/>
              </a:spcAft>
            </a:pPr>
            <a:r>
              <a:rPr sz="1600" i="1" dirty="0">
                <a:solidFill>
                  <a:srgbClr val="555555"/>
                </a:solidFill>
              </a:rPr>
              <a:t>   </a:t>
            </a:r>
            <a:r>
              <a:rPr sz="1600" i="1" dirty="0" err="1">
                <a:solidFill>
                  <a:srgbClr val="555555"/>
                </a:solidFill>
              </a:rPr>
              <a:t>izolované</a:t>
            </a:r>
            <a:r>
              <a:rPr sz="1600" i="1" dirty="0">
                <a:solidFill>
                  <a:srgbClr val="555555"/>
                </a:solidFill>
              </a:rPr>
              <a:t> </a:t>
            </a:r>
            <a:r>
              <a:rPr sz="1600" i="1" dirty="0" err="1">
                <a:solidFill>
                  <a:srgbClr val="555555"/>
                </a:solidFill>
              </a:rPr>
              <a:t>jednotlivé</a:t>
            </a:r>
            <a:r>
              <a:rPr sz="1600" i="1" dirty="0">
                <a:solidFill>
                  <a:srgbClr val="555555"/>
                </a:solidFill>
              </a:rPr>
              <a:t> </a:t>
            </a:r>
            <a:r>
              <a:rPr sz="1600" i="1" dirty="0" err="1">
                <a:solidFill>
                  <a:srgbClr val="555555"/>
                </a:solidFill>
              </a:rPr>
              <a:t>chyby</a:t>
            </a:r>
            <a:endParaRPr sz="1600" i="1" dirty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6592" y="201168"/>
            <a:ext cx="34977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8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1168"/>
            <a:ext cx="31619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</a:rPr>
              <a:t>Výsledok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čistenia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dát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728618" cy="1005840"/>
          </a:xfrm>
          <a:prstGeom prst="rect">
            <a:avLst/>
          </a:prstGeom>
          <a:solidFill>
            <a:srgbClr val="F0F4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35457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/>
              <a:t>PRED ČISTENÍM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23992"/>
            <a:ext cx="354573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1A237E"/>
                </a:solidFill>
              </a:rPr>
              <a:t>25 600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29384"/>
            <a:ext cx="35457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/>
              <a:t>raw </a:t>
            </a:r>
            <a:r>
              <a:rPr sz="1000" b="0" i="0" dirty="0" err="1"/>
              <a:t>vzoriek</a:t>
            </a:r>
            <a:endParaRPr sz="1000" b="0" i="0" dirty="0"/>
          </a:p>
        </p:txBody>
      </p:sp>
      <p:sp>
        <p:nvSpPr>
          <p:cNvPr id="10" name="Rectangle 9"/>
          <p:cNvSpPr/>
          <p:nvPr/>
        </p:nvSpPr>
        <p:spPr>
          <a:xfrm>
            <a:off x="4231538" y="1234440"/>
            <a:ext cx="3728618" cy="1005840"/>
          </a:xfrm>
          <a:prstGeom prst="rect">
            <a:avLst/>
          </a:prstGeom>
          <a:solidFill>
            <a:srgbClr val="F0F4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2978" y="1280160"/>
            <a:ext cx="35457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/>
              <a:t>ODSTRÁNENÝCH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2978" y="1490472"/>
            <a:ext cx="354573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</a:rPr>
              <a:t>189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2978" y="1929384"/>
            <a:ext cx="35457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k-SK"/>
            </a:defPPr>
            <a:lvl1pPr algn="ctr">
              <a:defRPr sz="1000"/>
            </a:lvl1pPr>
          </a:lstStyle>
          <a:p>
            <a:r>
              <a:rPr dirty="0" err="1"/>
              <a:t>poškodených</a:t>
            </a:r>
            <a:r>
              <a:rPr dirty="0"/>
              <a:t> (0.74 %)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3036" y="1234440"/>
            <a:ext cx="3728618" cy="1005840"/>
          </a:xfrm>
          <a:prstGeom prst="rect">
            <a:avLst/>
          </a:prstGeom>
          <a:solidFill>
            <a:srgbClr val="F0F4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34476" y="1280160"/>
            <a:ext cx="35457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/>
              <a:t>PO ČISTENÍ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4476" y="1517904"/>
            <a:ext cx="354573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2E7D32"/>
                </a:solidFill>
              </a:rPr>
              <a:t>25 411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4476" y="1929384"/>
            <a:ext cx="35457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 err="1"/>
              <a:t>čistých</a:t>
            </a:r>
            <a:r>
              <a:rPr sz="850" b="0" i="0" dirty="0">
                <a:solidFill>
                  <a:srgbClr val="888888"/>
                </a:solidFill>
              </a:rPr>
              <a:t> </a:t>
            </a:r>
            <a:r>
              <a:rPr sz="1000" dirty="0" err="1"/>
              <a:t>vzoriek</a:t>
            </a:r>
            <a:endParaRPr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320039" y="3223349"/>
            <a:ext cx="11551615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 dirty="0">
                <a:solidFill>
                  <a:srgbClr val="1A237E"/>
                </a:solidFill>
              </a:rPr>
              <a:t>• </a:t>
            </a:r>
            <a:r>
              <a:rPr sz="1600" b="1" dirty="0" err="1">
                <a:solidFill>
                  <a:srgbClr val="1A237E"/>
                </a:solidFill>
              </a:rPr>
              <a:t>Kritérium</a:t>
            </a:r>
            <a:r>
              <a:rPr sz="1600" b="1" dirty="0">
                <a:solidFill>
                  <a:srgbClr val="1A237E"/>
                </a:solidFill>
              </a:rPr>
              <a:t>: 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stačí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jedna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poškodená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hodnota</a:t>
            </a:r>
            <a:r>
              <a:rPr sz="1600" dirty="0">
                <a:solidFill>
                  <a:srgbClr val="222222"/>
                </a:solidFill>
              </a:rPr>
              <a:t> v </a:t>
            </a:r>
            <a:r>
              <a:rPr sz="1600" dirty="0" err="1">
                <a:solidFill>
                  <a:srgbClr val="222222"/>
                </a:solidFill>
              </a:rPr>
              <a:t>riadku</a:t>
            </a:r>
            <a:endParaRPr sz="1600" dirty="0">
              <a:solidFill>
                <a:srgbClr val="222222"/>
              </a:solidFill>
            </a:endParaRPr>
          </a:p>
          <a:p>
            <a:pPr>
              <a:spcAft>
                <a:spcPts val="700"/>
              </a:spcAft>
            </a:pPr>
            <a:endParaRPr lang="en-US" sz="1600" b="1" dirty="0">
              <a:solidFill>
                <a:srgbClr val="1A237E"/>
              </a:solidFill>
            </a:endParaRPr>
          </a:p>
          <a:p>
            <a:pPr>
              <a:spcAft>
                <a:spcPts val="700"/>
              </a:spcAft>
            </a:pPr>
            <a:r>
              <a:rPr sz="1600" b="1" dirty="0">
                <a:solidFill>
                  <a:srgbClr val="1A237E"/>
                </a:solidFill>
              </a:rPr>
              <a:t>• </a:t>
            </a:r>
            <a:r>
              <a:rPr sz="1600" b="1" dirty="0" err="1">
                <a:solidFill>
                  <a:srgbClr val="1A237E"/>
                </a:solidFill>
              </a:rPr>
              <a:t>NaN</a:t>
            </a:r>
            <a:r>
              <a:rPr sz="1600" b="1" dirty="0">
                <a:solidFill>
                  <a:srgbClr val="1A237E"/>
                </a:solidFill>
              </a:rPr>
              <a:t> = 0:  </a:t>
            </a:r>
            <a:r>
              <a:rPr sz="1600" dirty="0" err="1">
                <a:solidFill>
                  <a:srgbClr val="222222"/>
                </a:solidFill>
              </a:rPr>
              <a:t>masku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tvoria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výhradne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fyzikálne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poškodené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vzorky</a:t>
            </a:r>
            <a:endParaRPr sz="1600" dirty="0">
              <a:solidFill>
                <a:srgbClr val="222222"/>
              </a:solidFill>
            </a:endParaRPr>
          </a:p>
          <a:p>
            <a:pPr>
              <a:spcAft>
                <a:spcPts val="700"/>
              </a:spcAft>
            </a:pPr>
            <a:endParaRPr lang="en-US" sz="1600" b="1" dirty="0">
              <a:solidFill>
                <a:srgbClr val="1A237E"/>
              </a:solidFill>
            </a:endParaRPr>
          </a:p>
          <a:p>
            <a:pPr>
              <a:spcAft>
                <a:spcPts val="700"/>
              </a:spcAft>
            </a:pPr>
            <a:r>
              <a:rPr sz="1600" b="1" dirty="0">
                <a:solidFill>
                  <a:srgbClr val="1A237E"/>
                </a:solidFill>
              </a:rPr>
              <a:t>• </a:t>
            </a:r>
            <a:r>
              <a:rPr sz="1600" b="1" dirty="0" err="1">
                <a:solidFill>
                  <a:srgbClr val="1A237E"/>
                </a:solidFill>
              </a:rPr>
              <a:t>Výstup</a:t>
            </a:r>
            <a:r>
              <a:rPr sz="1600" b="1" dirty="0">
                <a:solidFill>
                  <a:srgbClr val="1A237E"/>
                </a:solidFill>
              </a:rPr>
              <a:t>:  </a:t>
            </a:r>
            <a:r>
              <a:rPr sz="1600" dirty="0">
                <a:solidFill>
                  <a:srgbClr val="222222"/>
                </a:solidFill>
              </a:rPr>
              <a:t>cleaned.csv — 25 411 </a:t>
            </a:r>
            <a:r>
              <a:rPr sz="1600" dirty="0" err="1">
                <a:solidFill>
                  <a:srgbClr val="222222"/>
                </a:solidFill>
              </a:rPr>
              <a:t>riadkov</a:t>
            </a:r>
            <a:r>
              <a:rPr sz="1600" dirty="0">
                <a:solidFill>
                  <a:srgbClr val="222222"/>
                </a:solidFill>
              </a:rPr>
              <a:t>, </a:t>
            </a:r>
            <a:r>
              <a:rPr sz="1600" dirty="0" err="1">
                <a:solidFill>
                  <a:srgbClr val="222222"/>
                </a:solidFill>
              </a:rPr>
              <a:t>len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pôvodné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merané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stĺpce</a:t>
            </a:r>
            <a:endParaRPr sz="1600" dirty="0">
              <a:solidFill>
                <a:srgbClr val="222222"/>
              </a:solidFill>
            </a:endParaRPr>
          </a:p>
          <a:p>
            <a:pPr>
              <a:spcAft>
                <a:spcPts val="700"/>
              </a:spcAft>
            </a:pPr>
            <a:endParaRPr lang="en-US" sz="1600" b="1" dirty="0">
              <a:solidFill>
                <a:srgbClr val="1A237E"/>
              </a:solidFill>
            </a:endParaRPr>
          </a:p>
          <a:p>
            <a:pPr>
              <a:spcAft>
                <a:spcPts val="700"/>
              </a:spcAft>
            </a:pPr>
            <a:r>
              <a:rPr sz="1600" b="1" dirty="0">
                <a:solidFill>
                  <a:srgbClr val="1A237E"/>
                </a:solidFill>
              </a:rPr>
              <a:t>• Strata </a:t>
            </a:r>
            <a:r>
              <a:rPr sz="1600" b="1" dirty="0" err="1">
                <a:solidFill>
                  <a:srgbClr val="1A237E"/>
                </a:solidFill>
              </a:rPr>
              <a:t>dát</a:t>
            </a:r>
            <a:r>
              <a:rPr sz="1600" b="1" dirty="0">
                <a:solidFill>
                  <a:srgbClr val="1A237E"/>
                </a:solidFill>
              </a:rPr>
              <a:t>:  </a:t>
            </a:r>
            <a:r>
              <a:rPr sz="1600" dirty="0">
                <a:solidFill>
                  <a:srgbClr val="222222"/>
                </a:solidFill>
              </a:rPr>
              <a:t>−0.74 % — </a:t>
            </a:r>
            <a:r>
              <a:rPr sz="1600" dirty="0" err="1">
                <a:solidFill>
                  <a:srgbClr val="222222"/>
                </a:solidFill>
              </a:rPr>
              <a:t>zanedbateľná</a:t>
            </a:r>
            <a:r>
              <a:rPr sz="1600" dirty="0">
                <a:solidFill>
                  <a:srgbClr val="222222"/>
                </a:solidFill>
              </a:rPr>
              <a:t>, dataset </a:t>
            </a:r>
            <a:r>
              <a:rPr sz="1600" dirty="0" err="1">
                <a:solidFill>
                  <a:srgbClr val="222222"/>
                </a:solidFill>
              </a:rPr>
              <a:t>zostáva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plnohodnotný</a:t>
            </a:r>
            <a:endParaRPr sz="1600" dirty="0">
              <a:solidFill>
                <a:srgbClr val="222222"/>
              </a:solidFill>
            </a:endParaRPr>
          </a:p>
        </p:txBody>
      </p:sp>
      <p:pic>
        <p:nvPicPr>
          <p:cNvPr id="20" name="Obrázok 19">
            <a:extLst>
              <a:ext uri="{FF2B5EF4-FFF2-40B4-BE49-F238E27FC236}">
                <a16:creationId xmlns:a16="http://schemas.microsoft.com/office/drawing/2014/main" id="{9AD182BE-135A-DD95-D616-4C8E95E81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975" y="3153526"/>
            <a:ext cx="5393175" cy="27015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345" y="201167"/>
            <a:ext cx="34977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9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1168"/>
            <a:ext cx="460068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</a:rPr>
              <a:t>Analýza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žiarenia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lang="sk-SK" sz="2400" b="1" dirty="0">
                <a:solidFill>
                  <a:srgbClr val="FFFFFF"/>
                </a:solidFill>
              </a:rPr>
              <a:t>-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ročný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priebeh</a:t>
            </a:r>
            <a:endParaRPr sz="2400" b="1" dirty="0">
              <a:solidFill>
                <a:srgbClr val="FFFFFF"/>
              </a:solidFill>
            </a:endParaRPr>
          </a:p>
        </p:txBody>
      </p:sp>
      <p:pic>
        <p:nvPicPr>
          <p:cNvPr id="6" name="Picture 5" descr="rocna_analyza_ziaren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45" y="1645919"/>
            <a:ext cx="804672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49640" y="2445403"/>
            <a:ext cx="3322015" cy="914400"/>
          </a:xfrm>
          <a:prstGeom prst="rect">
            <a:avLst/>
          </a:prstGeom>
          <a:solidFill>
            <a:srgbClr val="F0F4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41080" y="2491123"/>
            <a:ext cx="31391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0" dirty="0"/>
              <a:t>CELKOVÝ PRIEMER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683147"/>
            <a:ext cx="31391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37E"/>
                </a:solidFill>
              </a:rPr>
              <a:t>286.6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3140347"/>
            <a:ext cx="31391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/>
              <a:t>W/m²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3432955"/>
            <a:ext cx="3322015" cy="914400"/>
          </a:xfrm>
          <a:prstGeom prst="rect">
            <a:avLst/>
          </a:prstGeom>
          <a:solidFill>
            <a:srgbClr val="F0F4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41080" y="3478675"/>
            <a:ext cx="31391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/>
              <a:t>ŠTAND</a:t>
            </a:r>
            <a:r>
              <a:rPr sz="800" b="0" i="0" dirty="0">
                <a:solidFill>
                  <a:srgbClr val="888888"/>
                </a:solidFill>
              </a:rPr>
              <a:t>. </a:t>
            </a:r>
            <a:r>
              <a:rPr sz="1000" dirty="0"/>
              <a:t>ODCHÝLKA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670699"/>
            <a:ext cx="31391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</a:rPr>
              <a:t>282.0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4127899"/>
            <a:ext cx="31391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/>
              <a:t>W/m² (~100 %)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4420506"/>
            <a:ext cx="3322015" cy="914400"/>
          </a:xfrm>
          <a:prstGeom prst="rect">
            <a:avLst/>
          </a:prstGeom>
          <a:solidFill>
            <a:srgbClr val="F0F4FF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4466226"/>
            <a:ext cx="31391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/>
              <a:t>MAXIMUM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658250"/>
            <a:ext cx="31391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37E"/>
                </a:solidFill>
              </a:rPr>
              <a:t>1 440.6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5115450"/>
            <a:ext cx="31391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/>
              <a:t>W/m²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0837" y="170390"/>
            <a:ext cx="56938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"/>
            <a:ext cx="536243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</a:rPr>
              <a:t>Analýza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žiarenia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lang="sk-SK" sz="2400" b="1" dirty="0">
                <a:solidFill>
                  <a:srgbClr val="FFFFFF"/>
                </a:solidFill>
              </a:rPr>
              <a:t>–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lang="sk-SK" sz="2400" b="1" dirty="0">
                <a:solidFill>
                  <a:srgbClr val="FFFFFF"/>
                </a:solidFill>
              </a:rPr>
              <a:t>jednotlivé mesiace</a:t>
            </a:r>
            <a:endParaRPr sz="2400" b="1" dirty="0">
              <a:solidFill>
                <a:srgbClr val="FFFFFF"/>
              </a:solidFill>
            </a:endParaRPr>
          </a:p>
        </p:txBody>
      </p:sp>
      <p:pic>
        <p:nvPicPr>
          <p:cNvPr id="6" name="Picture 5" descr="denna_analyza_mesiaco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841248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15705" y="1997839"/>
            <a:ext cx="29562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600" b="1" dirty="0">
                <a:solidFill>
                  <a:srgbClr val="1A237E"/>
                </a:solidFill>
              </a:rPr>
              <a:t>• Leto</a:t>
            </a:r>
            <a:r>
              <a:rPr lang="sk-SK" b="1" dirty="0">
                <a:solidFill>
                  <a:srgbClr val="1A237E"/>
                </a:solidFill>
              </a:rPr>
              <a:t>: </a:t>
            </a:r>
            <a:r>
              <a:rPr lang="sk-SK" dirty="0"/>
              <a:t> </a:t>
            </a:r>
            <a:r>
              <a:rPr lang="sk-SK" sz="1400" dirty="0"/>
              <a:t>Symetrický zvonový profil, maximum ~700–800 W/m² okolo 12:00–13:00, slnko vychádza ~5:00, zapadá ~21:00</a:t>
            </a:r>
          </a:p>
          <a:p>
            <a:endParaRPr lang="sk-SK" sz="1600" b="1" dirty="0">
              <a:solidFill>
                <a:srgbClr val="1A237E"/>
              </a:solidFill>
            </a:endParaRPr>
          </a:p>
          <a:p>
            <a:r>
              <a:rPr lang="sk-SK" sz="1600" b="1" dirty="0">
                <a:solidFill>
                  <a:srgbClr val="1A237E"/>
                </a:solidFill>
              </a:rPr>
              <a:t>• Zima: </a:t>
            </a:r>
            <a:r>
              <a:rPr lang="sk-SK" sz="1400" dirty="0"/>
              <a:t>Plochý profil, maximum ~150–200 W/m², deň kratší (8:00–17:00)</a:t>
            </a:r>
          </a:p>
          <a:p>
            <a:endParaRPr lang="sk-SK" sz="1600" b="1" dirty="0">
              <a:solidFill>
                <a:srgbClr val="1A237E"/>
              </a:solidFill>
            </a:endParaRPr>
          </a:p>
          <a:p>
            <a:r>
              <a:rPr lang="sk-SK" sz="1600" b="1" dirty="0">
                <a:solidFill>
                  <a:srgbClr val="1A237E"/>
                </a:solidFill>
              </a:rPr>
              <a:t>• Jaro/jeseň: </a:t>
            </a:r>
            <a:r>
              <a:rPr lang="sk-SK" sz="1400" dirty="0"/>
              <a:t>Prechodný stav, vysoká disperzia = premenlivé počasie</a:t>
            </a:r>
            <a:endParaRPr lang="sk-SK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8074" y="201167"/>
            <a:ext cx="51488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11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1168"/>
            <a:ext cx="53539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</a:rPr>
              <a:t>Korelačná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analýza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lang="en-US" sz="2400" b="1" dirty="0">
                <a:solidFill>
                  <a:srgbClr val="FFFFFF"/>
                </a:solidFill>
              </a:rPr>
              <a:t>-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kľúčové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výsledky</a:t>
            </a:r>
            <a:endParaRPr sz="2400" b="1" dirty="0">
              <a:solidFill>
                <a:srgbClr val="FFFFFF"/>
              </a:solidFill>
            </a:endParaRPr>
          </a:p>
        </p:txBody>
      </p:sp>
      <p:pic>
        <p:nvPicPr>
          <p:cNvPr id="6" name="Picture 5" descr="heatmapa_korelac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530352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60719" y="1591200"/>
            <a:ext cx="6065215" cy="37719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33871" y="1636920"/>
            <a:ext cx="59737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FFFFFF"/>
                </a:solidFill>
              </a:rPr>
              <a:t>Dvojica</a:t>
            </a:r>
            <a:r>
              <a:rPr sz="1200" b="1" i="0" dirty="0">
                <a:solidFill>
                  <a:srgbClr val="FFFFFF"/>
                </a:solidFill>
              </a:rPr>
              <a:t>  |  r  |  </a:t>
            </a:r>
            <a:r>
              <a:rPr sz="1200" b="1" i="0" dirty="0" err="1">
                <a:solidFill>
                  <a:srgbClr val="FFFFFF"/>
                </a:solidFill>
              </a:rPr>
              <a:t>Fyzikálne</a:t>
            </a:r>
            <a:r>
              <a:rPr sz="1200" b="1" i="0" dirty="0">
                <a:solidFill>
                  <a:srgbClr val="FFFFFF"/>
                </a:solidFill>
              </a:rPr>
              <a:t> </a:t>
            </a:r>
            <a:r>
              <a:rPr sz="1200" b="1" i="0" dirty="0" err="1">
                <a:solidFill>
                  <a:srgbClr val="FFFFFF"/>
                </a:solidFill>
              </a:rPr>
              <a:t>vysvetlenie</a:t>
            </a:r>
            <a:endParaRPr sz="1200" b="1" i="0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60719" y="1968390"/>
            <a:ext cx="6065215" cy="685800"/>
          </a:xfrm>
          <a:prstGeom prst="rect">
            <a:avLst/>
          </a:prstGeom>
          <a:solidFill>
            <a:srgbClr val="F8F9FF"/>
          </a:solidFill>
          <a:ln w="6350">
            <a:solidFill>
              <a:srgbClr val="E0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33871" y="2032398"/>
            <a:ext cx="59189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 err="1">
                <a:solidFill>
                  <a:srgbClr val="1A237E"/>
                </a:solidFill>
              </a:rPr>
              <a:t>FanSpeed</a:t>
            </a:r>
            <a:r>
              <a:rPr sz="1100" b="1" dirty="0">
                <a:solidFill>
                  <a:srgbClr val="1A237E"/>
                </a:solidFill>
              </a:rPr>
              <a:t> ↔ Pressure  </a:t>
            </a:r>
            <a:r>
              <a:rPr sz="1100" b="1" dirty="0">
                <a:solidFill>
                  <a:srgbClr val="C62828"/>
                </a:solidFill>
              </a:rPr>
              <a:t>−0.998  </a:t>
            </a:r>
            <a:r>
              <a:rPr sz="1100" b="0" dirty="0">
                <a:solidFill>
                  <a:srgbClr val="222222"/>
                </a:solidFill>
              </a:rPr>
              <a:t>Nep</a:t>
            </a:r>
            <a:r>
              <a:rPr lang="sk-SK" sz="1100" b="0" dirty="0" err="1">
                <a:solidFill>
                  <a:srgbClr val="222222"/>
                </a:solidFill>
              </a:rPr>
              <a:t>ria</a:t>
            </a:r>
            <a:r>
              <a:rPr sz="1100" b="0" dirty="0">
                <a:solidFill>
                  <a:srgbClr val="222222"/>
                </a:solidFill>
              </a:rPr>
              <a:t>my </a:t>
            </a:r>
            <a:r>
              <a:rPr sz="1100" b="0" dirty="0" err="1">
                <a:solidFill>
                  <a:srgbClr val="222222"/>
                </a:solidFill>
              </a:rPr>
              <a:t>sezónny</a:t>
            </a:r>
            <a:r>
              <a:rPr sz="1100" b="0" dirty="0">
                <a:solidFill>
                  <a:srgbClr val="222222"/>
                </a:solidFill>
              </a:rPr>
              <a:t> </a:t>
            </a:r>
            <a:r>
              <a:rPr sz="1100" b="0" dirty="0" err="1">
                <a:solidFill>
                  <a:srgbClr val="222222"/>
                </a:solidFill>
              </a:rPr>
              <a:t>efekt</a:t>
            </a:r>
            <a:r>
              <a:rPr sz="1100" b="0" dirty="0">
                <a:solidFill>
                  <a:srgbClr val="222222"/>
                </a:solidFill>
              </a:rPr>
              <a:t>: </a:t>
            </a:r>
            <a:r>
              <a:rPr sz="1100" b="0" dirty="0" err="1">
                <a:solidFill>
                  <a:srgbClr val="222222"/>
                </a:solidFill>
              </a:rPr>
              <a:t>hustý</a:t>
            </a:r>
            <a:r>
              <a:rPr sz="1100" b="0" dirty="0">
                <a:solidFill>
                  <a:srgbClr val="222222"/>
                </a:solidFill>
              </a:rPr>
              <a:t> </a:t>
            </a:r>
            <a:r>
              <a:rPr sz="1100" b="0" dirty="0" err="1">
                <a:solidFill>
                  <a:srgbClr val="222222"/>
                </a:solidFill>
              </a:rPr>
              <a:t>vzduch</a:t>
            </a:r>
            <a:r>
              <a:rPr sz="1100" b="0" dirty="0">
                <a:solidFill>
                  <a:srgbClr val="222222"/>
                </a:solidFill>
              </a:rPr>
              <a:t> v </a:t>
            </a:r>
            <a:r>
              <a:rPr sz="1100" b="0" dirty="0" err="1">
                <a:solidFill>
                  <a:srgbClr val="222222"/>
                </a:solidFill>
              </a:rPr>
              <a:t>zime</a:t>
            </a:r>
            <a:r>
              <a:rPr sz="1100" b="0" dirty="0">
                <a:solidFill>
                  <a:srgbClr val="222222"/>
                </a:solidFill>
              </a:rPr>
              <a:t> → </a:t>
            </a:r>
            <a:r>
              <a:rPr sz="1100" b="0" dirty="0" err="1">
                <a:solidFill>
                  <a:srgbClr val="222222"/>
                </a:solidFill>
              </a:rPr>
              <a:t>vyšší</a:t>
            </a:r>
            <a:r>
              <a:rPr sz="1100" b="0" dirty="0">
                <a:solidFill>
                  <a:srgbClr val="222222"/>
                </a:solidFill>
              </a:rPr>
              <a:t> </a:t>
            </a:r>
            <a:r>
              <a:rPr sz="1100" b="0" dirty="0" err="1">
                <a:solidFill>
                  <a:srgbClr val="222222"/>
                </a:solidFill>
              </a:rPr>
              <a:t>tlak</a:t>
            </a:r>
            <a:r>
              <a:rPr sz="1100" b="0" dirty="0">
                <a:solidFill>
                  <a:srgbClr val="222222"/>
                </a:solidFill>
              </a:rPr>
              <a:t>, </a:t>
            </a:r>
            <a:r>
              <a:rPr sz="1100" b="0" dirty="0" err="1">
                <a:solidFill>
                  <a:srgbClr val="222222"/>
                </a:solidFill>
              </a:rPr>
              <a:t>pomalejší</a:t>
            </a:r>
            <a:r>
              <a:rPr sz="1100" b="0" dirty="0">
                <a:solidFill>
                  <a:srgbClr val="222222"/>
                </a:solidFill>
              </a:rPr>
              <a:t> motor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19" y="2654190"/>
            <a:ext cx="6065215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33868" y="2818782"/>
            <a:ext cx="59189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 err="1">
                <a:solidFill>
                  <a:srgbClr val="1A237E"/>
                </a:solidFill>
              </a:rPr>
              <a:t>BodyTemp</a:t>
            </a:r>
            <a:r>
              <a:rPr sz="1100" b="1" dirty="0">
                <a:solidFill>
                  <a:srgbClr val="1A237E"/>
                </a:solidFill>
              </a:rPr>
              <a:t> ↔ </a:t>
            </a:r>
            <a:r>
              <a:rPr sz="1100" b="1" dirty="0" err="1">
                <a:solidFill>
                  <a:srgbClr val="1A237E"/>
                </a:solidFill>
              </a:rPr>
              <a:t>HumidityTemp</a:t>
            </a:r>
            <a:r>
              <a:rPr sz="1100" b="1" dirty="0">
                <a:solidFill>
                  <a:srgbClr val="1A237E"/>
                </a:solidFill>
              </a:rPr>
              <a:t> ↔ </a:t>
            </a:r>
            <a:r>
              <a:rPr sz="1100" b="1" dirty="0" err="1">
                <a:solidFill>
                  <a:srgbClr val="1A237E"/>
                </a:solidFill>
              </a:rPr>
              <a:t>PressureTemp</a:t>
            </a:r>
            <a:r>
              <a:rPr sz="1100" b="1" dirty="0">
                <a:solidFill>
                  <a:srgbClr val="1A237E"/>
                </a:solidFill>
              </a:rPr>
              <a:t>  </a:t>
            </a:r>
            <a:r>
              <a:rPr sz="1100" b="1" dirty="0">
                <a:solidFill>
                  <a:srgbClr val="2E7D32"/>
                </a:solidFill>
              </a:rPr>
              <a:t>≈ +0.999  </a:t>
            </a:r>
            <a:r>
              <a:rPr sz="1100" b="0" dirty="0">
                <a:solidFill>
                  <a:srgbClr val="222222"/>
                </a:solidFill>
              </a:rPr>
              <a:t>3 </a:t>
            </a:r>
            <a:r>
              <a:rPr sz="1100" b="0" dirty="0" err="1">
                <a:solidFill>
                  <a:srgbClr val="222222"/>
                </a:solidFill>
              </a:rPr>
              <a:t>nez</a:t>
            </a:r>
            <a:r>
              <a:rPr lang="sk-SK" sz="1100" b="0" dirty="0" err="1">
                <a:solidFill>
                  <a:srgbClr val="222222"/>
                </a:solidFill>
              </a:rPr>
              <a:t>ávisl</a:t>
            </a:r>
            <a:r>
              <a:rPr sz="1100" b="0" dirty="0">
                <a:solidFill>
                  <a:srgbClr val="222222"/>
                </a:solidFill>
              </a:rPr>
              <a:t>é </a:t>
            </a:r>
            <a:r>
              <a:rPr sz="1100" b="0" dirty="0" err="1">
                <a:solidFill>
                  <a:srgbClr val="222222"/>
                </a:solidFill>
              </a:rPr>
              <a:t>snímače</a:t>
            </a:r>
            <a:r>
              <a:rPr sz="1100" b="0" dirty="0">
                <a:solidFill>
                  <a:srgbClr val="222222"/>
                </a:solidFill>
              </a:rPr>
              <a:t>, </a:t>
            </a:r>
            <a:r>
              <a:rPr sz="1100" b="0" dirty="0" err="1">
                <a:solidFill>
                  <a:srgbClr val="222222"/>
                </a:solidFill>
              </a:rPr>
              <a:t>rovnaká</a:t>
            </a:r>
            <a:r>
              <a:rPr sz="1100" b="0" dirty="0">
                <a:solidFill>
                  <a:srgbClr val="222222"/>
                </a:solidFill>
              </a:rPr>
              <a:t> </a:t>
            </a:r>
            <a:r>
              <a:rPr sz="1100" b="0" dirty="0" err="1">
                <a:solidFill>
                  <a:srgbClr val="222222"/>
                </a:solidFill>
              </a:rPr>
              <a:t>fyz</a:t>
            </a:r>
            <a:r>
              <a:rPr sz="1100" b="0" dirty="0">
                <a:solidFill>
                  <a:srgbClr val="222222"/>
                </a:solidFill>
              </a:rPr>
              <a:t>. </a:t>
            </a:r>
            <a:r>
              <a:rPr sz="1100" b="0" dirty="0" err="1">
                <a:solidFill>
                  <a:srgbClr val="222222"/>
                </a:solidFill>
              </a:rPr>
              <a:t>teplota</a:t>
            </a:r>
            <a:r>
              <a:rPr sz="1100" b="0" dirty="0">
                <a:solidFill>
                  <a:srgbClr val="222222"/>
                </a:solidFill>
              </a:rPr>
              <a:t> </a:t>
            </a:r>
            <a:r>
              <a:rPr lang="en-US" sz="1100" dirty="0">
                <a:solidFill>
                  <a:srgbClr val="222222"/>
                </a:solidFill>
              </a:rPr>
              <a:t>-</a:t>
            </a:r>
            <a:r>
              <a:rPr sz="1100" b="0" dirty="0">
                <a:solidFill>
                  <a:srgbClr val="222222"/>
                </a:solidFill>
              </a:rPr>
              <a:t> </a:t>
            </a:r>
            <a:r>
              <a:rPr sz="1100" b="0" dirty="0" err="1">
                <a:solidFill>
                  <a:srgbClr val="222222"/>
                </a:solidFill>
              </a:rPr>
              <a:t>potvrdená</a:t>
            </a:r>
            <a:r>
              <a:rPr sz="1100" b="0" dirty="0">
                <a:solidFill>
                  <a:srgbClr val="222222"/>
                </a:solidFill>
              </a:rPr>
              <a:t> </a:t>
            </a:r>
            <a:r>
              <a:rPr sz="1100" b="0" dirty="0" err="1">
                <a:solidFill>
                  <a:srgbClr val="222222"/>
                </a:solidFill>
              </a:rPr>
              <a:t>kalib</a:t>
            </a:r>
            <a:r>
              <a:rPr lang="sk-SK" sz="1100" b="0" dirty="0">
                <a:solidFill>
                  <a:srgbClr val="222222"/>
                </a:solidFill>
              </a:rPr>
              <a:t>r</a:t>
            </a:r>
            <a:r>
              <a:rPr sz="1100" b="0" dirty="0" err="1">
                <a:solidFill>
                  <a:srgbClr val="222222"/>
                </a:solidFill>
              </a:rPr>
              <a:t>ácia</a:t>
            </a:r>
            <a:endParaRPr sz="1100" b="0" dirty="0">
              <a:solidFill>
                <a:srgbClr val="222222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60719" y="3339990"/>
            <a:ext cx="6065215" cy="685800"/>
          </a:xfrm>
          <a:prstGeom prst="rect">
            <a:avLst/>
          </a:prstGeom>
          <a:solidFill>
            <a:srgbClr val="F8F9FF"/>
          </a:solidFill>
          <a:ln w="6350">
            <a:solidFill>
              <a:srgbClr val="E0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33869" y="3596799"/>
            <a:ext cx="591891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1A237E"/>
                </a:solidFill>
              </a:rPr>
              <a:t>Irradiance ↔ </a:t>
            </a:r>
            <a:r>
              <a:rPr sz="1100" b="1" dirty="0" err="1">
                <a:solidFill>
                  <a:srgbClr val="1A237E"/>
                </a:solidFill>
              </a:rPr>
              <a:t>SunZenith</a:t>
            </a:r>
            <a:r>
              <a:rPr sz="1100" b="1" dirty="0">
                <a:solidFill>
                  <a:srgbClr val="1A237E"/>
                </a:solidFill>
              </a:rPr>
              <a:t>  </a:t>
            </a:r>
            <a:r>
              <a:rPr sz="1100" b="1" dirty="0">
                <a:solidFill>
                  <a:srgbClr val="3949AB"/>
                </a:solidFill>
              </a:rPr>
              <a:t>+0.790  </a:t>
            </a:r>
            <a:r>
              <a:rPr sz="1100" b="0" dirty="0" err="1">
                <a:solidFill>
                  <a:srgbClr val="222222"/>
                </a:solidFill>
              </a:rPr>
              <a:t>Vyššia</a:t>
            </a:r>
            <a:r>
              <a:rPr sz="1100" b="0" dirty="0">
                <a:solidFill>
                  <a:srgbClr val="222222"/>
                </a:solidFill>
              </a:rPr>
              <a:t> </a:t>
            </a:r>
            <a:r>
              <a:rPr sz="1100" b="0" dirty="0" err="1">
                <a:solidFill>
                  <a:srgbClr val="222222"/>
                </a:solidFill>
              </a:rPr>
              <a:t>poloha</a:t>
            </a:r>
            <a:r>
              <a:rPr sz="1100" b="0" dirty="0">
                <a:solidFill>
                  <a:srgbClr val="222222"/>
                </a:solidFill>
              </a:rPr>
              <a:t> </a:t>
            </a:r>
            <a:r>
              <a:rPr sz="1100" b="0" dirty="0" err="1">
                <a:solidFill>
                  <a:srgbClr val="222222"/>
                </a:solidFill>
              </a:rPr>
              <a:t>slnka</a:t>
            </a:r>
            <a:r>
              <a:rPr sz="1100" b="0" dirty="0">
                <a:solidFill>
                  <a:srgbClr val="222222"/>
                </a:solidFill>
              </a:rPr>
              <a:t> → </a:t>
            </a:r>
            <a:r>
              <a:rPr sz="1100" b="0" dirty="0" err="1">
                <a:solidFill>
                  <a:srgbClr val="222222"/>
                </a:solidFill>
              </a:rPr>
              <a:t>kratšia</a:t>
            </a:r>
            <a:r>
              <a:rPr sz="1100" b="0" dirty="0">
                <a:solidFill>
                  <a:srgbClr val="222222"/>
                </a:solidFill>
              </a:rPr>
              <a:t> </a:t>
            </a:r>
            <a:r>
              <a:rPr sz="1100" b="0" dirty="0" err="1">
                <a:solidFill>
                  <a:srgbClr val="222222"/>
                </a:solidFill>
              </a:rPr>
              <a:t>dráha</a:t>
            </a:r>
            <a:r>
              <a:rPr sz="1100" b="0" dirty="0">
                <a:solidFill>
                  <a:srgbClr val="222222"/>
                </a:solidFill>
              </a:rPr>
              <a:t> atm. → </a:t>
            </a:r>
            <a:r>
              <a:rPr sz="1100" b="0" dirty="0" err="1">
                <a:solidFill>
                  <a:srgbClr val="222222"/>
                </a:solidFill>
              </a:rPr>
              <a:t>viac</a:t>
            </a:r>
            <a:r>
              <a:rPr sz="1100" b="0" dirty="0">
                <a:solidFill>
                  <a:srgbClr val="222222"/>
                </a:solidFill>
              </a:rPr>
              <a:t> </a:t>
            </a:r>
            <a:r>
              <a:rPr sz="1100" b="0" dirty="0" err="1">
                <a:solidFill>
                  <a:srgbClr val="222222"/>
                </a:solidFill>
              </a:rPr>
              <a:t>žiarenia</a:t>
            </a:r>
            <a:endParaRPr sz="1100" b="0" dirty="0">
              <a:solidFill>
                <a:srgbClr val="22222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60719" y="4025790"/>
            <a:ext cx="6065215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33870" y="4255167"/>
            <a:ext cx="591891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1A237E"/>
                </a:solidFill>
              </a:rPr>
              <a:t>Pressure ↔ </a:t>
            </a:r>
            <a:r>
              <a:rPr sz="1100" b="1" dirty="0" err="1">
                <a:solidFill>
                  <a:srgbClr val="1A237E"/>
                </a:solidFill>
              </a:rPr>
              <a:t>BodyTemp</a:t>
            </a:r>
            <a:r>
              <a:rPr sz="1100" b="1" dirty="0">
                <a:solidFill>
                  <a:srgbClr val="1A237E"/>
                </a:solidFill>
              </a:rPr>
              <a:t>  </a:t>
            </a:r>
            <a:r>
              <a:rPr sz="1100" b="1" dirty="0">
                <a:solidFill>
                  <a:srgbClr val="C62828"/>
                </a:solidFill>
              </a:rPr>
              <a:t>≈ −0.82  </a:t>
            </a:r>
            <a:r>
              <a:rPr sz="1100" b="0" dirty="0" err="1">
                <a:solidFill>
                  <a:srgbClr val="222222"/>
                </a:solidFill>
              </a:rPr>
              <a:t>Sezónny</a:t>
            </a:r>
            <a:r>
              <a:rPr sz="1100" b="0" dirty="0">
                <a:solidFill>
                  <a:srgbClr val="222222"/>
                </a:solidFill>
              </a:rPr>
              <a:t> </a:t>
            </a:r>
            <a:r>
              <a:rPr sz="1100" b="0" dirty="0" err="1">
                <a:solidFill>
                  <a:srgbClr val="222222"/>
                </a:solidFill>
              </a:rPr>
              <a:t>efekt</a:t>
            </a:r>
            <a:r>
              <a:rPr sz="1100" b="0" dirty="0">
                <a:solidFill>
                  <a:srgbClr val="222222"/>
                </a:solidFill>
              </a:rPr>
              <a:t>: </a:t>
            </a:r>
            <a:r>
              <a:rPr sz="1100" b="0" dirty="0" err="1">
                <a:solidFill>
                  <a:srgbClr val="222222"/>
                </a:solidFill>
              </a:rPr>
              <a:t>zima</a:t>
            </a:r>
            <a:r>
              <a:rPr sz="1100" b="0" dirty="0">
                <a:solidFill>
                  <a:srgbClr val="222222"/>
                </a:solidFill>
              </a:rPr>
              <a:t> = </a:t>
            </a:r>
            <a:r>
              <a:rPr sz="1100" b="0" dirty="0" err="1">
                <a:solidFill>
                  <a:srgbClr val="222222"/>
                </a:solidFill>
              </a:rPr>
              <a:t>vysoký</a:t>
            </a:r>
            <a:r>
              <a:rPr sz="1100" b="0" dirty="0">
                <a:solidFill>
                  <a:srgbClr val="222222"/>
                </a:solidFill>
              </a:rPr>
              <a:t> </a:t>
            </a:r>
            <a:r>
              <a:rPr sz="1100" b="0" dirty="0" err="1">
                <a:solidFill>
                  <a:srgbClr val="222222"/>
                </a:solidFill>
              </a:rPr>
              <a:t>tlak</a:t>
            </a:r>
            <a:r>
              <a:rPr sz="1100" b="0" dirty="0">
                <a:solidFill>
                  <a:srgbClr val="222222"/>
                </a:solidFill>
              </a:rPr>
              <a:t>, </a:t>
            </a:r>
            <a:r>
              <a:rPr sz="1100" b="0" dirty="0" err="1">
                <a:solidFill>
                  <a:srgbClr val="222222"/>
                </a:solidFill>
              </a:rPr>
              <a:t>nízka</a:t>
            </a:r>
            <a:r>
              <a:rPr sz="1100" b="0" dirty="0">
                <a:solidFill>
                  <a:srgbClr val="222222"/>
                </a:solidFill>
              </a:rPr>
              <a:t> </a:t>
            </a:r>
            <a:r>
              <a:rPr sz="1100" b="0" dirty="0" err="1">
                <a:solidFill>
                  <a:srgbClr val="222222"/>
                </a:solidFill>
              </a:rPr>
              <a:t>teplota</a:t>
            </a:r>
            <a:endParaRPr sz="1100" b="0" dirty="0">
              <a:solidFill>
                <a:srgbClr val="22222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88152" y="4997250"/>
            <a:ext cx="60652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/>
              <a:t>16 </a:t>
            </a:r>
            <a:r>
              <a:rPr sz="900" b="1" dirty="0" err="1"/>
              <a:t>parametrov</a:t>
            </a:r>
            <a:r>
              <a:rPr sz="900" b="1" dirty="0"/>
              <a:t> v </a:t>
            </a:r>
            <a:r>
              <a:rPr sz="900" b="1" dirty="0" err="1"/>
              <a:t>matici</a:t>
            </a:r>
            <a:r>
              <a:rPr sz="900" b="1" dirty="0"/>
              <a:t> (</a:t>
            </a:r>
            <a:r>
              <a:rPr sz="900" b="1" dirty="0" err="1"/>
              <a:t>SunLatitude</a:t>
            </a:r>
            <a:r>
              <a:rPr sz="900" b="1" dirty="0"/>
              <a:t>, </a:t>
            </a:r>
            <a:r>
              <a:rPr sz="900" b="1" dirty="0" err="1"/>
              <a:t>SunLongitude</a:t>
            </a:r>
            <a:r>
              <a:rPr sz="900" b="1" dirty="0"/>
              <a:t> </a:t>
            </a:r>
            <a:r>
              <a:rPr sz="900" b="1" dirty="0" err="1"/>
              <a:t>vylučené</a:t>
            </a:r>
            <a:r>
              <a:rPr sz="900" b="1" dirty="0"/>
              <a:t> — </a:t>
            </a:r>
            <a:r>
              <a:rPr sz="900" b="1" dirty="0" err="1"/>
              <a:t>kontštanty</a:t>
            </a:r>
            <a:r>
              <a:rPr sz="900" b="1" dirty="0"/>
              <a:t>, std = 0, </a:t>
            </a:r>
            <a:r>
              <a:rPr sz="900" b="1" dirty="0" err="1"/>
              <a:t>korelácia</a:t>
            </a:r>
            <a:r>
              <a:rPr sz="900" b="1" dirty="0"/>
              <a:t> </a:t>
            </a:r>
            <a:r>
              <a:rPr sz="900" b="1" dirty="0" err="1"/>
              <a:t>nedefinovaná</a:t>
            </a:r>
            <a:r>
              <a:rPr sz="900" b="1" dirty="0"/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45477" y="201168"/>
            <a:ext cx="51488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12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1168"/>
            <a:ext cx="338041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</a:rPr>
              <a:t>Záver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lang="sk-SK" sz="2400" b="1" dirty="0">
                <a:solidFill>
                  <a:srgbClr val="FFFFFF"/>
                </a:solidFill>
              </a:rPr>
              <a:t>- </a:t>
            </a:r>
            <a:r>
              <a:rPr sz="2400" b="1" dirty="0" err="1">
                <a:solidFill>
                  <a:srgbClr val="FFFFFF"/>
                </a:solidFill>
              </a:rPr>
              <a:t>čo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sme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dosiahli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1551615" cy="36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 dirty="0">
                <a:solidFill>
                  <a:srgbClr val="1A237E"/>
                </a:solidFill>
              </a:rPr>
              <a:t>• Dataset:  </a:t>
            </a:r>
            <a:r>
              <a:rPr sz="1600" dirty="0">
                <a:solidFill>
                  <a:srgbClr val="222222"/>
                </a:solidFill>
              </a:rPr>
              <a:t>25 600 </a:t>
            </a:r>
            <a:r>
              <a:rPr sz="1600" dirty="0" err="1">
                <a:solidFill>
                  <a:srgbClr val="222222"/>
                </a:solidFill>
              </a:rPr>
              <a:t>vzoriek</a:t>
            </a:r>
            <a:r>
              <a:rPr sz="1600" dirty="0">
                <a:solidFill>
                  <a:srgbClr val="222222"/>
                </a:solidFill>
              </a:rPr>
              <a:t>,  0 </a:t>
            </a:r>
            <a:r>
              <a:rPr sz="1600" dirty="0" err="1">
                <a:solidFill>
                  <a:srgbClr val="222222"/>
                </a:solidFill>
              </a:rPr>
              <a:t>NaN</a:t>
            </a:r>
            <a:r>
              <a:rPr sz="1600" dirty="0">
                <a:solidFill>
                  <a:srgbClr val="222222"/>
                </a:solidFill>
              </a:rPr>
              <a:t>,  8 </a:t>
            </a:r>
            <a:r>
              <a:rPr sz="1600" dirty="0" err="1">
                <a:solidFill>
                  <a:srgbClr val="222222"/>
                </a:solidFill>
              </a:rPr>
              <a:t>chýbajúcich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dní</a:t>
            </a:r>
            <a:endParaRPr lang="sk-SK" sz="1600" dirty="0">
              <a:solidFill>
                <a:srgbClr val="222222"/>
              </a:solidFill>
            </a:endParaRPr>
          </a:p>
          <a:p>
            <a:pPr>
              <a:spcAft>
                <a:spcPts val="700"/>
              </a:spcAft>
            </a:pPr>
            <a:endParaRPr sz="1600" dirty="0">
              <a:solidFill>
                <a:srgbClr val="222222"/>
              </a:solidFill>
            </a:endParaRPr>
          </a:p>
          <a:p>
            <a:pPr>
              <a:spcAft>
                <a:spcPts val="700"/>
              </a:spcAft>
            </a:pPr>
            <a:r>
              <a:rPr sz="1600" b="1" dirty="0">
                <a:solidFill>
                  <a:srgbClr val="1A237E"/>
                </a:solidFill>
              </a:rPr>
              <a:t>• </a:t>
            </a:r>
            <a:r>
              <a:rPr sz="1600" b="1" dirty="0" err="1">
                <a:solidFill>
                  <a:srgbClr val="1A237E"/>
                </a:solidFill>
              </a:rPr>
              <a:t>Detekcia</a:t>
            </a:r>
            <a:r>
              <a:rPr sz="1600" b="1" dirty="0">
                <a:solidFill>
                  <a:srgbClr val="1A237E"/>
                </a:solidFill>
              </a:rPr>
              <a:t> </a:t>
            </a:r>
            <a:r>
              <a:rPr sz="1600" b="1" dirty="0" err="1">
                <a:solidFill>
                  <a:srgbClr val="1A237E"/>
                </a:solidFill>
              </a:rPr>
              <a:t>chýb</a:t>
            </a:r>
            <a:r>
              <a:rPr sz="1600" b="1" dirty="0">
                <a:solidFill>
                  <a:srgbClr val="1A237E"/>
                </a:solidFill>
              </a:rPr>
              <a:t>:  </a:t>
            </a:r>
            <a:r>
              <a:rPr sz="1600" dirty="0">
                <a:solidFill>
                  <a:srgbClr val="222222"/>
                </a:solidFill>
              </a:rPr>
              <a:t>189 </a:t>
            </a:r>
            <a:r>
              <a:rPr sz="1600" dirty="0" err="1">
                <a:solidFill>
                  <a:srgbClr val="222222"/>
                </a:solidFill>
              </a:rPr>
              <a:t>poškodených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vzoriek</a:t>
            </a:r>
            <a:r>
              <a:rPr sz="1600" dirty="0">
                <a:solidFill>
                  <a:srgbClr val="222222"/>
                </a:solidFill>
              </a:rPr>
              <a:t> (0.74 %), 151 </a:t>
            </a:r>
            <a:r>
              <a:rPr sz="1600" dirty="0" err="1">
                <a:solidFill>
                  <a:srgbClr val="222222"/>
                </a:solidFill>
              </a:rPr>
              <a:t>skupín</a:t>
            </a:r>
            <a:r>
              <a:rPr sz="1600" dirty="0">
                <a:solidFill>
                  <a:srgbClr val="222222"/>
                </a:solidFill>
              </a:rPr>
              <a:t>, max. </a:t>
            </a:r>
            <a:r>
              <a:rPr sz="1600" dirty="0" err="1">
                <a:solidFill>
                  <a:srgbClr val="222222"/>
                </a:solidFill>
              </a:rPr>
              <a:t>dĺžka</a:t>
            </a:r>
            <a:r>
              <a:rPr sz="1600" dirty="0">
                <a:solidFill>
                  <a:srgbClr val="222222"/>
                </a:solidFill>
              </a:rPr>
              <a:t> 12</a:t>
            </a:r>
          </a:p>
          <a:p>
            <a:pPr>
              <a:spcAft>
                <a:spcPts val="700"/>
              </a:spcAft>
            </a:pPr>
            <a:endParaRPr lang="sk-SK" sz="1600" b="1" dirty="0">
              <a:solidFill>
                <a:srgbClr val="1A237E"/>
              </a:solidFill>
            </a:endParaRPr>
          </a:p>
          <a:p>
            <a:pPr>
              <a:spcAft>
                <a:spcPts val="700"/>
              </a:spcAft>
            </a:pPr>
            <a:r>
              <a:rPr sz="1600" b="1" dirty="0">
                <a:solidFill>
                  <a:srgbClr val="1A237E"/>
                </a:solidFill>
              </a:rPr>
              <a:t>• Po </a:t>
            </a:r>
            <a:r>
              <a:rPr sz="1600" b="1" dirty="0" err="1">
                <a:solidFill>
                  <a:srgbClr val="1A237E"/>
                </a:solidFill>
              </a:rPr>
              <a:t>čistení</a:t>
            </a:r>
            <a:r>
              <a:rPr sz="1600" b="1" dirty="0">
                <a:solidFill>
                  <a:srgbClr val="1A237E"/>
                </a:solidFill>
              </a:rPr>
              <a:t>:  </a:t>
            </a:r>
            <a:r>
              <a:rPr sz="1600" dirty="0">
                <a:solidFill>
                  <a:srgbClr val="222222"/>
                </a:solidFill>
              </a:rPr>
              <a:t>25 411 </a:t>
            </a:r>
            <a:r>
              <a:rPr sz="1600" dirty="0" err="1">
                <a:solidFill>
                  <a:srgbClr val="222222"/>
                </a:solidFill>
              </a:rPr>
              <a:t>platných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vzoriek</a:t>
            </a:r>
            <a:r>
              <a:rPr sz="1600" dirty="0">
                <a:solidFill>
                  <a:srgbClr val="222222"/>
                </a:solidFill>
              </a:rPr>
              <a:t> → cleaned.csv</a:t>
            </a:r>
          </a:p>
          <a:p>
            <a:pPr>
              <a:spcAft>
                <a:spcPts val="700"/>
              </a:spcAft>
            </a:pPr>
            <a:endParaRPr lang="sk-SK" sz="1600" b="1" dirty="0">
              <a:solidFill>
                <a:srgbClr val="1A237E"/>
              </a:solidFill>
            </a:endParaRPr>
          </a:p>
          <a:p>
            <a:pPr>
              <a:spcAft>
                <a:spcPts val="700"/>
              </a:spcAft>
            </a:pPr>
            <a:r>
              <a:rPr sz="1600" b="1" dirty="0">
                <a:solidFill>
                  <a:srgbClr val="1A237E"/>
                </a:solidFill>
              </a:rPr>
              <a:t>• </a:t>
            </a:r>
            <a:r>
              <a:rPr sz="1600" b="1" dirty="0" err="1">
                <a:solidFill>
                  <a:srgbClr val="1A237E"/>
                </a:solidFill>
              </a:rPr>
              <a:t>Žiarenie</a:t>
            </a:r>
            <a:r>
              <a:rPr sz="1600" b="1" dirty="0">
                <a:solidFill>
                  <a:srgbClr val="1A237E"/>
                </a:solidFill>
              </a:rPr>
              <a:t>:  </a:t>
            </a:r>
            <a:r>
              <a:rPr sz="1600" dirty="0" err="1">
                <a:solidFill>
                  <a:srgbClr val="222222"/>
                </a:solidFill>
              </a:rPr>
              <a:t>Silný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sezónny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vzor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lang="sk-SK" sz="1600" dirty="0">
                <a:solidFill>
                  <a:srgbClr val="222222"/>
                </a:solidFill>
              </a:rPr>
              <a:t>-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letné</a:t>
            </a:r>
            <a:r>
              <a:rPr sz="1600" dirty="0">
                <a:solidFill>
                  <a:srgbClr val="222222"/>
                </a:solidFill>
              </a:rPr>
              <a:t> max. ~500</a:t>
            </a:r>
            <a:r>
              <a:rPr lang="sk-SK" sz="1600" dirty="0">
                <a:solidFill>
                  <a:srgbClr val="222222"/>
                </a:solidFill>
              </a:rPr>
              <a:t>-</a:t>
            </a:r>
            <a:r>
              <a:rPr sz="1600" dirty="0">
                <a:solidFill>
                  <a:srgbClr val="222222"/>
                </a:solidFill>
              </a:rPr>
              <a:t>600 W/m², </a:t>
            </a:r>
            <a:r>
              <a:rPr sz="1600" dirty="0" err="1">
                <a:solidFill>
                  <a:srgbClr val="222222"/>
                </a:solidFill>
              </a:rPr>
              <a:t>zimné</a:t>
            </a:r>
            <a:r>
              <a:rPr sz="1600" dirty="0">
                <a:solidFill>
                  <a:srgbClr val="222222"/>
                </a:solidFill>
              </a:rPr>
              <a:t> min. ~50</a:t>
            </a:r>
            <a:r>
              <a:rPr lang="sk-SK" sz="1600" dirty="0">
                <a:solidFill>
                  <a:srgbClr val="222222"/>
                </a:solidFill>
              </a:rPr>
              <a:t>-</a:t>
            </a:r>
            <a:r>
              <a:rPr sz="1600" dirty="0">
                <a:solidFill>
                  <a:srgbClr val="222222"/>
                </a:solidFill>
              </a:rPr>
              <a:t>100 W/m²</a:t>
            </a:r>
          </a:p>
          <a:p>
            <a:pPr>
              <a:spcAft>
                <a:spcPts val="700"/>
              </a:spcAft>
            </a:pPr>
            <a:endParaRPr lang="sk-SK" sz="1600" b="1" dirty="0">
              <a:solidFill>
                <a:srgbClr val="1A237E"/>
              </a:solidFill>
            </a:endParaRPr>
          </a:p>
          <a:p>
            <a:pPr>
              <a:spcAft>
                <a:spcPts val="700"/>
              </a:spcAft>
            </a:pPr>
            <a:r>
              <a:rPr sz="1600" b="1" dirty="0">
                <a:solidFill>
                  <a:srgbClr val="1A237E"/>
                </a:solidFill>
              </a:rPr>
              <a:t>• </a:t>
            </a:r>
            <a:r>
              <a:rPr sz="1600" b="1" dirty="0" err="1">
                <a:solidFill>
                  <a:srgbClr val="1A237E"/>
                </a:solidFill>
              </a:rPr>
              <a:t>Najsilnejšia</a:t>
            </a:r>
            <a:r>
              <a:rPr sz="1600" b="1" dirty="0">
                <a:solidFill>
                  <a:srgbClr val="1A237E"/>
                </a:solidFill>
              </a:rPr>
              <a:t> </a:t>
            </a:r>
            <a:r>
              <a:rPr sz="1600" b="1" dirty="0" err="1">
                <a:solidFill>
                  <a:srgbClr val="1A237E"/>
                </a:solidFill>
              </a:rPr>
              <a:t>korelácia</a:t>
            </a:r>
            <a:r>
              <a:rPr sz="1600" b="1" dirty="0">
                <a:solidFill>
                  <a:srgbClr val="1A237E"/>
                </a:solidFill>
              </a:rPr>
              <a:t>:  </a:t>
            </a:r>
            <a:r>
              <a:rPr sz="1600" dirty="0" err="1">
                <a:solidFill>
                  <a:srgbClr val="222222"/>
                </a:solidFill>
              </a:rPr>
              <a:t>FanSpeed↔Pressure</a:t>
            </a:r>
            <a:r>
              <a:rPr sz="1600" dirty="0">
                <a:solidFill>
                  <a:srgbClr val="222222"/>
                </a:solidFill>
              </a:rPr>
              <a:t>  r = −0.998  (nep</a:t>
            </a:r>
            <a:r>
              <a:rPr lang="sk-SK" sz="1600" dirty="0" err="1">
                <a:solidFill>
                  <a:srgbClr val="222222"/>
                </a:solidFill>
              </a:rPr>
              <a:t>ria</a:t>
            </a:r>
            <a:r>
              <a:rPr sz="1600" dirty="0">
                <a:solidFill>
                  <a:srgbClr val="222222"/>
                </a:solidFill>
              </a:rPr>
              <a:t>my </a:t>
            </a:r>
            <a:r>
              <a:rPr sz="1600" dirty="0" err="1">
                <a:solidFill>
                  <a:srgbClr val="222222"/>
                </a:solidFill>
              </a:rPr>
              <a:t>sezónny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efekt</a:t>
            </a:r>
            <a:r>
              <a:rPr sz="1600" dirty="0">
                <a:solidFill>
                  <a:srgbClr val="222222"/>
                </a:solidFill>
              </a:rPr>
              <a:t>)</a:t>
            </a:r>
          </a:p>
          <a:p>
            <a:pPr>
              <a:spcAft>
                <a:spcPts val="700"/>
              </a:spcAft>
            </a:pPr>
            <a:endParaRPr lang="sk-SK" sz="1600" b="1" dirty="0">
              <a:solidFill>
                <a:srgbClr val="1A237E"/>
              </a:solidFill>
            </a:endParaRPr>
          </a:p>
          <a:p>
            <a:pPr>
              <a:spcAft>
                <a:spcPts val="700"/>
              </a:spcAft>
            </a:pPr>
            <a:r>
              <a:rPr sz="1600" b="1" dirty="0">
                <a:solidFill>
                  <a:srgbClr val="1A237E"/>
                </a:solidFill>
              </a:rPr>
              <a:t>• </a:t>
            </a:r>
            <a:r>
              <a:rPr sz="1600" b="1" dirty="0" err="1">
                <a:solidFill>
                  <a:srgbClr val="1A237E"/>
                </a:solidFill>
              </a:rPr>
              <a:t>Teplotné</a:t>
            </a:r>
            <a:r>
              <a:rPr sz="1600" b="1" dirty="0">
                <a:solidFill>
                  <a:srgbClr val="1A237E"/>
                </a:solidFill>
              </a:rPr>
              <a:t> </a:t>
            </a:r>
            <a:r>
              <a:rPr sz="1600" b="1" dirty="0" err="1">
                <a:solidFill>
                  <a:srgbClr val="1A237E"/>
                </a:solidFill>
              </a:rPr>
              <a:t>snímače</a:t>
            </a:r>
            <a:r>
              <a:rPr sz="1600" b="1" dirty="0">
                <a:solidFill>
                  <a:srgbClr val="1A237E"/>
                </a:solidFill>
              </a:rPr>
              <a:t>:  </a:t>
            </a:r>
            <a:r>
              <a:rPr sz="1600" dirty="0">
                <a:solidFill>
                  <a:srgbClr val="222222"/>
                </a:solidFill>
              </a:rPr>
              <a:t>r ≈ +0.999 — </a:t>
            </a:r>
            <a:r>
              <a:rPr sz="1600" dirty="0" err="1">
                <a:solidFill>
                  <a:srgbClr val="222222"/>
                </a:solidFill>
              </a:rPr>
              <a:t>potvrdená</a:t>
            </a:r>
            <a:r>
              <a:rPr sz="1600" dirty="0">
                <a:solidFill>
                  <a:srgbClr val="222222"/>
                </a:solidFill>
              </a:rPr>
              <a:t> </a:t>
            </a:r>
            <a:r>
              <a:rPr sz="1600" dirty="0" err="1">
                <a:solidFill>
                  <a:srgbClr val="222222"/>
                </a:solidFill>
              </a:rPr>
              <a:t>kalib</a:t>
            </a:r>
            <a:r>
              <a:rPr lang="sk-SK" sz="1600" dirty="0">
                <a:solidFill>
                  <a:srgbClr val="222222"/>
                </a:solidFill>
              </a:rPr>
              <a:t>r</a:t>
            </a:r>
            <a:r>
              <a:rPr sz="1600" dirty="0" err="1">
                <a:solidFill>
                  <a:srgbClr val="222222"/>
                </a:solidFill>
              </a:rPr>
              <a:t>ácia</a:t>
            </a:r>
            <a:endParaRPr sz="1600" dirty="0">
              <a:solidFill>
                <a:srgbClr val="22222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0040" y="5322060"/>
            <a:ext cx="11551615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19" y="5685587"/>
            <a:ext cx="11185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k-SK" sz="2800" b="1" i="0" dirty="0">
                <a:solidFill>
                  <a:srgbClr val="FFFFFF"/>
                </a:solidFill>
              </a:rPr>
              <a:t>ĎAKUJEME</a:t>
            </a:r>
            <a:r>
              <a:rPr lang="sk-SK" sz="2400" b="1" i="0" dirty="0">
                <a:solidFill>
                  <a:srgbClr val="FFFFFF"/>
                </a:solidFill>
              </a:rPr>
              <a:t> </a:t>
            </a:r>
            <a:r>
              <a:rPr lang="sk-SK" sz="2800" b="1" i="0" dirty="0">
                <a:solidFill>
                  <a:srgbClr val="FFFFFF"/>
                </a:solidFill>
              </a:rPr>
              <a:t>ZA</a:t>
            </a:r>
            <a:r>
              <a:rPr lang="sk-SK" sz="2400" b="1" i="0" dirty="0">
                <a:solidFill>
                  <a:srgbClr val="FFFFFF"/>
                </a:solidFill>
              </a:rPr>
              <a:t> </a:t>
            </a:r>
            <a:r>
              <a:rPr lang="sk-SK" sz="2800" b="1" i="0" dirty="0">
                <a:solidFill>
                  <a:srgbClr val="FFFFFF"/>
                </a:solidFill>
              </a:rPr>
              <a:t>POZORNOSŤ</a:t>
            </a:r>
            <a:endParaRPr lang="sk-SK" sz="2400" b="1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</TotalTime>
  <Words>1089</Words>
  <Application>Microsoft Office PowerPoint</Application>
  <PresentationFormat>Širokouhlá</PresentationFormat>
  <Paragraphs>215</Paragraphs>
  <Slides>12</Slides>
  <Notes>12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Motív Office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Matej Režnák</dc:creator>
  <cp:lastModifiedBy>Tomáš Varmuža</cp:lastModifiedBy>
  <cp:revision>18</cp:revision>
  <dcterms:created xsi:type="dcterms:W3CDTF">2025-04-28T17:19:28Z</dcterms:created>
  <dcterms:modified xsi:type="dcterms:W3CDTF">2026-05-10T21:00:54Z</dcterms:modified>
</cp:coreProperties>
</file>