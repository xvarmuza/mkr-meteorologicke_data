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sk-S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9118"/>
    <p:restoredTop sz="76719"/>
  </p:normalViewPr>
  <p:slideViewPr>
    <p:cSldViewPr snapToGrid="0">
      <p:cViewPr varScale="1">
        <p:scale>
          <a:sx n="93" d="100"/>
          <a:sy n="93" d="100"/>
        </p:scale>
        <p:origin x="869"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Zástupný objekt pre hlavičku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sk-SK"/>
          </a:p>
        </p:txBody>
      </p:sp>
      <p:sp>
        <p:nvSpPr>
          <p:cNvPr id="3" name="Zástupný objekt pre dá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5CBF400-B80D-7D46-A17B-C89D18A2AF3A}" type="datetimeFigureOut">
              <a:rPr lang="sk-SK" smtClean="0"/>
              <a:t>10. 5. 2026</a:t>
            </a:fld>
            <a:endParaRPr lang="sk-SK"/>
          </a:p>
        </p:txBody>
      </p:sp>
      <p:sp>
        <p:nvSpPr>
          <p:cNvPr id="4" name="Zástupný objekt pre obrázok snímky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sk-SK"/>
          </a:p>
        </p:txBody>
      </p:sp>
      <p:sp>
        <p:nvSpPr>
          <p:cNvPr id="5" name="Zástupný objekt pre poznámky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sk-SK"/>
              <a:t>Kliknite sem a upravte štýly predlohy textu</a:t>
            </a:r>
          </a:p>
          <a:p>
            <a:pPr lvl="1"/>
            <a:r>
              <a:rPr lang="sk-SK"/>
              <a:t>Druhá úroveň</a:t>
            </a:r>
          </a:p>
          <a:p>
            <a:pPr lvl="2"/>
            <a:r>
              <a:rPr lang="sk-SK"/>
              <a:t>Tretia úroveň</a:t>
            </a:r>
          </a:p>
          <a:p>
            <a:pPr lvl="3"/>
            <a:r>
              <a:rPr lang="sk-SK"/>
              <a:t>Štvrtá úroveň</a:t>
            </a:r>
          </a:p>
          <a:p>
            <a:pPr lvl="4"/>
            <a:r>
              <a:rPr lang="sk-SK"/>
              <a:t>Piata úroveň</a:t>
            </a:r>
          </a:p>
        </p:txBody>
      </p:sp>
      <p:sp>
        <p:nvSpPr>
          <p:cNvPr id="6" name="Zástupný objekt pre pätu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sk-SK"/>
          </a:p>
        </p:txBody>
      </p:sp>
      <p:sp>
        <p:nvSpPr>
          <p:cNvPr id="7" name="Zástupný objekt pre číslo snímky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02878B2-BA50-8E49-9A78-C01B05709F52}" type="slidenum">
              <a:rPr lang="sk-SK" smtClean="0"/>
              <a:t>‹#›</a:t>
            </a:fld>
            <a:endParaRPr lang="sk-SK"/>
          </a:p>
        </p:txBody>
      </p:sp>
    </p:spTree>
    <p:extLst>
      <p:ext uri="{BB962C8B-B14F-4D97-AF65-F5344CB8AC3E}">
        <p14:creationId xmlns:p14="http://schemas.microsoft.com/office/powerpoint/2010/main" val="15987706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objekt pre obrázok snímky 1"/>
          <p:cNvSpPr>
            <a:spLocks noGrp="1" noRot="1" noChangeAspect="1"/>
          </p:cNvSpPr>
          <p:nvPr>
            <p:ph type="sldImg"/>
          </p:nvPr>
        </p:nvSpPr>
        <p:spPr/>
      </p:sp>
      <p:sp>
        <p:nvSpPr>
          <p:cNvPr id="3" name="Zástupný objekt pre poznámky 2"/>
          <p:cNvSpPr>
            <a:spLocks noGrp="1"/>
          </p:cNvSpPr>
          <p:nvPr>
            <p:ph type="body" idx="1"/>
          </p:nvPr>
        </p:nvSpPr>
        <p:spPr/>
        <p:txBody>
          <a:bodyPr/>
          <a:lstStyle/>
          <a:p>
            <a:r>
              <a:rPr lang="sk-SK" sz="1200" b="0" i="0" kern="1200" dirty="0">
                <a:solidFill>
                  <a:schemeClr val="tx1"/>
                </a:solidFill>
                <a:effectLst/>
                <a:latin typeface="+mn-lt"/>
                <a:ea typeface="+mn-ea"/>
                <a:cs typeface="+mn-cs"/>
              </a:rPr>
              <a:t>Dobrý deň. Dnes vám prezentujeme semestrálny projekt z predmetu MKR — základnú štatistickú analýzu meteorologických dát. Vstupná dátová </a:t>
            </a:r>
            <a:r>
              <a:rPr lang="sk-SK" sz="1200" b="0" i="0" kern="1200" dirty="0" err="1">
                <a:solidFill>
                  <a:schemeClr val="tx1"/>
                </a:solidFill>
                <a:effectLst/>
                <a:latin typeface="+mn-lt"/>
                <a:ea typeface="+mn-ea"/>
                <a:cs typeface="+mn-cs"/>
              </a:rPr>
              <a:t>sada</a:t>
            </a:r>
            <a:r>
              <a:rPr lang="sk-SK" sz="1200" b="0" i="0" kern="1200" dirty="0">
                <a:solidFill>
                  <a:schemeClr val="tx1"/>
                </a:solidFill>
                <a:effectLst/>
                <a:latin typeface="+mn-lt"/>
                <a:ea typeface="+mn-ea"/>
                <a:cs typeface="+mn-cs"/>
              </a:rPr>
              <a:t> obsahuje 25 600 vzoriek so 18 parametrami z meteorologickej stanice.</a:t>
            </a:r>
            <a:endParaRPr lang="sk-SK" dirty="0"/>
          </a:p>
        </p:txBody>
      </p:sp>
      <p:sp>
        <p:nvSpPr>
          <p:cNvPr id="4" name="Zástupný objekt pre číslo snímky 3"/>
          <p:cNvSpPr>
            <a:spLocks noGrp="1"/>
          </p:cNvSpPr>
          <p:nvPr>
            <p:ph type="sldNum" sz="quarter" idx="5"/>
          </p:nvPr>
        </p:nvSpPr>
        <p:spPr/>
        <p:txBody>
          <a:bodyPr/>
          <a:lstStyle/>
          <a:p>
            <a:fld id="{F02878B2-BA50-8E49-9A78-C01B05709F52}" type="slidenum">
              <a:rPr lang="sk-SK" smtClean="0"/>
              <a:t>1</a:t>
            </a:fld>
            <a:endParaRPr lang="sk-SK"/>
          </a:p>
        </p:txBody>
      </p:sp>
    </p:spTree>
    <p:extLst>
      <p:ext uri="{BB962C8B-B14F-4D97-AF65-F5344CB8AC3E}">
        <p14:creationId xmlns:p14="http://schemas.microsoft.com/office/powerpoint/2010/main" val="39146821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objekt pre obrázok snímky 1"/>
          <p:cNvSpPr>
            <a:spLocks noGrp="1" noRot="1" noChangeAspect="1"/>
          </p:cNvSpPr>
          <p:nvPr>
            <p:ph type="sldImg"/>
          </p:nvPr>
        </p:nvSpPr>
        <p:spPr/>
      </p:sp>
      <p:sp>
        <p:nvSpPr>
          <p:cNvPr id="3" name="Zástupný objekt pre poznámky 2"/>
          <p:cNvSpPr>
            <a:spLocks noGrp="1"/>
          </p:cNvSpPr>
          <p:nvPr>
            <p:ph type="body" idx="1"/>
          </p:nvPr>
        </p:nvSpPr>
        <p:spPr/>
        <p:txBody>
          <a:bodyPr/>
          <a:lstStyle/>
          <a:p>
            <a:r>
              <a:rPr lang="sk-SK" sz="1200" b="0" i="0" kern="1200" dirty="0">
                <a:solidFill>
                  <a:schemeClr val="tx1"/>
                </a:solidFill>
                <a:effectLst/>
                <a:latin typeface="+mn-lt"/>
                <a:ea typeface="+mn-ea"/>
                <a:cs typeface="+mn-cs"/>
              </a:rPr>
              <a:t>Zadanie nám definovalo päť hlavných úloh. Po prvé — charakterizovať </a:t>
            </a:r>
            <a:r>
              <a:rPr lang="sk-SK" sz="1200" b="0" i="0" kern="1200" dirty="0" err="1">
                <a:solidFill>
                  <a:schemeClr val="tx1"/>
                </a:solidFill>
                <a:effectLst/>
                <a:latin typeface="+mn-lt"/>
                <a:ea typeface="+mn-ea"/>
                <a:cs typeface="+mn-cs"/>
              </a:rPr>
              <a:t>dataset</a:t>
            </a:r>
            <a:r>
              <a:rPr lang="sk-SK" sz="1200" b="0" i="0" kern="1200" dirty="0">
                <a:solidFill>
                  <a:schemeClr val="tx1"/>
                </a:solidFill>
                <a:effectLst/>
                <a:latin typeface="+mn-lt"/>
                <a:ea typeface="+mn-ea"/>
                <a:cs typeface="+mn-cs"/>
              </a:rPr>
              <a:t> štatisticky. Po druhé — nájsť diery v dátach. Po tretie — vyfiltrovať fyzikálne nereálne hodnoty. Po štvrté — vizualizovať žiarenie v čase. A po piate — kvantifikovať vzájomné závislosti parametrov cez </a:t>
            </a:r>
            <a:r>
              <a:rPr lang="sk-SK" sz="1200" b="0" i="0" kern="1200" dirty="0" err="1">
                <a:solidFill>
                  <a:schemeClr val="tx1"/>
                </a:solidFill>
                <a:effectLst/>
                <a:latin typeface="+mn-lt"/>
                <a:ea typeface="+mn-ea"/>
                <a:cs typeface="+mn-cs"/>
              </a:rPr>
              <a:t>Pearsonovu</a:t>
            </a:r>
            <a:r>
              <a:rPr lang="sk-SK" sz="1200" b="0" i="0" kern="1200" dirty="0">
                <a:solidFill>
                  <a:schemeClr val="tx1"/>
                </a:solidFill>
                <a:effectLst/>
                <a:latin typeface="+mn-lt"/>
                <a:ea typeface="+mn-ea"/>
                <a:cs typeface="+mn-cs"/>
              </a:rPr>
              <a:t> koreláciu. Vstup je surový CSV súbor, výstupom je </a:t>
            </a:r>
            <a:r>
              <a:rPr lang="sk-SK" sz="1200" b="0" i="0" kern="1200" dirty="0" err="1">
                <a:solidFill>
                  <a:schemeClr val="tx1"/>
                </a:solidFill>
                <a:effectLst/>
                <a:latin typeface="+mn-lt"/>
                <a:ea typeface="+mn-ea"/>
                <a:cs typeface="+mn-cs"/>
              </a:rPr>
              <a:t>sada</a:t>
            </a:r>
            <a:r>
              <a:rPr lang="sk-SK" sz="1200" b="0" i="0" kern="1200" dirty="0">
                <a:solidFill>
                  <a:schemeClr val="tx1"/>
                </a:solidFill>
                <a:effectLst/>
                <a:latin typeface="+mn-lt"/>
                <a:ea typeface="+mn-ea"/>
                <a:cs typeface="+mn-cs"/>
              </a:rPr>
              <a:t> grafov a prenosný HTML report.</a:t>
            </a:r>
            <a:endParaRPr lang="sk-SK" dirty="0"/>
          </a:p>
        </p:txBody>
      </p:sp>
      <p:sp>
        <p:nvSpPr>
          <p:cNvPr id="4" name="Zástupný objekt pre číslo snímky 3"/>
          <p:cNvSpPr>
            <a:spLocks noGrp="1"/>
          </p:cNvSpPr>
          <p:nvPr>
            <p:ph type="sldNum" sz="quarter" idx="5"/>
          </p:nvPr>
        </p:nvSpPr>
        <p:spPr/>
        <p:txBody>
          <a:bodyPr/>
          <a:lstStyle/>
          <a:p>
            <a:fld id="{F02878B2-BA50-8E49-9A78-C01B05709F52}" type="slidenum">
              <a:rPr lang="sk-SK" smtClean="0"/>
              <a:t>2</a:t>
            </a:fld>
            <a:endParaRPr lang="sk-SK"/>
          </a:p>
        </p:txBody>
      </p:sp>
    </p:spTree>
    <p:extLst>
      <p:ext uri="{BB962C8B-B14F-4D97-AF65-F5344CB8AC3E}">
        <p14:creationId xmlns:p14="http://schemas.microsoft.com/office/powerpoint/2010/main" val="3332414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objekt pre obrázok snímky 1"/>
          <p:cNvSpPr>
            <a:spLocks noGrp="1" noRot="1" noChangeAspect="1"/>
          </p:cNvSpPr>
          <p:nvPr>
            <p:ph type="sldImg"/>
          </p:nvPr>
        </p:nvSpPr>
        <p:spPr/>
      </p:sp>
      <p:sp>
        <p:nvSpPr>
          <p:cNvPr id="3" name="Zástupný objekt pre poznámky 2"/>
          <p:cNvSpPr>
            <a:spLocks noGrp="1"/>
          </p:cNvSpPr>
          <p:nvPr>
            <p:ph type="body" idx="1"/>
          </p:nvPr>
        </p:nvSpPr>
        <p:spPr/>
        <p:txBody>
          <a:bodyPr/>
          <a:lstStyle/>
          <a:p>
            <a:r>
              <a:rPr lang="sk-SK" sz="1200" b="0" i="0" kern="1200" dirty="0">
                <a:solidFill>
                  <a:schemeClr val="tx1"/>
                </a:solidFill>
                <a:effectLst/>
                <a:latin typeface="+mn-lt"/>
                <a:ea typeface="+mn-ea"/>
                <a:cs typeface="+mn-cs"/>
              </a:rPr>
              <a:t>Dáta pochádzajú z meteorologickej stanice v </a:t>
            </a:r>
            <a:r>
              <a:rPr lang="sk-SK" sz="1200" b="0" i="0" kern="1200" dirty="0" err="1">
                <a:solidFill>
                  <a:schemeClr val="tx1"/>
                </a:solidFill>
                <a:effectLst/>
                <a:latin typeface="+mn-lt"/>
                <a:ea typeface="+mn-ea"/>
                <a:cs typeface="+mn-cs"/>
              </a:rPr>
              <a:t>Alpnach</a:t>
            </a:r>
            <a:r>
              <a:rPr lang="sk-SK" sz="1200" b="0" i="0" kern="1200" dirty="0">
                <a:solidFill>
                  <a:schemeClr val="tx1"/>
                </a:solidFill>
                <a:effectLst/>
                <a:latin typeface="+mn-lt"/>
                <a:ea typeface="+mn-ea"/>
                <a:cs typeface="+mn-cs"/>
              </a:rPr>
              <a:t> vo Švajčiarsku, kde je nainštalovaný </a:t>
            </a:r>
            <a:r>
              <a:rPr lang="sk-SK" sz="1200" b="0" i="0" kern="1200" dirty="0" err="1">
                <a:solidFill>
                  <a:schemeClr val="tx1"/>
                </a:solidFill>
                <a:effectLst/>
                <a:latin typeface="+mn-lt"/>
                <a:ea typeface="+mn-ea"/>
                <a:cs typeface="+mn-cs"/>
              </a:rPr>
              <a:t>pyranometer</a:t>
            </a:r>
            <a:r>
              <a:rPr lang="sk-SK" sz="1200" b="0" i="0" kern="1200" dirty="0">
                <a:solidFill>
                  <a:schemeClr val="tx1"/>
                </a:solidFill>
                <a:effectLst/>
                <a:latin typeface="+mn-lt"/>
                <a:ea typeface="+mn-ea"/>
                <a:cs typeface="+mn-cs"/>
              </a:rPr>
              <a:t> </a:t>
            </a:r>
            <a:r>
              <a:rPr lang="sk-SK" sz="1200" b="0" i="0" kern="1200" dirty="0" err="1">
                <a:solidFill>
                  <a:schemeClr val="tx1"/>
                </a:solidFill>
                <a:effectLst/>
                <a:latin typeface="+mn-lt"/>
                <a:ea typeface="+mn-ea"/>
                <a:cs typeface="+mn-cs"/>
              </a:rPr>
              <a:t>Kipp</a:t>
            </a:r>
            <a:r>
              <a:rPr lang="sk-SK" sz="1200" b="0" i="0" kern="1200" dirty="0">
                <a:solidFill>
                  <a:schemeClr val="tx1"/>
                </a:solidFill>
                <a:effectLst/>
                <a:latin typeface="+mn-lt"/>
                <a:ea typeface="+mn-ea"/>
                <a:cs typeface="+mn-cs"/>
              </a:rPr>
              <a:t> &amp; </a:t>
            </a:r>
            <a:r>
              <a:rPr lang="sk-SK" sz="1200" b="0" i="0" kern="1200" dirty="0" err="1">
                <a:solidFill>
                  <a:schemeClr val="tx1"/>
                </a:solidFill>
                <a:effectLst/>
                <a:latin typeface="+mn-lt"/>
                <a:ea typeface="+mn-ea"/>
                <a:cs typeface="+mn-cs"/>
              </a:rPr>
              <a:t>Zonen</a:t>
            </a:r>
            <a:r>
              <a:rPr lang="sk-SK" sz="1200" b="0" i="0" kern="1200" dirty="0">
                <a:solidFill>
                  <a:schemeClr val="tx1"/>
                </a:solidFill>
                <a:effectLst/>
                <a:latin typeface="+mn-lt"/>
                <a:ea typeface="+mn-ea"/>
                <a:cs typeface="+mn-cs"/>
              </a:rPr>
              <a:t> SMP10 — profesionálny prístroj na meranie globálneho slnečného žiarenia. Každá vzorka obsahuje 18 hodnôt: žiarenie, tri nezávislé teploty, tlak, vlhkosť, mechanické parametre ventilátora a krytu a astronomickú polohu slnka. Stĺpce </a:t>
            </a:r>
            <a:r>
              <a:rPr lang="sk-SK" sz="1200" b="0" i="0" kern="1200" dirty="0" err="1">
                <a:solidFill>
                  <a:schemeClr val="tx1"/>
                </a:solidFill>
                <a:effectLst/>
                <a:latin typeface="+mn-lt"/>
                <a:ea typeface="+mn-ea"/>
                <a:cs typeface="+mn-cs"/>
              </a:rPr>
              <a:t>SunLatitude</a:t>
            </a:r>
            <a:r>
              <a:rPr lang="sk-SK" sz="1200" b="0" i="0" kern="1200" dirty="0">
                <a:solidFill>
                  <a:schemeClr val="tx1"/>
                </a:solidFill>
                <a:effectLst/>
                <a:latin typeface="+mn-lt"/>
                <a:ea typeface="+mn-ea"/>
                <a:cs typeface="+mn-cs"/>
              </a:rPr>
              <a:t> a </a:t>
            </a:r>
            <a:r>
              <a:rPr lang="sk-SK" sz="1200" b="0" i="0" kern="1200" dirty="0" err="1">
                <a:solidFill>
                  <a:schemeClr val="tx1"/>
                </a:solidFill>
                <a:effectLst/>
                <a:latin typeface="+mn-lt"/>
                <a:ea typeface="+mn-ea"/>
                <a:cs typeface="+mn-cs"/>
              </a:rPr>
              <a:t>SunLongitude</a:t>
            </a:r>
            <a:r>
              <a:rPr lang="sk-SK" sz="1200" b="0" i="0" kern="1200" dirty="0">
                <a:solidFill>
                  <a:schemeClr val="tx1"/>
                </a:solidFill>
                <a:effectLst/>
                <a:latin typeface="+mn-lt"/>
                <a:ea typeface="+mn-ea"/>
                <a:cs typeface="+mn-cs"/>
              </a:rPr>
              <a:t> sú konštanty — stanica stojí stále na jednom mieste — preto ich z korelačnej analýzy vylučujeme</a:t>
            </a:r>
            <a:endParaRPr lang="sk-SK" dirty="0"/>
          </a:p>
        </p:txBody>
      </p:sp>
      <p:sp>
        <p:nvSpPr>
          <p:cNvPr id="4" name="Zástupný objekt pre číslo snímky 3"/>
          <p:cNvSpPr>
            <a:spLocks noGrp="1"/>
          </p:cNvSpPr>
          <p:nvPr>
            <p:ph type="sldNum" sz="quarter" idx="5"/>
          </p:nvPr>
        </p:nvSpPr>
        <p:spPr/>
        <p:txBody>
          <a:bodyPr/>
          <a:lstStyle/>
          <a:p>
            <a:fld id="{F02878B2-BA50-8E49-9A78-C01B05709F52}" type="slidenum">
              <a:rPr lang="sk-SK" smtClean="0"/>
              <a:t>3</a:t>
            </a:fld>
            <a:endParaRPr lang="sk-SK"/>
          </a:p>
        </p:txBody>
      </p:sp>
    </p:spTree>
    <p:extLst>
      <p:ext uri="{BB962C8B-B14F-4D97-AF65-F5344CB8AC3E}">
        <p14:creationId xmlns:p14="http://schemas.microsoft.com/office/powerpoint/2010/main" val="41687720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objekt pre obrázok snímky 1"/>
          <p:cNvSpPr>
            <a:spLocks noGrp="1" noRot="1" noChangeAspect="1"/>
          </p:cNvSpPr>
          <p:nvPr>
            <p:ph type="sldImg"/>
          </p:nvPr>
        </p:nvSpPr>
        <p:spPr/>
      </p:sp>
      <p:sp>
        <p:nvSpPr>
          <p:cNvPr id="3" name="Zástupný objekt pre poznámky 2"/>
          <p:cNvSpPr>
            <a:spLocks noGrp="1"/>
          </p:cNvSpPr>
          <p:nvPr>
            <p:ph type="body" idx="1"/>
          </p:nvPr>
        </p:nvSpPr>
        <p:spPr/>
        <p:txBody>
          <a:bodyPr/>
          <a:lstStyle/>
          <a:p>
            <a:r>
              <a:rPr lang="sk-SK" sz="1200" b="0" i="0" kern="1200" dirty="0">
                <a:solidFill>
                  <a:schemeClr val="tx1"/>
                </a:solidFill>
                <a:effectLst/>
                <a:latin typeface="+mn-lt"/>
                <a:ea typeface="+mn-ea"/>
                <a:cs typeface="+mn-cs"/>
              </a:rPr>
              <a:t>Riešenie sme rozdelili do šiestich samostatných modulov — každý modul má jednu zodpovednosť. Hlavný súbor main.py ich len volá v správnom poradí. Takto je kód prehľadný a testovateľný. Výhodou je aj to, že keď chceme analyzovať čisté dáta namiesto surových, stačí zmeniť jeden riadok v main.py — cestu k vstupnému CSV.</a:t>
            </a:r>
            <a:endParaRPr lang="sk-SK" dirty="0"/>
          </a:p>
        </p:txBody>
      </p:sp>
      <p:sp>
        <p:nvSpPr>
          <p:cNvPr id="4" name="Zástupný objekt pre číslo snímky 3"/>
          <p:cNvSpPr>
            <a:spLocks noGrp="1"/>
          </p:cNvSpPr>
          <p:nvPr>
            <p:ph type="sldNum" sz="quarter" idx="5"/>
          </p:nvPr>
        </p:nvSpPr>
        <p:spPr/>
        <p:txBody>
          <a:bodyPr/>
          <a:lstStyle/>
          <a:p>
            <a:fld id="{F02878B2-BA50-8E49-9A78-C01B05709F52}" type="slidenum">
              <a:rPr lang="sk-SK" smtClean="0"/>
              <a:t>4</a:t>
            </a:fld>
            <a:endParaRPr lang="sk-SK"/>
          </a:p>
        </p:txBody>
      </p:sp>
    </p:spTree>
    <p:extLst>
      <p:ext uri="{BB962C8B-B14F-4D97-AF65-F5344CB8AC3E}">
        <p14:creationId xmlns:p14="http://schemas.microsoft.com/office/powerpoint/2010/main" val="358778110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objekt pre obrázok snímky 1"/>
          <p:cNvSpPr>
            <a:spLocks noGrp="1" noRot="1" noChangeAspect="1"/>
          </p:cNvSpPr>
          <p:nvPr>
            <p:ph type="sldImg"/>
          </p:nvPr>
        </p:nvSpPr>
        <p:spPr/>
      </p:sp>
      <p:sp>
        <p:nvSpPr>
          <p:cNvPr id="3" name="Zástupný objekt pre poznámky 2"/>
          <p:cNvSpPr>
            <a:spLocks noGrp="1"/>
          </p:cNvSpPr>
          <p:nvPr>
            <p:ph type="body" idx="1"/>
          </p:nvPr>
        </p:nvSpPr>
        <p:spPr/>
        <p:txBody>
          <a:bodyPr/>
          <a:lstStyle/>
          <a:p>
            <a:r>
              <a:rPr lang="sk-SK" sz="1200" b="0" i="0" kern="1200" dirty="0">
                <a:solidFill>
                  <a:schemeClr val="tx1"/>
                </a:solidFill>
                <a:effectLst/>
                <a:latin typeface="+mn-lt"/>
                <a:ea typeface="+mn-ea"/>
                <a:cs typeface="+mn-cs"/>
              </a:rPr>
              <a:t>Na analýzu sme použili štandardný </a:t>
            </a:r>
            <a:r>
              <a:rPr lang="sk-SK" sz="1200" b="0" i="0" kern="1200" dirty="0" err="1">
                <a:solidFill>
                  <a:schemeClr val="tx1"/>
                </a:solidFill>
                <a:effectLst/>
                <a:latin typeface="+mn-lt"/>
                <a:ea typeface="+mn-ea"/>
                <a:cs typeface="+mn-cs"/>
              </a:rPr>
              <a:t>Python</a:t>
            </a:r>
            <a:r>
              <a:rPr lang="sk-SK" sz="1200" b="0" i="0" kern="1200" dirty="0">
                <a:solidFill>
                  <a:schemeClr val="tx1"/>
                </a:solidFill>
                <a:effectLst/>
                <a:latin typeface="+mn-lt"/>
                <a:ea typeface="+mn-ea"/>
                <a:cs typeface="+mn-cs"/>
              </a:rPr>
              <a:t> </a:t>
            </a:r>
            <a:r>
              <a:rPr lang="sk-SK" sz="1200" b="0" i="0" kern="1200" dirty="0" err="1">
                <a:solidFill>
                  <a:schemeClr val="tx1"/>
                </a:solidFill>
                <a:effectLst/>
                <a:latin typeface="+mn-lt"/>
                <a:ea typeface="+mn-ea"/>
                <a:cs typeface="+mn-cs"/>
              </a:rPr>
              <a:t>data-science</a:t>
            </a:r>
            <a:r>
              <a:rPr lang="sk-SK" sz="1200" b="0" i="0" kern="1200" dirty="0">
                <a:solidFill>
                  <a:schemeClr val="tx1"/>
                </a:solidFill>
                <a:effectLst/>
                <a:latin typeface="+mn-lt"/>
                <a:ea typeface="+mn-ea"/>
                <a:cs typeface="+mn-cs"/>
              </a:rPr>
              <a:t> </a:t>
            </a:r>
            <a:r>
              <a:rPr lang="sk-SK" sz="1200" b="0" i="0" kern="1200" dirty="0" err="1">
                <a:solidFill>
                  <a:schemeClr val="tx1"/>
                </a:solidFill>
                <a:effectLst/>
                <a:latin typeface="+mn-lt"/>
                <a:ea typeface="+mn-ea"/>
                <a:cs typeface="+mn-cs"/>
              </a:rPr>
              <a:t>stack</a:t>
            </a:r>
            <a:r>
              <a:rPr lang="sk-SK" sz="1200" b="0" i="0" kern="1200" dirty="0">
                <a:solidFill>
                  <a:schemeClr val="tx1"/>
                </a:solidFill>
                <a:effectLst/>
                <a:latin typeface="+mn-lt"/>
                <a:ea typeface="+mn-ea"/>
                <a:cs typeface="+mn-cs"/>
              </a:rPr>
              <a:t>. </a:t>
            </a:r>
            <a:r>
              <a:rPr lang="sk-SK" sz="1200" b="0" i="0" kern="1200" dirty="0" err="1">
                <a:solidFill>
                  <a:schemeClr val="tx1"/>
                </a:solidFill>
                <a:effectLst/>
                <a:latin typeface="+mn-lt"/>
                <a:ea typeface="+mn-ea"/>
                <a:cs typeface="+mn-cs"/>
              </a:rPr>
              <a:t>PyTorch</a:t>
            </a:r>
            <a:r>
              <a:rPr lang="sk-SK" sz="1200" b="0" i="0" kern="1200" dirty="0">
                <a:solidFill>
                  <a:schemeClr val="tx1"/>
                </a:solidFill>
                <a:effectLst/>
                <a:latin typeface="+mn-lt"/>
                <a:ea typeface="+mn-ea"/>
                <a:cs typeface="+mn-cs"/>
              </a:rPr>
              <a:t> sme pridali na </a:t>
            </a:r>
            <a:r>
              <a:rPr lang="sk-SK" sz="1200" b="1" i="0" kern="1200" dirty="0">
                <a:solidFill>
                  <a:schemeClr val="tx1"/>
                </a:solidFill>
                <a:effectLst/>
                <a:latin typeface="+mn-lt"/>
                <a:ea typeface="+mn-ea"/>
                <a:cs typeface="+mn-cs"/>
              </a:rPr>
              <a:t>nezávislé overenie</a:t>
            </a:r>
            <a:r>
              <a:rPr lang="sk-SK" sz="1200" b="0" i="0" kern="1200" dirty="0">
                <a:solidFill>
                  <a:schemeClr val="tx1"/>
                </a:solidFill>
                <a:effectLst/>
                <a:latin typeface="+mn-lt"/>
                <a:ea typeface="+mn-ea"/>
                <a:cs typeface="+mn-cs"/>
              </a:rPr>
              <a:t> výsledkov — tá istá hodnota vypočítaná dvoma rôznymi cestami by sa mala zhodovať. Zároveň demonštrujeme využitie knižnice na </a:t>
            </a:r>
            <a:r>
              <a:rPr lang="sk-SK" sz="1200" b="0" i="0" kern="1200" dirty="0" err="1">
                <a:solidFill>
                  <a:schemeClr val="tx1"/>
                </a:solidFill>
                <a:effectLst/>
                <a:latin typeface="+mn-lt"/>
                <a:ea typeface="+mn-ea"/>
                <a:cs typeface="+mn-cs"/>
              </a:rPr>
              <a:t>tenzorové</a:t>
            </a:r>
            <a:r>
              <a:rPr lang="sk-SK" sz="1200" b="0" i="0" kern="1200" dirty="0">
                <a:solidFill>
                  <a:schemeClr val="tx1"/>
                </a:solidFill>
                <a:effectLst/>
                <a:latin typeface="+mn-lt"/>
                <a:ea typeface="+mn-ea"/>
                <a:cs typeface="+mn-cs"/>
              </a:rPr>
              <a:t> výpočty, čo je jej primárny účel v oblasti strojového učenia. </a:t>
            </a:r>
            <a:r>
              <a:rPr lang="sk-SK" sz="1200" b="0" i="0" kern="1200" dirty="0" err="1">
                <a:solidFill>
                  <a:schemeClr val="tx1"/>
                </a:solidFill>
                <a:effectLst/>
                <a:latin typeface="+mn-lt"/>
                <a:ea typeface="+mn-ea"/>
                <a:cs typeface="+mn-cs"/>
              </a:rPr>
              <a:t>Pearsonova</a:t>
            </a:r>
            <a:r>
              <a:rPr lang="sk-SK" sz="1200" b="0" i="0" kern="1200" dirty="0">
                <a:solidFill>
                  <a:schemeClr val="tx1"/>
                </a:solidFill>
                <a:effectLst/>
                <a:latin typeface="+mn-lt"/>
                <a:ea typeface="+mn-ea"/>
                <a:cs typeface="+mn-cs"/>
              </a:rPr>
              <a:t> korelácia implementovaná ručne cez skalárny súčin odchýlok je klasický prípad.</a:t>
            </a:r>
            <a:endParaRPr lang="sk-SK" dirty="0"/>
          </a:p>
        </p:txBody>
      </p:sp>
      <p:sp>
        <p:nvSpPr>
          <p:cNvPr id="4" name="Zástupný objekt pre číslo snímky 3"/>
          <p:cNvSpPr>
            <a:spLocks noGrp="1"/>
          </p:cNvSpPr>
          <p:nvPr>
            <p:ph type="sldNum" sz="quarter" idx="5"/>
          </p:nvPr>
        </p:nvSpPr>
        <p:spPr/>
        <p:txBody>
          <a:bodyPr/>
          <a:lstStyle/>
          <a:p>
            <a:fld id="{F02878B2-BA50-8E49-9A78-C01B05709F52}" type="slidenum">
              <a:rPr lang="sk-SK" smtClean="0"/>
              <a:t>5</a:t>
            </a:fld>
            <a:endParaRPr lang="sk-SK"/>
          </a:p>
        </p:txBody>
      </p:sp>
    </p:spTree>
    <p:extLst>
      <p:ext uri="{BB962C8B-B14F-4D97-AF65-F5344CB8AC3E}">
        <p14:creationId xmlns:p14="http://schemas.microsoft.com/office/powerpoint/2010/main" val="299043958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objekt pre obrázok snímky 1"/>
          <p:cNvSpPr>
            <a:spLocks noGrp="1" noRot="1" noChangeAspect="1"/>
          </p:cNvSpPr>
          <p:nvPr>
            <p:ph type="sldImg"/>
          </p:nvPr>
        </p:nvSpPr>
        <p:spPr/>
      </p:sp>
      <p:sp>
        <p:nvSpPr>
          <p:cNvPr id="3" name="Zástupný objekt pre poznámky 2"/>
          <p:cNvSpPr>
            <a:spLocks noGrp="1"/>
          </p:cNvSpPr>
          <p:nvPr>
            <p:ph type="body" idx="1"/>
          </p:nvPr>
        </p:nvSpPr>
        <p:spPr/>
        <p:txBody>
          <a:bodyPr/>
          <a:lstStyle/>
          <a:p>
            <a:r>
              <a:rPr lang="sk-SK" sz="1200" b="0" i="0" kern="1200" dirty="0">
                <a:solidFill>
                  <a:schemeClr val="tx1"/>
                </a:solidFill>
                <a:effectLst/>
                <a:latin typeface="+mn-lt"/>
                <a:ea typeface="+mn-ea"/>
                <a:cs typeface="+mn-cs"/>
              </a:rPr>
              <a:t>Prvý krok bol skontrolovať, či v </a:t>
            </a:r>
            <a:r>
              <a:rPr lang="sk-SK" sz="1200" b="0" i="0" kern="1200" dirty="0" err="1">
                <a:solidFill>
                  <a:schemeClr val="tx1"/>
                </a:solidFill>
                <a:effectLst/>
                <a:latin typeface="+mn-lt"/>
                <a:ea typeface="+mn-ea"/>
                <a:cs typeface="+mn-cs"/>
              </a:rPr>
              <a:t>datasete</a:t>
            </a:r>
            <a:r>
              <a:rPr lang="sk-SK" sz="1200" b="0" i="0" kern="1200" dirty="0">
                <a:solidFill>
                  <a:schemeClr val="tx1"/>
                </a:solidFill>
                <a:effectLst/>
                <a:latin typeface="+mn-lt"/>
                <a:ea typeface="+mn-ea"/>
                <a:cs typeface="+mn-cs"/>
              </a:rPr>
              <a:t> chýbajú hodnoty. Výsledok je pozitívny: </a:t>
            </a:r>
            <a:r>
              <a:rPr lang="sk-SK" sz="1200" b="1" i="0" kern="1200" dirty="0">
                <a:solidFill>
                  <a:schemeClr val="tx1"/>
                </a:solidFill>
                <a:effectLst/>
                <a:latin typeface="+mn-lt"/>
                <a:ea typeface="+mn-ea"/>
                <a:cs typeface="+mn-cs"/>
              </a:rPr>
              <a:t>žiadne </a:t>
            </a:r>
            <a:r>
              <a:rPr lang="sk-SK" sz="1200" b="1" i="0" kern="1200" dirty="0" err="1">
                <a:solidFill>
                  <a:schemeClr val="tx1"/>
                </a:solidFill>
                <a:effectLst/>
                <a:latin typeface="+mn-lt"/>
                <a:ea typeface="+mn-ea"/>
                <a:cs typeface="+mn-cs"/>
              </a:rPr>
              <a:t>NaN</a:t>
            </a:r>
            <a:r>
              <a:rPr lang="sk-SK" sz="1200" b="0" i="0" kern="1200" dirty="0">
                <a:solidFill>
                  <a:schemeClr val="tx1"/>
                </a:solidFill>
                <a:effectLst/>
                <a:latin typeface="+mn-lt"/>
                <a:ea typeface="+mn-ea"/>
                <a:cs typeface="+mn-cs"/>
              </a:rPr>
              <a:t> — každý záznam je kompletný. Čo sa týka celých chýbajúcich dní, nájdeme osem: koniec marca a začiatok septembra 2018. Ide pravdepodobne o výpadok zariadenia — nie o dáta, ktoré by sme stratili pri spracovaní. Celkové pokrytie roka je 97.8 %, čo je výborné.</a:t>
            </a:r>
            <a:endParaRPr lang="sk-SK" dirty="0"/>
          </a:p>
        </p:txBody>
      </p:sp>
      <p:sp>
        <p:nvSpPr>
          <p:cNvPr id="4" name="Zástupný objekt pre číslo snímky 3"/>
          <p:cNvSpPr>
            <a:spLocks noGrp="1"/>
          </p:cNvSpPr>
          <p:nvPr>
            <p:ph type="sldNum" sz="quarter" idx="5"/>
          </p:nvPr>
        </p:nvSpPr>
        <p:spPr/>
        <p:txBody>
          <a:bodyPr/>
          <a:lstStyle/>
          <a:p>
            <a:fld id="{F02878B2-BA50-8E49-9A78-C01B05709F52}" type="slidenum">
              <a:rPr lang="sk-SK" smtClean="0"/>
              <a:t>6</a:t>
            </a:fld>
            <a:endParaRPr lang="sk-SK"/>
          </a:p>
        </p:txBody>
      </p:sp>
    </p:spTree>
    <p:extLst>
      <p:ext uri="{BB962C8B-B14F-4D97-AF65-F5344CB8AC3E}">
        <p14:creationId xmlns:p14="http://schemas.microsoft.com/office/powerpoint/2010/main" val="113923802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objekt pre obrázok snímky 1"/>
          <p:cNvSpPr>
            <a:spLocks noGrp="1" noRot="1" noChangeAspect="1"/>
          </p:cNvSpPr>
          <p:nvPr>
            <p:ph type="sldImg"/>
          </p:nvPr>
        </p:nvSpPr>
        <p:spPr/>
      </p:sp>
      <p:sp>
        <p:nvSpPr>
          <p:cNvPr id="3" name="Zástupný objekt pre poznámky 2"/>
          <p:cNvSpPr>
            <a:spLocks noGrp="1"/>
          </p:cNvSpPr>
          <p:nvPr>
            <p:ph type="body" idx="1"/>
          </p:nvPr>
        </p:nvSpPr>
        <p:spPr/>
        <p:txBody>
          <a:bodyPr/>
          <a:lstStyle/>
          <a:p>
            <a:r>
              <a:rPr lang="sk-SK" sz="1200" b="0" i="0" kern="1200" dirty="0">
                <a:solidFill>
                  <a:schemeClr val="tx1"/>
                </a:solidFill>
                <a:effectLst/>
                <a:latin typeface="+mn-lt"/>
                <a:ea typeface="+mn-ea"/>
                <a:cs typeface="+mn-cs"/>
              </a:rPr>
              <a:t>Pre detekciu chýb sme použili fyzikálne medze — každý parameter má definovaný povolený interval. Napríklad žiarenie nemôže byť záporné, tlak nemôže byť mimo historických extrémov. Vzorka je poškodená, ak aspoň jeden jej parameter leží mimo povoleného rozsahu. Nájdeme 189 poškodených vzoriek — to je menej ako tri štvrtiny percenta. Dôležité je, že väčšina — 91 % — sú izolované jednotlivé chyby. Len niekoľko skupín má dĺžku viac ako 3, čo naznačuje krátkodobé výpadky, nie systematické zlyhanie senzora.</a:t>
            </a:r>
            <a:endParaRPr lang="sk-SK" dirty="0"/>
          </a:p>
        </p:txBody>
      </p:sp>
      <p:sp>
        <p:nvSpPr>
          <p:cNvPr id="4" name="Zástupný objekt pre číslo snímky 3"/>
          <p:cNvSpPr>
            <a:spLocks noGrp="1"/>
          </p:cNvSpPr>
          <p:nvPr>
            <p:ph type="sldNum" sz="quarter" idx="5"/>
          </p:nvPr>
        </p:nvSpPr>
        <p:spPr/>
        <p:txBody>
          <a:bodyPr/>
          <a:lstStyle/>
          <a:p>
            <a:fld id="{F02878B2-BA50-8E49-9A78-C01B05709F52}" type="slidenum">
              <a:rPr lang="sk-SK" smtClean="0"/>
              <a:t>7</a:t>
            </a:fld>
            <a:endParaRPr lang="sk-SK"/>
          </a:p>
        </p:txBody>
      </p:sp>
    </p:spTree>
    <p:extLst>
      <p:ext uri="{BB962C8B-B14F-4D97-AF65-F5344CB8AC3E}">
        <p14:creationId xmlns:p14="http://schemas.microsoft.com/office/powerpoint/2010/main" val="252356211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objekt pre obrázok snímky 1"/>
          <p:cNvSpPr>
            <a:spLocks noGrp="1" noRot="1" noChangeAspect="1"/>
          </p:cNvSpPr>
          <p:nvPr>
            <p:ph type="sldImg"/>
          </p:nvPr>
        </p:nvSpPr>
        <p:spPr/>
      </p:sp>
      <p:sp>
        <p:nvSpPr>
          <p:cNvPr id="3" name="Zástupný objekt pre poznámky 2"/>
          <p:cNvSpPr>
            <a:spLocks noGrp="1"/>
          </p:cNvSpPr>
          <p:nvPr>
            <p:ph type="body" idx="1"/>
          </p:nvPr>
        </p:nvSpPr>
        <p:spPr/>
        <p:txBody>
          <a:bodyPr/>
          <a:lstStyle/>
          <a:p>
            <a:r>
              <a:rPr lang="sk-SK" sz="1200" b="0" i="0" kern="1200" dirty="0">
                <a:solidFill>
                  <a:schemeClr val="tx1"/>
                </a:solidFill>
                <a:effectLst/>
                <a:latin typeface="+mn-lt"/>
                <a:ea typeface="+mn-ea"/>
                <a:cs typeface="+mn-cs"/>
              </a:rPr>
              <a:t>Čistenie je jednoduché: aplikujeme kombináciu masky </a:t>
            </a:r>
            <a:r>
              <a:rPr lang="sk-SK" sz="1200" b="0" i="0" kern="1200" dirty="0" err="1">
                <a:solidFill>
                  <a:schemeClr val="tx1"/>
                </a:solidFill>
                <a:effectLst/>
                <a:latin typeface="+mn-lt"/>
                <a:ea typeface="+mn-ea"/>
                <a:cs typeface="+mn-cs"/>
              </a:rPr>
              <a:t>NaN</a:t>
            </a:r>
            <a:r>
              <a:rPr lang="sk-SK" sz="1200" b="0" i="0" kern="1200" dirty="0">
                <a:solidFill>
                  <a:schemeClr val="tx1"/>
                </a:solidFill>
                <a:effectLst/>
                <a:latin typeface="+mn-lt"/>
                <a:ea typeface="+mn-ea"/>
                <a:cs typeface="+mn-cs"/>
              </a:rPr>
              <a:t> a masky fyzikálne poškodených hodnôt, a odfiltrujeme riadky kde platí aspoň jedna podmienka. Výsledok: z 25 600 vzoriek zostane 25 411 čistých. Strata len 0.74 % je zanedbateľná — </a:t>
            </a:r>
            <a:r>
              <a:rPr lang="sk-SK" sz="1200" b="0" i="0" kern="1200" dirty="0" err="1">
                <a:solidFill>
                  <a:schemeClr val="tx1"/>
                </a:solidFill>
                <a:effectLst/>
                <a:latin typeface="+mn-lt"/>
                <a:ea typeface="+mn-ea"/>
                <a:cs typeface="+mn-cs"/>
              </a:rPr>
              <a:t>dataset</a:t>
            </a:r>
            <a:r>
              <a:rPr lang="sk-SK" sz="1200" b="0" i="0" kern="1200" dirty="0">
                <a:solidFill>
                  <a:schemeClr val="tx1"/>
                </a:solidFill>
                <a:effectLst/>
                <a:latin typeface="+mn-lt"/>
                <a:ea typeface="+mn-ea"/>
                <a:cs typeface="+mn-cs"/>
              </a:rPr>
              <a:t> zostáva plnohodnotný pre ďalšiu analýzu."</a:t>
            </a:r>
            <a:endParaRPr lang="sk-SK" dirty="0"/>
          </a:p>
        </p:txBody>
      </p:sp>
      <p:sp>
        <p:nvSpPr>
          <p:cNvPr id="4" name="Zástupný objekt pre číslo snímky 3"/>
          <p:cNvSpPr>
            <a:spLocks noGrp="1"/>
          </p:cNvSpPr>
          <p:nvPr>
            <p:ph type="sldNum" sz="quarter" idx="5"/>
          </p:nvPr>
        </p:nvSpPr>
        <p:spPr/>
        <p:txBody>
          <a:bodyPr/>
          <a:lstStyle/>
          <a:p>
            <a:fld id="{F02878B2-BA50-8E49-9A78-C01B05709F52}" type="slidenum">
              <a:rPr lang="sk-SK" smtClean="0"/>
              <a:t>8</a:t>
            </a:fld>
            <a:endParaRPr lang="sk-SK"/>
          </a:p>
        </p:txBody>
      </p:sp>
    </p:spTree>
    <p:extLst>
      <p:ext uri="{BB962C8B-B14F-4D97-AF65-F5344CB8AC3E}">
        <p14:creationId xmlns:p14="http://schemas.microsoft.com/office/powerpoint/2010/main" val="38601932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objekt pre obrázok snímky 1"/>
          <p:cNvSpPr>
            <a:spLocks noGrp="1" noRot="1" noChangeAspect="1"/>
          </p:cNvSpPr>
          <p:nvPr>
            <p:ph type="sldImg"/>
          </p:nvPr>
        </p:nvSpPr>
        <p:spPr/>
      </p:sp>
      <p:sp>
        <p:nvSpPr>
          <p:cNvPr id="3" name="Zástupný objekt pre poznámky 2"/>
          <p:cNvSpPr>
            <a:spLocks noGrp="1"/>
          </p:cNvSpPr>
          <p:nvPr>
            <p:ph type="body" idx="1"/>
          </p:nvPr>
        </p:nvSpPr>
        <p:spPr/>
        <p:txBody>
          <a:bodyPr/>
          <a:lstStyle/>
          <a:p>
            <a:r>
              <a:rPr lang="sk-SK" sz="1200" b="0" i="0" kern="1200" dirty="0">
                <a:solidFill>
                  <a:schemeClr val="tx1"/>
                </a:solidFill>
                <a:effectLst/>
                <a:latin typeface="+mn-lt"/>
                <a:ea typeface="+mn-ea"/>
                <a:cs typeface="+mn-cs"/>
              </a:rPr>
              <a:t>Graf ročného priebehu ukazuje to, čo intuitívne očakávame: žiarenie stúpa od januára k júlu a klesá späť. Pás disperzie ±1</a:t>
            </a:r>
            <a:r>
              <a:rPr lang="el-GR" sz="1200" b="0" i="0" kern="1200" dirty="0">
                <a:solidFill>
                  <a:schemeClr val="tx1"/>
                </a:solidFill>
                <a:effectLst/>
                <a:latin typeface="+mn-lt"/>
                <a:ea typeface="+mn-ea"/>
                <a:cs typeface="+mn-cs"/>
              </a:rPr>
              <a:t>σ </a:t>
            </a:r>
            <a:r>
              <a:rPr lang="sk-SK" sz="1200" b="0" i="0" kern="1200" dirty="0">
                <a:solidFill>
                  <a:schemeClr val="tx1"/>
                </a:solidFill>
                <a:effectLst/>
                <a:latin typeface="+mn-lt"/>
                <a:ea typeface="+mn-ea"/>
                <a:cs typeface="+mn-cs"/>
              </a:rPr>
              <a:t>je na jar a jeseň veľmi široký — to odráža premenlivé počasie v prechodných obdobiach. Celková štandardná odchýlka je skoro rovnaká ako priemer — to je spôsobené tým, že v noci je žiarenie nula, zatiaľ čo cez poludnie dosahuje stovky až tisíce W/m². Teda </a:t>
            </a:r>
            <a:r>
              <a:rPr lang="sk-SK" sz="1200" b="0" i="0" kern="1200" dirty="0" err="1">
                <a:solidFill>
                  <a:schemeClr val="tx1"/>
                </a:solidFill>
                <a:effectLst/>
                <a:latin typeface="+mn-lt"/>
                <a:ea typeface="+mn-ea"/>
                <a:cs typeface="+mn-cs"/>
              </a:rPr>
              <a:t>high</a:t>
            </a:r>
            <a:r>
              <a:rPr lang="sk-SK" sz="1200" b="0" i="0" kern="1200" dirty="0">
                <a:solidFill>
                  <a:schemeClr val="tx1"/>
                </a:solidFill>
                <a:effectLst/>
                <a:latin typeface="+mn-lt"/>
                <a:ea typeface="+mn-ea"/>
                <a:cs typeface="+mn-cs"/>
              </a:rPr>
              <a:t> </a:t>
            </a:r>
            <a:r>
              <a:rPr lang="sk-SK" sz="1200" b="0" i="0" kern="1200" dirty="0" err="1">
                <a:solidFill>
                  <a:schemeClr val="tx1"/>
                </a:solidFill>
                <a:effectLst/>
                <a:latin typeface="+mn-lt"/>
                <a:ea typeface="+mn-ea"/>
                <a:cs typeface="+mn-cs"/>
              </a:rPr>
              <a:t>variance</a:t>
            </a:r>
            <a:r>
              <a:rPr lang="sk-SK" sz="1200" b="0" i="0" kern="1200" dirty="0">
                <a:solidFill>
                  <a:schemeClr val="tx1"/>
                </a:solidFill>
                <a:effectLst/>
                <a:latin typeface="+mn-lt"/>
                <a:ea typeface="+mn-ea"/>
                <a:cs typeface="+mn-cs"/>
              </a:rPr>
              <a:t> je tu fyzikálne očakávaná, nie znak problémových dát.</a:t>
            </a:r>
            <a:endParaRPr lang="sk-SK" dirty="0"/>
          </a:p>
        </p:txBody>
      </p:sp>
      <p:sp>
        <p:nvSpPr>
          <p:cNvPr id="4" name="Zástupný objekt pre číslo snímky 3"/>
          <p:cNvSpPr>
            <a:spLocks noGrp="1"/>
          </p:cNvSpPr>
          <p:nvPr>
            <p:ph type="sldNum" sz="quarter" idx="5"/>
          </p:nvPr>
        </p:nvSpPr>
        <p:spPr/>
        <p:txBody>
          <a:bodyPr/>
          <a:lstStyle/>
          <a:p>
            <a:fld id="{F02878B2-BA50-8E49-9A78-C01B05709F52}" type="slidenum">
              <a:rPr lang="sk-SK" smtClean="0"/>
              <a:t>9</a:t>
            </a:fld>
            <a:endParaRPr lang="sk-SK"/>
          </a:p>
        </p:txBody>
      </p:sp>
    </p:spTree>
    <p:extLst>
      <p:ext uri="{BB962C8B-B14F-4D97-AF65-F5344CB8AC3E}">
        <p14:creationId xmlns:p14="http://schemas.microsoft.com/office/powerpoint/2010/main" val="217265368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objekt pre obrázok snímky 1"/>
          <p:cNvSpPr>
            <a:spLocks noGrp="1" noRot="1" noChangeAspect="1"/>
          </p:cNvSpPr>
          <p:nvPr>
            <p:ph type="sldImg"/>
          </p:nvPr>
        </p:nvSpPr>
        <p:spPr/>
      </p:sp>
      <p:sp>
        <p:nvSpPr>
          <p:cNvPr id="3" name="Zástupný objekt pre poznámky 2"/>
          <p:cNvSpPr>
            <a:spLocks noGrp="1"/>
          </p:cNvSpPr>
          <p:nvPr>
            <p:ph type="body" idx="1"/>
          </p:nvPr>
        </p:nvSpPr>
        <p:spPr/>
        <p:txBody>
          <a:bodyPr/>
          <a:lstStyle/>
          <a:p>
            <a:r>
              <a:rPr lang="sk-SK" sz="1200" b="0" i="0" kern="1200" dirty="0">
                <a:solidFill>
                  <a:schemeClr val="tx1"/>
                </a:solidFill>
                <a:effectLst/>
                <a:latin typeface="+mn-lt"/>
                <a:ea typeface="+mn-ea"/>
                <a:cs typeface="+mn-cs"/>
              </a:rPr>
              <a:t>Mriežka 12 grafov ukazuje, ako sa mení denný profil žiarenia počas roka. V júni má deň 16 hodín a profil je symetrický — slnko stúpa, dosahuje maximum cez poludnie a klesá. V decembri je deň len 8–9 hodín a maximum je niekoľkonásobne nižšie. Veľká disperzia v marci a októbri korešponduje s premenlivým aprílovo-jesenným počasím. Každý mesiac má štatistiky overené </a:t>
            </a:r>
            <a:r>
              <a:rPr lang="sk-SK" sz="1200" b="0" i="0" kern="1200" dirty="0" err="1">
                <a:solidFill>
                  <a:schemeClr val="tx1"/>
                </a:solidFill>
                <a:effectLst/>
                <a:latin typeface="+mn-lt"/>
                <a:ea typeface="+mn-ea"/>
                <a:cs typeface="+mn-cs"/>
              </a:rPr>
              <a:t>PyTorchom</a:t>
            </a:r>
            <a:r>
              <a:rPr lang="sk-SK" sz="1200" b="0" i="0" kern="1200" dirty="0">
                <a:solidFill>
                  <a:schemeClr val="tx1"/>
                </a:solidFill>
                <a:effectLst/>
                <a:latin typeface="+mn-lt"/>
                <a:ea typeface="+mn-ea"/>
                <a:cs typeface="+mn-cs"/>
              </a:rPr>
              <a:t>.</a:t>
            </a:r>
            <a:endParaRPr lang="sk-SK" dirty="0"/>
          </a:p>
        </p:txBody>
      </p:sp>
      <p:sp>
        <p:nvSpPr>
          <p:cNvPr id="4" name="Zástupný objekt pre číslo snímky 3"/>
          <p:cNvSpPr>
            <a:spLocks noGrp="1"/>
          </p:cNvSpPr>
          <p:nvPr>
            <p:ph type="sldNum" sz="quarter" idx="5"/>
          </p:nvPr>
        </p:nvSpPr>
        <p:spPr/>
        <p:txBody>
          <a:bodyPr/>
          <a:lstStyle/>
          <a:p>
            <a:fld id="{F02878B2-BA50-8E49-9A78-C01B05709F52}" type="slidenum">
              <a:rPr lang="sk-SK" smtClean="0"/>
              <a:t>10</a:t>
            </a:fld>
            <a:endParaRPr lang="sk-SK"/>
          </a:p>
        </p:txBody>
      </p:sp>
    </p:spTree>
    <p:extLst>
      <p:ext uri="{BB962C8B-B14F-4D97-AF65-F5344CB8AC3E}">
        <p14:creationId xmlns:p14="http://schemas.microsoft.com/office/powerpoint/2010/main" val="324704897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objekt pre obrázok snímky 1"/>
          <p:cNvSpPr>
            <a:spLocks noGrp="1" noRot="1" noChangeAspect="1"/>
          </p:cNvSpPr>
          <p:nvPr>
            <p:ph type="sldImg"/>
          </p:nvPr>
        </p:nvSpPr>
        <p:spPr/>
      </p:sp>
      <p:sp>
        <p:nvSpPr>
          <p:cNvPr id="3" name="Zástupný objekt pre poznámky 2"/>
          <p:cNvSpPr>
            <a:spLocks noGrp="1"/>
          </p:cNvSpPr>
          <p:nvPr>
            <p:ph type="body" idx="1"/>
          </p:nvPr>
        </p:nvSpPr>
        <p:spPr/>
        <p:txBody>
          <a:bodyPr/>
          <a:lstStyle/>
          <a:p>
            <a:r>
              <a:rPr lang="sk-SK" sz="1200" b="0" i="0" kern="1200" dirty="0">
                <a:solidFill>
                  <a:schemeClr val="tx1"/>
                </a:solidFill>
                <a:effectLst/>
                <a:latin typeface="+mn-lt"/>
                <a:ea typeface="+mn-ea"/>
                <a:cs typeface="+mn-cs"/>
              </a:rPr>
              <a:t>Korelačná matica 16 parametrov odhalila niekoľko zaujímavých závislostí. Najsilnejšia korelácia v </a:t>
            </a:r>
            <a:r>
              <a:rPr lang="sk-SK" sz="1200" b="0" i="0" kern="1200" dirty="0" err="1">
                <a:solidFill>
                  <a:schemeClr val="tx1"/>
                </a:solidFill>
                <a:effectLst/>
                <a:latin typeface="+mn-lt"/>
                <a:ea typeface="+mn-ea"/>
                <a:cs typeface="+mn-cs"/>
              </a:rPr>
              <a:t>datasete</a:t>
            </a:r>
            <a:r>
              <a:rPr lang="sk-SK" sz="1200" b="0" i="0" kern="1200" dirty="0">
                <a:solidFill>
                  <a:schemeClr val="tx1"/>
                </a:solidFill>
                <a:effectLst/>
                <a:latin typeface="+mn-lt"/>
                <a:ea typeface="+mn-ea"/>
                <a:cs typeface="+mn-cs"/>
              </a:rPr>
              <a:t> je </a:t>
            </a:r>
            <a:r>
              <a:rPr lang="sk-SK" sz="1200" b="1" i="0" kern="1200" dirty="0" err="1">
                <a:solidFill>
                  <a:schemeClr val="tx1"/>
                </a:solidFill>
                <a:effectLst/>
                <a:latin typeface="+mn-lt"/>
                <a:ea typeface="+mn-ea"/>
                <a:cs typeface="+mn-cs"/>
              </a:rPr>
              <a:t>FanSpeed</a:t>
            </a:r>
            <a:r>
              <a:rPr lang="sk-SK" sz="1200" b="1" i="0" kern="1200" dirty="0">
                <a:solidFill>
                  <a:schemeClr val="tx1"/>
                </a:solidFill>
                <a:effectLst/>
                <a:latin typeface="+mn-lt"/>
                <a:ea typeface="+mn-ea"/>
                <a:cs typeface="+mn-cs"/>
              </a:rPr>
              <a:t> a </a:t>
            </a:r>
            <a:r>
              <a:rPr lang="sk-SK" sz="1200" b="1" i="0" kern="1200" dirty="0" err="1">
                <a:solidFill>
                  <a:schemeClr val="tx1"/>
                </a:solidFill>
                <a:effectLst/>
                <a:latin typeface="+mn-lt"/>
                <a:ea typeface="+mn-ea"/>
                <a:cs typeface="+mn-cs"/>
              </a:rPr>
              <a:t>Pressure</a:t>
            </a:r>
            <a:r>
              <a:rPr lang="sk-SK" sz="1200" b="1" i="0" kern="1200" dirty="0">
                <a:solidFill>
                  <a:schemeClr val="tx1"/>
                </a:solidFill>
                <a:effectLst/>
                <a:latin typeface="+mn-lt"/>
                <a:ea typeface="+mn-ea"/>
                <a:cs typeface="+mn-cs"/>
              </a:rPr>
              <a:t>: r = −0.998</a:t>
            </a:r>
            <a:r>
              <a:rPr lang="sk-SK" sz="1200" b="0" i="0" kern="1200" dirty="0">
                <a:solidFill>
                  <a:schemeClr val="tx1"/>
                </a:solidFill>
                <a:effectLst/>
                <a:latin typeface="+mn-lt"/>
                <a:ea typeface="+mn-ea"/>
                <a:cs typeface="+mn-cs"/>
              </a:rPr>
              <a:t>. Toto nie je priama fyzikálna závislosť — ventilátor priamo </a:t>
            </a:r>
            <a:r>
              <a:rPr lang="sk-SK" sz="1200" b="0" i="0" kern="1200" dirty="0" err="1">
                <a:solidFill>
                  <a:schemeClr val="tx1"/>
                </a:solidFill>
                <a:effectLst/>
                <a:latin typeface="+mn-lt"/>
                <a:ea typeface="+mn-ea"/>
                <a:cs typeface="+mn-cs"/>
              </a:rPr>
              <a:t>netlak</a:t>
            </a:r>
            <a:r>
              <a:rPr lang="sk-SK" sz="1200" b="0" i="0" kern="1200" dirty="0">
                <a:solidFill>
                  <a:schemeClr val="tx1"/>
                </a:solidFill>
                <a:effectLst/>
                <a:latin typeface="+mn-lt"/>
                <a:ea typeface="+mn-ea"/>
                <a:cs typeface="+mn-cs"/>
              </a:rPr>
              <a:t> neovláda. Ide o sezónny spoločný faktor: v zime je vzduch hustejší (vyšší tlak) a motor beží pomalšie. Tri teplotné snímače korelujú skoro dokonale (r ≈ 0.999) — merajú to isté, čo potvrdzuje kalibračnú konzistenciu. </a:t>
            </a:r>
            <a:r>
              <a:rPr lang="sk-SK" sz="1200" b="0" i="0" kern="1200" dirty="0" err="1">
                <a:solidFill>
                  <a:schemeClr val="tx1"/>
                </a:solidFill>
                <a:effectLst/>
                <a:latin typeface="+mn-lt"/>
                <a:ea typeface="+mn-ea"/>
                <a:cs typeface="+mn-cs"/>
              </a:rPr>
              <a:t>SunZenith</a:t>
            </a:r>
            <a:r>
              <a:rPr lang="sk-SK" sz="1200" b="0" i="0" kern="1200" dirty="0">
                <a:solidFill>
                  <a:schemeClr val="tx1"/>
                </a:solidFill>
                <a:effectLst/>
                <a:latin typeface="+mn-lt"/>
                <a:ea typeface="+mn-ea"/>
                <a:cs typeface="+mn-cs"/>
              </a:rPr>
              <a:t> koreluje s žiarením kladne (r = +0.790) — pretože v tomto </a:t>
            </a:r>
            <a:r>
              <a:rPr lang="sk-SK" sz="1200" b="0" i="0" kern="1200" dirty="0" err="1">
                <a:solidFill>
                  <a:schemeClr val="tx1"/>
                </a:solidFill>
                <a:effectLst/>
                <a:latin typeface="+mn-lt"/>
                <a:ea typeface="+mn-ea"/>
                <a:cs typeface="+mn-cs"/>
              </a:rPr>
              <a:t>datasete</a:t>
            </a:r>
            <a:r>
              <a:rPr lang="sk-SK" sz="1200" b="0" i="0" kern="1200" dirty="0">
                <a:solidFill>
                  <a:schemeClr val="tx1"/>
                </a:solidFill>
                <a:effectLst/>
                <a:latin typeface="+mn-lt"/>
                <a:ea typeface="+mn-ea"/>
                <a:cs typeface="+mn-cs"/>
              </a:rPr>
              <a:t> </a:t>
            </a:r>
            <a:r>
              <a:rPr lang="sk-SK" sz="1200" b="0" i="0" kern="1200" dirty="0" err="1">
                <a:solidFill>
                  <a:schemeClr val="tx1"/>
                </a:solidFill>
                <a:effectLst/>
                <a:latin typeface="+mn-lt"/>
                <a:ea typeface="+mn-ea"/>
                <a:cs typeface="+mn-cs"/>
              </a:rPr>
              <a:t>SunZenith</a:t>
            </a:r>
            <a:r>
              <a:rPr lang="sk-SK" sz="1200" b="0" i="0" kern="1200" dirty="0">
                <a:solidFill>
                  <a:schemeClr val="tx1"/>
                </a:solidFill>
                <a:effectLst/>
                <a:latin typeface="+mn-lt"/>
                <a:ea typeface="+mn-ea"/>
                <a:cs typeface="+mn-cs"/>
              </a:rPr>
              <a:t> funguje ako </a:t>
            </a:r>
            <a:r>
              <a:rPr lang="sk-SK" sz="1200" b="0" i="0" kern="1200" dirty="0" err="1">
                <a:solidFill>
                  <a:schemeClr val="tx1"/>
                </a:solidFill>
                <a:effectLst/>
                <a:latin typeface="+mn-lt"/>
                <a:ea typeface="+mn-ea"/>
                <a:cs typeface="+mn-cs"/>
              </a:rPr>
              <a:t>elevačný</a:t>
            </a:r>
            <a:r>
              <a:rPr lang="sk-SK" sz="1200" b="0" i="0" kern="1200" dirty="0">
                <a:solidFill>
                  <a:schemeClr val="tx1"/>
                </a:solidFill>
                <a:effectLst/>
                <a:latin typeface="+mn-lt"/>
                <a:ea typeface="+mn-ea"/>
                <a:cs typeface="+mn-cs"/>
              </a:rPr>
              <a:t> uhol, nie zenitový: vyššia hodnota = slnko vyššie = viac žiarenia."</a:t>
            </a:r>
            <a:br>
              <a:rPr lang="sk-SK" dirty="0"/>
            </a:br>
            <a:br>
              <a:rPr lang="sk-SK" dirty="0"/>
            </a:br>
            <a:r>
              <a:rPr lang="sk-SK" sz="1200" b="0" i="1" kern="1200" dirty="0">
                <a:solidFill>
                  <a:schemeClr val="tx1"/>
                </a:solidFill>
                <a:effectLst/>
                <a:latin typeface="+mn-lt"/>
                <a:ea typeface="+mn-ea"/>
                <a:cs typeface="+mn-cs"/>
              </a:rPr>
              <a:t>Ak sa pýtajú prečo 16 a nie 18: </a:t>
            </a:r>
            <a:r>
              <a:rPr lang="sk-SK" sz="1200" b="0" i="1" kern="1200" dirty="0" err="1">
                <a:solidFill>
                  <a:schemeClr val="tx1"/>
                </a:solidFill>
                <a:effectLst/>
                <a:latin typeface="+mn-lt"/>
                <a:ea typeface="+mn-ea"/>
                <a:cs typeface="+mn-cs"/>
              </a:rPr>
              <a:t>SunLatitude</a:t>
            </a:r>
            <a:r>
              <a:rPr lang="sk-SK" sz="1200" b="0" i="1" kern="1200" dirty="0">
                <a:solidFill>
                  <a:schemeClr val="tx1"/>
                </a:solidFill>
                <a:effectLst/>
                <a:latin typeface="+mn-lt"/>
                <a:ea typeface="+mn-ea"/>
                <a:cs typeface="+mn-cs"/>
              </a:rPr>
              <a:t> a </a:t>
            </a:r>
            <a:r>
              <a:rPr lang="sk-SK" sz="1200" b="0" i="1" kern="1200" dirty="0" err="1">
                <a:solidFill>
                  <a:schemeClr val="tx1"/>
                </a:solidFill>
                <a:effectLst/>
                <a:latin typeface="+mn-lt"/>
                <a:ea typeface="+mn-ea"/>
                <a:cs typeface="+mn-cs"/>
              </a:rPr>
              <a:t>SunLongitude</a:t>
            </a:r>
            <a:r>
              <a:rPr lang="sk-SK" sz="1200" b="0" i="1" kern="1200" dirty="0">
                <a:solidFill>
                  <a:schemeClr val="tx1"/>
                </a:solidFill>
                <a:effectLst/>
                <a:latin typeface="+mn-lt"/>
                <a:ea typeface="+mn-ea"/>
                <a:cs typeface="+mn-cs"/>
              </a:rPr>
              <a:t> sú konštanty — </a:t>
            </a:r>
            <a:r>
              <a:rPr lang="sk-SK" sz="1200" b="0" i="1" kern="1200" dirty="0" err="1">
                <a:solidFill>
                  <a:schemeClr val="tx1"/>
                </a:solidFill>
                <a:effectLst/>
                <a:latin typeface="+mn-lt"/>
                <a:ea typeface="+mn-ea"/>
                <a:cs typeface="+mn-cs"/>
              </a:rPr>
              <a:t>std</a:t>
            </a:r>
            <a:r>
              <a:rPr lang="sk-SK" sz="1200" b="0" i="1" kern="1200" dirty="0">
                <a:solidFill>
                  <a:schemeClr val="tx1"/>
                </a:solidFill>
                <a:effectLst/>
                <a:latin typeface="+mn-lt"/>
                <a:ea typeface="+mn-ea"/>
                <a:cs typeface="+mn-cs"/>
              </a:rPr>
              <a:t> = 0, </a:t>
            </a:r>
            <a:r>
              <a:rPr lang="sk-SK" sz="1200" b="0" i="1" kern="1200" dirty="0" err="1">
                <a:solidFill>
                  <a:schemeClr val="tx1"/>
                </a:solidFill>
                <a:effectLst/>
                <a:latin typeface="+mn-lt"/>
                <a:ea typeface="+mn-ea"/>
                <a:cs typeface="+mn-cs"/>
              </a:rPr>
              <a:t>Pearsonova</a:t>
            </a:r>
            <a:r>
              <a:rPr lang="sk-SK" sz="1200" b="0" i="1" kern="1200" dirty="0">
                <a:solidFill>
                  <a:schemeClr val="tx1"/>
                </a:solidFill>
                <a:effectLst/>
                <a:latin typeface="+mn-lt"/>
                <a:ea typeface="+mn-ea"/>
                <a:cs typeface="+mn-cs"/>
              </a:rPr>
              <a:t> korelácia by delila nulou.</a:t>
            </a:r>
            <a:endParaRPr lang="sk-SK" dirty="0"/>
          </a:p>
        </p:txBody>
      </p:sp>
      <p:sp>
        <p:nvSpPr>
          <p:cNvPr id="4" name="Zástupný objekt pre číslo snímky 3"/>
          <p:cNvSpPr>
            <a:spLocks noGrp="1"/>
          </p:cNvSpPr>
          <p:nvPr>
            <p:ph type="sldNum" sz="quarter" idx="5"/>
          </p:nvPr>
        </p:nvSpPr>
        <p:spPr/>
        <p:txBody>
          <a:bodyPr/>
          <a:lstStyle/>
          <a:p>
            <a:fld id="{F02878B2-BA50-8E49-9A78-C01B05709F52}" type="slidenum">
              <a:rPr lang="sk-SK" smtClean="0"/>
              <a:t>11</a:t>
            </a:fld>
            <a:endParaRPr lang="sk-SK"/>
          </a:p>
        </p:txBody>
      </p:sp>
    </p:spTree>
    <p:extLst>
      <p:ext uri="{BB962C8B-B14F-4D97-AF65-F5344CB8AC3E}">
        <p14:creationId xmlns:p14="http://schemas.microsoft.com/office/powerpoint/2010/main" val="83371216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objekt pre obrázok snímky 1"/>
          <p:cNvSpPr>
            <a:spLocks noGrp="1" noRot="1" noChangeAspect="1"/>
          </p:cNvSpPr>
          <p:nvPr>
            <p:ph type="sldImg"/>
          </p:nvPr>
        </p:nvSpPr>
        <p:spPr/>
      </p:sp>
      <p:sp>
        <p:nvSpPr>
          <p:cNvPr id="3" name="Zástupný objekt pre poznámky 2"/>
          <p:cNvSpPr>
            <a:spLocks noGrp="1"/>
          </p:cNvSpPr>
          <p:nvPr>
            <p:ph type="body" idx="1"/>
          </p:nvPr>
        </p:nvSpPr>
        <p:spPr/>
        <p:txBody>
          <a:bodyPr/>
          <a:lstStyle/>
          <a:p>
            <a:r>
              <a:rPr lang="sk-SK" sz="1200" b="0" i="0" kern="1200" dirty="0">
                <a:solidFill>
                  <a:schemeClr val="tx1"/>
                </a:solidFill>
                <a:effectLst/>
                <a:latin typeface="+mn-lt"/>
                <a:ea typeface="+mn-ea"/>
                <a:cs typeface="+mn-cs"/>
              </a:rPr>
              <a:t>Na záver zhrniem: </a:t>
            </a:r>
            <a:r>
              <a:rPr lang="sk-SK" sz="1200" b="0" i="0" kern="1200" dirty="0" err="1">
                <a:solidFill>
                  <a:schemeClr val="tx1"/>
                </a:solidFill>
                <a:effectLst/>
                <a:latin typeface="+mn-lt"/>
                <a:ea typeface="+mn-ea"/>
                <a:cs typeface="+mn-cs"/>
              </a:rPr>
              <a:t>Dataset</a:t>
            </a:r>
            <a:r>
              <a:rPr lang="sk-SK" sz="1200" b="0" i="0" kern="1200" dirty="0">
                <a:solidFill>
                  <a:schemeClr val="tx1"/>
                </a:solidFill>
                <a:effectLst/>
                <a:latin typeface="+mn-lt"/>
                <a:ea typeface="+mn-ea"/>
                <a:cs typeface="+mn-cs"/>
              </a:rPr>
              <a:t> je veľmi kvalitný — žiadne </a:t>
            </a:r>
            <a:r>
              <a:rPr lang="sk-SK" sz="1200" b="0" i="0" kern="1200" dirty="0" err="1">
                <a:solidFill>
                  <a:schemeClr val="tx1"/>
                </a:solidFill>
                <a:effectLst/>
                <a:latin typeface="+mn-lt"/>
                <a:ea typeface="+mn-ea"/>
                <a:cs typeface="+mn-cs"/>
              </a:rPr>
              <a:t>NaN</a:t>
            </a:r>
            <a:r>
              <a:rPr lang="sk-SK" sz="1200" b="0" i="0" kern="1200" dirty="0">
                <a:solidFill>
                  <a:schemeClr val="tx1"/>
                </a:solidFill>
                <a:effectLst/>
                <a:latin typeface="+mn-lt"/>
                <a:ea typeface="+mn-ea"/>
                <a:cs typeface="+mn-cs"/>
              </a:rPr>
              <a:t>, len 0.74 % fyzikálne poškodených vzoriek. Osem chýbajúcich dní pravdepodobne súvisí s výpadkom zariadenia, nie s chybou spracovania. Ročná a mesačná analýza žiarenia potvrdila očakávané sezónne vzory. Korelačná analýza odhalila tri kľúčové zistenia: extrémna závislosť ventilátora na tlaku, dokonalá konzistencia troch teplotných snímačov a priama závislosť žiarenia od výšky slnka. Ďakujem za pozornosť."</a:t>
            </a:r>
            <a:endParaRPr lang="sk-SK" dirty="0"/>
          </a:p>
        </p:txBody>
      </p:sp>
      <p:sp>
        <p:nvSpPr>
          <p:cNvPr id="4" name="Zástupný objekt pre číslo snímky 3"/>
          <p:cNvSpPr>
            <a:spLocks noGrp="1"/>
          </p:cNvSpPr>
          <p:nvPr>
            <p:ph type="sldNum" sz="quarter" idx="5"/>
          </p:nvPr>
        </p:nvSpPr>
        <p:spPr/>
        <p:txBody>
          <a:bodyPr/>
          <a:lstStyle/>
          <a:p>
            <a:fld id="{F02878B2-BA50-8E49-9A78-C01B05709F52}" type="slidenum">
              <a:rPr lang="sk-SK" smtClean="0"/>
              <a:t>12</a:t>
            </a:fld>
            <a:endParaRPr lang="sk-SK"/>
          </a:p>
        </p:txBody>
      </p:sp>
    </p:spTree>
    <p:extLst>
      <p:ext uri="{BB962C8B-B14F-4D97-AF65-F5344CB8AC3E}">
        <p14:creationId xmlns:p14="http://schemas.microsoft.com/office/powerpoint/2010/main" val="9980634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Úvodná snímka">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7EEF0690-7B45-C5FF-57CF-CF0F91915BC5}"/>
              </a:ext>
            </a:extLst>
          </p:cNvPr>
          <p:cNvSpPr>
            <a:spLocks noGrp="1"/>
          </p:cNvSpPr>
          <p:nvPr>
            <p:ph type="ctrTitle"/>
          </p:nvPr>
        </p:nvSpPr>
        <p:spPr>
          <a:xfrm>
            <a:off x="1524000" y="1122363"/>
            <a:ext cx="9144000" cy="2387600"/>
          </a:xfrm>
        </p:spPr>
        <p:txBody>
          <a:bodyPr anchor="b"/>
          <a:lstStyle>
            <a:lvl1pPr algn="ctr">
              <a:defRPr sz="6000"/>
            </a:lvl1pPr>
          </a:lstStyle>
          <a:p>
            <a:r>
              <a:rPr lang="sk-SK"/>
              <a:t>Kliknutím upravte štýl predlohy nadpisu</a:t>
            </a:r>
          </a:p>
        </p:txBody>
      </p:sp>
      <p:sp>
        <p:nvSpPr>
          <p:cNvPr id="3" name="Podnadpis 2">
            <a:extLst>
              <a:ext uri="{FF2B5EF4-FFF2-40B4-BE49-F238E27FC236}">
                <a16:creationId xmlns:a16="http://schemas.microsoft.com/office/drawing/2014/main" id="{0B5E9AC0-B38B-5B7F-5616-F4596FD18DF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k-SK"/>
              <a:t>Kliknutím upravte štýl predlohy podnadpisu</a:t>
            </a:r>
          </a:p>
        </p:txBody>
      </p:sp>
      <p:sp>
        <p:nvSpPr>
          <p:cNvPr id="4" name="Zástupný objekt pre dátum 3">
            <a:extLst>
              <a:ext uri="{FF2B5EF4-FFF2-40B4-BE49-F238E27FC236}">
                <a16:creationId xmlns:a16="http://schemas.microsoft.com/office/drawing/2014/main" id="{4C4A7E17-3FA0-4847-85F7-A3E6A01AC605}"/>
              </a:ext>
            </a:extLst>
          </p:cNvPr>
          <p:cNvSpPr>
            <a:spLocks noGrp="1"/>
          </p:cNvSpPr>
          <p:nvPr>
            <p:ph type="dt" sz="half" idx="10"/>
          </p:nvPr>
        </p:nvSpPr>
        <p:spPr/>
        <p:txBody>
          <a:bodyPr/>
          <a:lstStyle/>
          <a:p>
            <a:fld id="{58DCA4B3-3C9E-E04F-B55D-F59C9BC1799F}" type="datetimeFigureOut">
              <a:rPr lang="sk-SK" smtClean="0"/>
              <a:t>10. 5. 2026</a:t>
            </a:fld>
            <a:endParaRPr lang="sk-SK"/>
          </a:p>
        </p:txBody>
      </p:sp>
      <p:sp>
        <p:nvSpPr>
          <p:cNvPr id="5" name="Zástupný objekt pre pätu 4">
            <a:extLst>
              <a:ext uri="{FF2B5EF4-FFF2-40B4-BE49-F238E27FC236}">
                <a16:creationId xmlns:a16="http://schemas.microsoft.com/office/drawing/2014/main" id="{025EE1B3-B09D-F5A0-FB82-98BF15249101}"/>
              </a:ext>
            </a:extLst>
          </p:cNvPr>
          <p:cNvSpPr>
            <a:spLocks noGrp="1"/>
          </p:cNvSpPr>
          <p:nvPr>
            <p:ph type="ftr" sz="quarter" idx="11"/>
          </p:nvPr>
        </p:nvSpPr>
        <p:spPr/>
        <p:txBody>
          <a:bodyPr/>
          <a:lstStyle/>
          <a:p>
            <a:endParaRPr lang="sk-SK"/>
          </a:p>
        </p:txBody>
      </p:sp>
      <p:sp>
        <p:nvSpPr>
          <p:cNvPr id="6" name="Zástupný objekt pre číslo snímky 5">
            <a:extLst>
              <a:ext uri="{FF2B5EF4-FFF2-40B4-BE49-F238E27FC236}">
                <a16:creationId xmlns:a16="http://schemas.microsoft.com/office/drawing/2014/main" id="{CDBBD1A7-C7CF-F211-AC55-365BB65E59E7}"/>
              </a:ext>
            </a:extLst>
          </p:cNvPr>
          <p:cNvSpPr>
            <a:spLocks noGrp="1"/>
          </p:cNvSpPr>
          <p:nvPr>
            <p:ph type="sldNum" sz="quarter" idx="12"/>
          </p:nvPr>
        </p:nvSpPr>
        <p:spPr/>
        <p:txBody>
          <a:bodyPr/>
          <a:lstStyle/>
          <a:p>
            <a:fld id="{185439CA-FFDF-5E4A-B93F-5EEBFADE75DB}" type="slidenum">
              <a:rPr lang="sk-SK" smtClean="0"/>
              <a:t>‹#›</a:t>
            </a:fld>
            <a:endParaRPr lang="sk-SK"/>
          </a:p>
        </p:txBody>
      </p:sp>
    </p:spTree>
    <p:extLst>
      <p:ext uri="{BB962C8B-B14F-4D97-AF65-F5344CB8AC3E}">
        <p14:creationId xmlns:p14="http://schemas.microsoft.com/office/powerpoint/2010/main" val="824217456"/>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Nadpis a obsah">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C4A4F59B-8980-EFCC-970B-CE1ECAB2E924}"/>
              </a:ext>
            </a:extLst>
          </p:cNvPr>
          <p:cNvSpPr>
            <a:spLocks noGrp="1"/>
          </p:cNvSpPr>
          <p:nvPr>
            <p:ph type="title"/>
          </p:nvPr>
        </p:nvSpPr>
        <p:spPr/>
        <p:txBody>
          <a:bodyPr/>
          <a:lstStyle/>
          <a:p>
            <a:r>
              <a:rPr lang="sk-SK"/>
              <a:t>Kliknutím upravte štýl predlohy nadpisu</a:t>
            </a:r>
          </a:p>
        </p:txBody>
      </p:sp>
      <p:sp>
        <p:nvSpPr>
          <p:cNvPr id="3" name="Zástupný objekt pre obsah 2">
            <a:extLst>
              <a:ext uri="{FF2B5EF4-FFF2-40B4-BE49-F238E27FC236}">
                <a16:creationId xmlns:a16="http://schemas.microsoft.com/office/drawing/2014/main" id="{183744CC-67B0-4836-9AB3-8E6370C28136}"/>
              </a:ext>
            </a:extLst>
          </p:cNvPr>
          <p:cNvSpPr>
            <a:spLocks noGrp="1"/>
          </p:cNvSpPr>
          <p:nvPr>
            <p:ph idx="1"/>
          </p:nvPr>
        </p:nvSpPr>
        <p:spPr/>
        <p:txBody>
          <a:bodyPr/>
          <a:lstStyle/>
          <a:p>
            <a:pPr lvl="0"/>
            <a:r>
              <a:rPr lang="sk-SK"/>
              <a:t>Kliknite sem a upravte štýly predlohy textu</a:t>
            </a:r>
          </a:p>
          <a:p>
            <a:pPr lvl="1"/>
            <a:r>
              <a:rPr lang="sk-SK"/>
              <a:t>Druhá úroveň</a:t>
            </a:r>
          </a:p>
          <a:p>
            <a:pPr lvl="2"/>
            <a:r>
              <a:rPr lang="sk-SK"/>
              <a:t>Tretia úroveň</a:t>
            </a:r>
          </a:p>
          <a:p>
            <a:pPr lvl="3"/>
            <a:r>
              <a:rPr lang="sk-SK"/>
              <a:t>Štvrtá úroveň</a:t>
            </a:r>
          </a:p>
          <a:p>
            <a:pPr lvl="4"/>
            <a:r>
              <a:rPr lang="sk-SK"/>
              <a:t>Piata úroveň</a:t>
            </a:r>
          </a:p>
        </p:txBody>
      </p:sp>
      <p:sp>
        <p:nvSpPr>
          <p:cNvPr id="4" name="Zástupný objekt pre dátum 3">
            <a:extLst>
              <a:ext uri="{FF2B5EF4-FFF2-40B4-BE49-F238E27FC236}">
                <a16:creationId xmlns:a16="http://schemas.microsoft.com/office/drawing/2014/main" id="{74AE6190-77D7-B226-9754-0FFCC8E01DA7}"/>
              </a:ext>
            </a:extLst>
          </p:cNvPr>
          <p:cNvSpPr>
            <a:spLocks noGrp="1"/>
          </p:cNvSpPr>
          <p:nvPr>
            <p:ph type="dt" sz="half" idx="10"/>
          </p:nvPr>
        </p:nvSpPr>
        <p:spPr/>
        <p:txBody>
          <a:bodyPr/>
          <a:lstStyle/>
          <a:p>
            <a:fld id="{58DCA4B3-3C9E-E04F-B55D-F59C9BC1799F}" type="datetimeFigureOut">
              <a:rPr lang="sk-SK" smtClean="0"/>
              <a:t>10. 5. 2026</a:t>
            </a:fld>
            <a:endParaRPr lang="sk-SK"/>
          </a:p>
        </p:txBody>
      </p:sp>
      <p:sp>
        <p:nvSpPr>
          <p:cNvPr id="5" name="Zástupný objekt pre pätu 4">
            <a:extLst>
              <a:ext uri="{FF2B5EF4-FFF2-40B4-BE49-F238E27FC236}">
                <a16:creationId xmlns:a16="http://schemas.microsoft.com/office/drawing/2014/main" id="{302B0149-D4BC-AAC4-CAA9-BC0C79DEE3CF}"/>
              </a:ext>
            </a:extLst>
          </p:cNvPr>
          <p:cNvSpPr>
            <a:spLocks noGrp="1"/>
          </p:cNvSpPr>
          <p:nvPr>
            <p:ph type="ftr" sz="quarter" idx="11"/>
          </p:nvPr>
        </p:nvSpPr>
        <p:spPr/>
        <p:txBody>
          <a:bodyPr/>
          <a:lstStyle/>
          <a:p>
            <a:endParaRPr lang="sk-SK"/>
          </a:p>
        </p:txBody>
      </p:sp>
      <p:sp>
        <p:nvSpPr>
          <p:cNvPr id="6" name="Zástupný objekt pre číslo snímky 5">
            <a:extLst>
              <a:ext uri="{FF2B5EF4-FFF2-40B4-BE49-F238E27FC236}">
                <a16:creationId xmlns:a16="http://schemas.microsoft.com/office/drawing/2014/main" id="{54CF7E12-576F-B404-8108-DD25E7435E18}"/>
              </a:ext>
            </a:extLst>
          </p:cNvPr>
          <p:cNvSpPr>
            <a:spLocks noGrp="1"/>
          </p:cNvSpPr>
          <p:nvPr>
            <p:ph type="sldNum" sz="quarter" idx="12"/>
          </p:nvPr>
        </p:nvSpPr>
        <p:spPr/>
        <p:txBody>
          <a:bodyPr/>
          <a:lstStyle/>
          <a:p>
            <a:fld id="{185439CA-FFDF-5E4A-B93F-5EEBFADE75DB}" type="slidenum">
              <a:rPr lang="sk-SK" smtClean="0"/>
              <a:t>‹#›</a:t>
            </a:fld>
            <a:endParaRPr lang="sk-SK"/>
          </a:p>
        </p:txBody>
      </p:sp>
    </p:spTree>
    <p:extLst>
      <p:ext uri="{BB962C8B-B14F-4D97-AF65-F5344CB8AC3E}">
        <p14:creationId xmlns:p14="http://schemas.microsoft.com/office/powerpoint/2010/main" val="2702041944"/>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Hlavička sekcie">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A67F335B-AE35-E7E8-D75F-BAAEABD44A17}"/>
              </a:ext>
            </a:extLst>
          </p:cNvPr>
          <p:cNvSpPr>
            <a:spLocks noGrp="1"/>
          </p:cNvSpPr>
          <p:nvPr>
            <p:ph type="title"/>
          </p:nvPr>
        </p:nvSpPr>
        <p:spPr>
          <a:xfrm>
            <a:off x="831850" y="1709738"/>
            <a:ext cx="10515600" cy="2852737"/>
          </a:xfrm>
        </p:spPr>
        <p:txBody>
          <a:bodyPr anchor="b"/>
          <a:lstStyle>
            <a:lvl1pPr>
              <a:defRPr sz="6000"/>
            </a:lvl1pPr>
          </a:lstStyle>
          <a:p>
            <a:r>
              <a:rPr lang="sk-SK"/>
              <a:t>Kliknutím upravte štýl predlohy nadpisu</a:t>
            </a:r>
          </a:p>
        </p:txBody>
      </p:sp>
      <p:sp>
        <p:nvSpPr>
          <p:cNvPr id="3" name="Zástupný text 2">
            <a:extLst>
              <a:ext uri="{FF2B5EF4-FFF2-40B4-BE49-F238E27FC236}">
                <a16:creationId xmlns:a16="http://schemas.microsoft.com/office/drawing/2014/main" id="{F83EBDF0-8B17-295D-4E8E-CAB68DE285B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sk-SK"/>
              <a:t>Kliknite sem a upravte štýly predlohy textu</a:t>
            </a:r>
          </a:p>
        </p:txBody>
      </p:sp>
      <p:sp>
        <p:nvSpPr>
          <p:cNvPr id="4" name="Zástupný objekt pre dátum 3">
            <a:extLst>
              <a:ext uri="{FF2B5EF4-FFF2-40B4-BE49-F238E27FC236}">
                <a16:creationId xmlns:a16="http://schemas.microsoft.com/office/drawing/2014/main" id="{F8AD5D42-2BE3-53AE-8061-99AAD6344A40}"/>
              </a:ext>
            </a:extLst>
          </p:cNvPr>
          <p:cNvSpPr>
            <a:spLocks noGrp="1"/>
          </p:cNvSpPr>
          <p:nvPr>
            <p:ph type="dt" sz="half" idx="10"/>
          </p:nvPr>
        </p:nvSpPr>
        <p:spPr/>
        <p:txBody>
          <a:bodyPr/>
          <a:lstStyle/>
          <a:p>
            <a:fld id="{58DCA4B3-3C9E-E04F-B55D-F59C9BC1799F}" type="datetimeFigureOut">
              <a:rPr lang="sk-SK" smtClean="0"/>
              <a:t>10. 5. 2026</a:t>
            </a:fld>
            <a:endParaRPr lang="sk-SK"/>
          </a:p>
        </p:txBody>
      </p:sp>
      <p:sp>
        <p:nvSpPr>
          <p:cNvPr id="5" name="Zástupný objekt pre pätu 4">
            <a:extLst>
              <a:ext uri="{FF2B5EF4-FFF2-40B4-BE49-F238E27FC236}">
                <a16:creationId xmlns:a16="http://schemas.microsoft.com/office/drawing/2014/main" id="{0D9EAA24-4AF1-5888-3FD7-25698F7A722C}"/>
              </a:ext>
            </a:extLst>
          </p:cNvPr>
          <p:cNvSpPr>
            <a:spLocks noGrp="1"/>
          </p:cNvSpPr>
          <p:nvPr>
            <p:ph type="ftr" sz="quarter" idx="11"/>
          </p:nvPr>
        </p:nvSpPr>
        <p:spPr/>
        <p:txBody>
          <a:bodyPr/>
          <a:lstStyle/>
          <a:p>
            <a:endParaRPr lang="sk-SK"/>
          </a:p>
        </p:txBody>
      </p:sp>
      <p:sp>
        <p:nvSpPr>
          <p:cNvPr id="6" name="Zástupný objekt pre číslo snímky 5">
            <a:extLst>
              <a:ext uri="{FF2B5EF4-FFF2-40B4-BE49-F238E27FC236}">
                <a16:creationId xmlns:a16="http://schemas.microsoft.com/office/drawing/2014/main" id="{E75398EB-D169-6A41-AF07-E8EBC673ABE8}"/>
              </a:ext>
            </a:extLst>
          </p:cNvPr>
          <p:cNvSpPr>
            <a:spLocks noGrp="1"/>
          </p:cNvSpPr>
          <p:nvPr>
            <p:ph type="sldNum" sz="quarter" idx="12"/>
          </p:nvPr>
        </p:nvSpPr>
        <p:spPr/>
        <p:txBody>
          <a:bodyPr/>
          <a:lstStyle/>
          <a:p>
            <a:fld id="{185439CA-FFDF-5E4A-B93F-5EEBFADE75DB}" type="slidenum">
              <a:rPr lang="sk-SK" smtClean="0"/>
              <a:t>‹#›</a:t>
            </a:fld>
            <a:endParaRPr lang="sk-SK"/>
          </a:p>
        </p:txBody>
      </p:sp>
    </p:spTree>
    <p:extLst>
      <p:ext uri="{BB962C8B-B14F-4D97-AF65-F5344CB8AC3E}">
        <p14:creationId xmlns:p14="http://schemas.microsoft.com/office/powerpoint/2010/main" val="1224324423"/>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va obsahy">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3C81E003-BDF3-0386-B022-BD4B750A440E}"/>
              </a:ext>
            </a:extLst>
          </p:cNvPr>
          <p:cNvSpPr>
            <a:spLocks noGrp="1"/>
          </p:cNvSpPr>
          <p:nvPr>
            <p:ph type="title"/>
          </p:nvPr>
        </p:nvSpPr>
        <p:spPr/>
        <p:txBody>
          <a:bodyPr/>
          <a:lstStyle/>
          <a:p>
            <a:r>
              <a:rPr lang="sk-SK"/>
              <a:t>Kliknutím upravte štýl predlohy nadpisu</a:t>
            </a:r>
          </a:p>
        </p:txBody>
      </p:sp>
      <p:sp>
        <p:nvSpPr>
          <p:cNvPr id="3" name="Zástupný objekt pre obsah 2">
            <a:extLst>
              <a:ext uri="{FF2B5EF4-FFF2-40B4-BE49-F238E27FC236}">
                <a16:creationId xmlns:a16="http://schemas.microsoft.com/office/drawing/2014/main" id="{A8788122-8857-5F0C-24B9-7736898ED77F}"/>
              </a:ext>
            </a:extLst>
          </p:cNvPr>
          <p:cNvSpPr>
            <a:spLocks noGrp="1"/>
          </p:cNvSpPr>
          <p:nvPr>
            <p:ph sz="half" idx="1"/>
          </p:nvPr>
        </p:nvSpPr>
        <p:spPr>
          <a:xfrm>
            <a:off x="838200" y="1825625"/>
            <a:ext cx="5181600" cy="4351338"/>
          </a:xfrm>
        </p:spPr>
        <p:txBody>
          <a:bodyPr/>
          <a:lstStyle/>
          <a:p>
            <a:pPr lvl="0"/>
            <a:r>
              <a:rPr lang="sk-SK"/>
              <a:t>Kliknite sem a upravte štýly predlohy textu</a:t>
            </a:r>
          </a:p>
          <a:p>
            <a:pPr lvl="1"/>
            <a:r>
              <a:rPr lang="sk-SK"/>
              <a:t>Druhá úroveň</a:t>
            </a:r>
          </a:p>
          <a:p>
            <a:pPr lvl="2"/>
            <a:r>
              <a:rPr lang="sk-SK"/>
              <a:t>Tretia úroveň</a:t>
            </a:r>
          </a:p>
          <a:p>
            <a:pPr lvl="3"/>
            <a:r>
              <a:rPr lang="sk-SK"/>
              <a:t>Štvrtá úroveň</a:t>
            </a:r>
          </a:p>
          <a:p>
            <a:pPr lvl="4"/>
            <a:r>
              <a:rPr lang="sk-SK"/>
              <a:t>Piata úroveň</a:t>
            </a:r>
          </a:p>
        </p:txBody>
      </p:sp>
      <p:sp>
        <p:nvSpPr>
          <p:cNvPr id="4" name="Zástupný objekt pre obsah 3">
            <a:extLst>
              <a:ext uri="{FF2B5EF4-FFF2-40B4-BE49-F238E27FC236}">
                <a16:creationId xmlns:a16="http://schemas.microsoft.com/office/drawing/2014/main" id="{6CE9AE55-8A24-85FD-58EB-37BA985A164F}"/>
              </a:ext>
            </a:extLst>
          </p:cNvPr>
          <p:cNvSpPr>
            <a:spLocks noGrp="1"/>
          </p:cNvSpPr>
          <p:nvPr>
            <p:ph sz="half" idx="2"/>
          </p:nvPr>
        </p:nvSpPr>
        <p:spPr>
          <a:xfrm>
            <a:off x="6172200" y="1825625"/>
            <a:ext cx="5181600" cy="4351338"/>
          </a:xfrm>
        </p:spPr>
        <p:txBody>
          <a:bodyPr/>
          <a:lstStyle/>
          <a:p>
            <a:pPr lvl="0"/>
            <a:r>
              <a:rPr lang="sk-SK"/>
              <a:t>Kliknite sem a upravte štýly predlohy textu</a:t>
            </a:r>
          </a:p>
          <a:p>
            <a:pPr lvl="1"/>
            <a:r>
              <a:rPr lang="sk-SK"/>
              <a:t>Druhá úroveň</a:t>
            </a:r>
          </a:p>
          <a:p>
            <a:pPr lvl="2"/>
            <a:r>
              <a:rPr lang="sk-SK"/>
              <a:t>Tretia úroveň</a:t>
            </a:r>
          </a:p>
          <a:p>
            <a:pPr lvl="3"/>
            <a:r>
              <a:rPr lang="sk-SK"/>
              <a:t>Štvrtá úroveň</a:t>
            </a:r>
          </a:p>
          <a:p>
            <a:pPr lvl="4"/>
            <a:r>
              <a:rPr lang="sk-SK"/>
              <a:t>Piata úroveň</a:t>
            </a:r>
          </a:p>
        </p:txBody>
      </p:sp>
      <p:sp>
        <p:nvSpPr>
          <p:cNvPr id="5" name="Zástupný objekt pre dátum 4">
            <a:extLst>
              <a:ext uri="{FF2B5EF4-FFF2-40B4-BE49-F238E27FC236}">
                <a16:creationId xmlns:a16="http://schemas.microsoft.com/office/drawing/2014/main" id="{3C026CD4-4E70-8A2C-5D85-8566912A6F7A}"/>
              </a:ext>
            </a:extLst>
          </p:cNvPr>
          <p:cNvSpPr>
            <a:spLocks noGrp="1"/>
          </p:cNvSpPr>
          <p:nvPr>
            <p:ph type="dt" sz="half" idx="10"/>
          </p:nvPr>
        </p:nvSpPr>
        <p:spPr/>
        <p:txBody>
          <a:bodyPr/>
          <a:lstStyle/>
          <a:p>
            <a:fld id="{58DCA4B3-3C9E-E04F-B55D-F59C9BC1799F}" type="datetimeFigureOut">
              <a:rPr lang="sk-SK" smtClean="0"/>
              <a:t>10. 5. 2026</a:t>
            </a:fld>
            <a:endParaRPr lang="sk-SK"/>
          </a:p>
        </p:txBody>
      </p:sp>
      <p:sp>
        <p:nvSpPr>
          <p:cNvPr id="6" name="Zástupný objekt pre pätu 5">
            <a:extLst>
              <a:ext uri="{FF2B5EF4-FFF2-40B4-BE49-F238E27FC236}">
                <a16:creationId xmlns:a16="http://schemas.microsoft.com/office/drawing/2014/main" id="{BB4E038C-FB59-761D-73D3-B45FF0FBDBAC}"/>
              </a:ext>
            </a:extLst>
          </p:cNvPr>
          <p:cNvSpPr>
            <a:spLocks noGrp="1"/>
          </p:cNvSpPr>
          <p:nvPr>
            <p:ph type="ftr" sz="quarter" idx="11"/>
          </p:nvPr>
        </p:nvSpPr>
        <p:spPr/>
        <p:txBody>
          <a:bodyPr/>
          <a:lstStyle/>
          <a:p>
            <a:endParaRPr lang="sk-SK"/>
          </a:p>
        </p:txBody>
      </p:sp>
      <p:sp>
        <p:nvSpPr>
          <p:cNvPr id="7" name="Zástupný objekt pre číslo snímky 6">
            <a:extLst>
              <a:ext uri="{FF2B5EF4-FFF2-40B4-BE49-F238E27FC236}">
                <a16:creationId xmlns:a16="http://schemas.microsoft.com/office/drawing/2014/main" id="{586A6AD5-3A3C-9559-4A0A-D6C26EB62C95}"/>
              </a:ext>
            </a:extLst>
          </p:cNvPr>
          <p:cNvSpPr>
            <a:spLocks noGrp="1"/>
          </p:cNvSpPr>
          <p:nvPr>
            <p:ph type="sldNum" sz="quarter" idx="12"/>
          </p:nvPr>
        </p:nvSpPr>
        <p:spPr/>
        <p:txBody>
          <a:bodyPr/>
          <a:lstStyle/>
          <a:p>
            <a:fld id="{185439CA-FFDF-5E4A-B93F-5EEBFADE75DB}" type="slidenum">
              <a:rPr lang="sk-SK" smtClean="0"/>
              <a:t>‹#›</a:t>
            </a:fld>
            <a:endParaRPr lang="sk-SK"/>
          </a:p>
        </p:txBody>
      </p:sp>
    </p:spTree>
    <p:extLst>
      <p:ext uri="{BB962C8B-B14F-4D97-AF65-F5344CB8AC3E}">
        <p14:creationId xmlns:p14="http://schemas.microsoft.com/office/powerpoint/2010/main" val="1295402162"/>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Porovnanie">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B96AA1FC-8488-0941-2B70-42A56FE8A2F1}"/>
              </a:ext>
            </a:extLst>
          </p:cNvPr>
          <p:cNvSpPr>
            <a:spLocks noGrp="1"/>
          </p:cNvSpPr>
          <p:nvPr>
            <p:ph type="title"/>
          </p:nvPr>
        </p:nvSpPr>
        <p:spPr>
          <a:xfrm>
            <a:off x="839788" y="365125"/>
            <a:ext cx="10515600" cy="1325563"/>
          </a:xfrm>
        </p:spPr>
        <p:txBody>
          <a:bodyPr/>
          <a:lstStyle/>
          <a:p>
            <a:r>
              <a:rPr lang="sk-SK"/>
              <a:t>Kliknutím upravte štýl predlohy nadpisu</a:t>
            </a:r>
          </a:p>
        </p:txBody>
      </p:sp>
      <p:sp>
        <p:nvSpPr>
          <p:cNvPr id="3" name="Zástupný text 2">
            <a:extLst>
              <a:ext uri="{FF2B5EF4-FFF2-40B4-BE49-F238E27FC236}">
                <a16:creationId xmlns:a16="http://schemas.microsoft.com/office/drawing/2014/main" id="{455A40EE-5649-D18C-3663-E5F01C73455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sk-SK"/>
              <a:t>Kliknite sem a upravte štýly predlohy textu</a:t>
            </a:r>
          </a:p>
        </p:txBody>
      </p:sp>
      <p:sp>
        <p:nvSpPr>
          <p:cNvPr id="4" name="Zástupný objekt pre obsah 3">
            <a:extLst>
              <a:ext uri="{FF2B5EF4-FFF2-40B4-BE49-F238E27FC236}">
                <a16:creationId xmlns:a16="http://schemas.microsoft.com/office/drawing/2014/main" id="{C3F5D867-D88F-218F-F816-B73198B5B1AD}"/>
              </a:ext>
            </a:extLst>
          </p:cNvPr>
          <p:cNvSpPr>
            <a:spLocks noGrp="1"/>
          </p:cNvSpPr>
          <p:nvPr>
            <p:ph sz="half" idx="2"/>
          </p:nvPr>
        </p:nvSpPr>
        <p:spPr>
          <a:xfrm>
            <a:off x="839788" y="2505075"/>
            <a:ext cx="5157787" cy="3684588"/>
          </a:xfrm>
        </p:spPr>
        <p:txBody>
          <a:bodyPr/>
          <a:lstStyle/>
          <a:p>
            <a:pPr lvl="0"/>
            <a:r>
              <a:rPr lang="sk-SK"/>
              <a:t>Kliknite sem a upravte štýly predlohy textu</a:t>
            </a:r>
          </a:p>
          <a:p>
            <a:pPr lvl="1"/>
            <a:r>
              <a:rPr lang="sk-SK"/>
              <a:t>Druhá úroveň</a:t>
            </a:r>
          </a:p>
          <a:p>
            <a:pPr lvl="2"/>
            <a:r>
              <a:rPr lang="sk-SK"/>
              <a:t>Tretia úroveň</a:t>
            </a:r>
          </a:p>
          <a:p>
            <a:pPr lvl="3"/>
            <a:r>
              <a:rPr lang="sk-SK"/>
              <a:t>Štvrtá úroveň</a:t>
            </a:r>
          </a:p>
          <a:p>
            <a:pPr lvl="4"/>
            <a:r>
              <a:rPr lang="sk-SK"/>
              <a:t>Piata úroveň</a:t>
            </a:r>
          </a:p>
        </p:txBody>
      </p:sp>
      <p:sp>
        <p:nvSpPr>
          <p:cNvPr id="5" name="Zástupný text 4">
            <a:extLst>
              <a:ext uri="{FF2B5EF4-FFF2-40B4-BE49-F238E27FC236}">
                <a16:creationId xmlns:a16="http://schemas.microsoft.com/office/drawing/2014/main" id="{7DDAA8F6-8C10-E582-E156-2D413996DCE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sk-SK"/>
              <a:t>Kliknite sem a upravte štýly predlohy textu</a:t>
            </a:r>
          </a:p>
        </p:txBody>
      </p:sp>
      <p:sp>
        <p:nvSpPr>
          <p:cNvPr id="6" name="Zástupný objekt pre obsah 5">
            <a:extLst>
              <a:ext uri="{FF2B5EF4-FFF2-40B4-BE49-F238E27FC236}">
                <a16:creationId xmlns:a16="http://schemas.microsoft.com/office/drawing/2014/main" id="{F7F1A70F-D23B-F326-B6FC-A12783462A60}"/>
              </a:ext>
            </a:extLst>
          </p:cNvPr>
          <p:cNvSpPr>
            <a:spLocks noGrp="1"/>
          </p:cNvSpPr>
          <p:nvPr>
            <p:ph sz="quarter" idx="4"/>
          </p:nvPr>
        </p:nvSpPr>
        <p:spPr>
          <a:xfrm>
            <a:off x="6172200" y="2505075"/>
            <a:ext cx="5183188" cy="3684588"/>
          </a:xfrm>
        </p:spPr>
        <p:txBody>
          <a:bodyPr/>
          <a:lstStyle/>
          <a:p>
            <a:pPr lvl="0"/>
            <a:r>
              <a:rPr lang="sk-SK"/>
              <a:t>Kliknite sem a upravte štýly predlohy textu</a:t>
            </a:r>
          </a:p>
          <a:p>
            <a:pPr lvl="1"/>
            <a:r>
              <a:rPr lang="sk-SK"/>
              <a:t>Druhá úroveň</a:t>
            </a:r>
          </a:p>
          <a:p>
            <a:pPr lvl="2"/>
            <a:r>
              <a:rPr lang="sk-SK"/>
              <a:t>Tretia úroveň</a:t>
            </a:r>
          </a:p>
          <a:p>
            <a:pPr lvl="3"/>
            <a:r>
              <a:rPr lang="sk-SK"/>
              <a:t>Štvrtá úroveň</a:t>
            </a:r>
          </a:p>
          <a:p>
            <a:pPr lvl="4"/>
            <a:r>
              <a:rPr lang="sk-SK"/>
              <a:t>Piata úroveň</a:t>
            </a:r>
          </a:p>
        </p:txBody>
      </p:sp>
      <p:sp>
        <p:nvSpPr>
          <p:cNvPr id="7" name="Zástupný objekt pre dátum 6">
            <a:extLst>
              <a:ext uri="{FF2B5EF4-FFF2-40B4-BE49-F238E27FC236}">
                <a16:creationId xmlns:a16="http://schemas.microsoft.com/office/drawing/2014/main" id="{E972568B-661E-B957-DA71-4CF02FAA1295}"/>
              </a:ext>
            </a:extLst>
          </p:cNvPr>
          <p:cNvSpPr>
            <a:spLocks noGrp="1"/>
          </p:cNvSpPr>
          <p:nvPr>
            <p:ph type="dt" sz="half" idx="10"/>
          </p:nvPr>
        </p:nvSpPr>
        <p:spPr/>
        <p:txBody>
          <a:bodyPr/>
          <a:lstStyle/>
          <a:p>
            <a:fld id="{58DCA4B3-3C9E-E04F-B55D-F59C9BC1799F}" type="datetimeFigureOut">
              <a:rPr lang="sk-SK" smtClean="0"/>
              <a:t>10. 5. 2026</a:t>
            </a:fld>
            <a:endParaRPr lang="sk-SK"/>
          </a:p>
        </p:txBody>
      </p:sp>
      <p:sp>
        <p:nvSpPr>
          <p:cNvPr id="8" name="Zástupný objekt pre pätu 7">
            <a:extLst>
              <a:ext uri="{FF2B5EF4-FFF2-40B4-BE49-F238E27FC236}">
                <a16:creationId xmlns:a16="http://schemas.microsoft.com/office/drawing/2014/main" id="{81B5BFAA-AEB7-6419-41D0-1190944C3D3D}"/>
              </a:ext>
            </a:extLst>
          </p:cNvPr>
          <p:cNvSpPr>
            <a:spLocks noGrp="1"/>
          </p:cNvSpPr>
          <p:nvPr>
            <p:ph type="ftr" sz="quarter" idx="11"/>
          </p:nvPr>
        </p:nvSpPr>
        <p:spPr/>
        <p:txBody>
          <a:bodyPr/>
          <a:lstStyle/>
          <a:p>
            <a:endParaRPr lang="sk-SK"/>
          </a:p>
        </p:txBody>
      </p:sp>
      <p:sp>
        <p:nvSpPr>
          <p:cNvPr id="9" name="Zástupný objekt pre číslo snímky 8">
            <a:extLst>
              <a:ext uri="{FF2B5EF4-FFF2-40B4-BE49-F238E27FC236}">
                <a16:creationId xmlns:a16="http://schemas.microsoft.com/office/drawing/2014/main" id="{19DA019D-7911-217B-0AC7-E057A19B2D4E}"/>
              </a:ext>
            </a:extLst>
          </p:cNvPr>
          <p:cNvSpPr>
            <a:spLocks noGrp="1"/>
          </p:cNvSpPr>
          <p:nvPr>
            <p:ph type="sldNum" sz="quarter" idx="12"/>
          </p:nvPr>
        </p:nvSpPr>
        <p:spPr/>
        <p:txBody>
          <a:bodyPr/>
          <a:lstStyle/>
          <a:p>
            <a:fld id="{185439CA-FFDF-5E4A-B93F-5EEBFADE75DB}" type="slidenum">
              <a:rPr lang="sk-SK" smtClean="0"/>
              <a:t>‹#›</a:t>
            </a:fld>
            <a:endParaRPr lang="sk-SK"/>
          </a:p>
        </p:txBody>
      </p:sp>
    </p:spTree>
    <p:extLst>
      <p:ext uri="{BB962C8B-B14F-4D97-AF65-F5344CB8AC3E}">
        <p14:creationId xmlns:p14="http://schemas.microsoft.com/office/powerpoint/2010/main" val="4077268253"/>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Len nadpis">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FF554F05-4BE4-7CC6-E37A-3CE0F71F0F46}"/>
              </a:ext>
            </a:extLst>
          </p:cNvPr>
          <p:cNvSpPr>
            <a:spLocks noGrp="1"/>
          </p:cNvSpPr>
          <p:nvPr>
            <p:ph type="title"/>
          </p:nvPr>
        </p:nvSpPr>
        <p:spPr/>
        <p:txBody>
          <a:bodyPr/>
          <a:lstStyle/>
          <a:p>
            <a:r>
              <a:rPr lang="sk-SK"/>
              <a:t>Kliknutím upravte štýl predlohy nadpisu</a:t>
            </a:r>
          </a:p>
        </p:txBody>
      </p:sp>
      <p:sp>
        <p:nvSpPr>
          <p:cNvPr id="3" name="Zástupný objekt pre dátum 2">
            <a:extLst>
              <a:ext uri="{FF2B5EF4-FFF2-40B4-BE49-F238E27FC236}">
                <a16:creationId xmlns:a16="http://schemas.microsoft.com/office/drawing/2014/main" id="{3F28F065-693C-0EE5-D27F-1CCBCDC72835}"/>
              </a:ext>
            </a:extLst>
          </p:cNvPr>
          <p:cNvSpPr>
            <a:spLocks noGrp="1"/>
          </p:cNvSpPr>
          <p:nvPr>
            <p:ph type="dt" sz="half" idx="10"/>
          </p:nvPr>
        </p:nvSpPr>
        <p:spPr/>
        <p:txBody>
          <a:bodyPr/>
          <a:lstStyle/>
          <a:p>
            <a:fld id="{58DCA4B3-3C9E-E04F-B55D-F59C9BC1799F}" type="datetimeFigureOut">
              <a:rPr lang="sk-SK" smtClean="0"/>
              <a:t>10. 5. 2026</a:t>
            </a:fld>
            <a:endParaRPr lang="sk-SK"/>
          </a:p>
        </p:txBody>
      </p:sp>
      <p:sp>
        <p:nvSpPr>
          <p:cNvPr id="4" name="Zástupný objekt pre pätu 3">
            <a:extLst>
              <a:ext uri="{FF2B5EF4-FFF2-40B4-BE49-F238E27FC236}">
                <a16:creationId xmlns:a16="http://schemas.microsoft.com/office/drawing/2014/main" id="{E02B991B-7386-62F8-2510-E547D91C86EA}"/>
              </a:ext>
            </a:extLst>
          </p:cNvPr>
          <p:cNvSpPr>
            <a:spLocks noGrp="1"/>
          </p:cNvSpPr>
          <p:nvPr>
            <p:ph type="ftr" sz="quarter" idx="11"/>
          </p:nvPr>
        </p:nvSpPr>
        <p:spPr/>
        <p:txBody>
          <a:bodyPr/>
          <a:lstStyle/>
          <a:p>
            <a:endParaRPr lang="sk-SK"/>
          </a:p>
        </p:txBody>
      </p:sp>
      <p:sp>
        <p:nvSpPr>
          <p:cNvPr id="5" name="Zástupný objekt pre číslo snímky 4">
            <a:extLst>
              <a:ext uri="{FF2B5EF4-FFF2-40B4-BE49-F238E27FC236}">
                <a16:creationId xmlns:a16="http://schemas.microsoft.com/office/drawing/2014/main" id="{98B2E6C1-FA0A-C96C-E048-5675BA9C70B3}"/>
              </a:ext>
            </a:extLst>
          </p:cNvPr>
          <p:cNvSpPr>
            <a:spLocks noGrp="1"/>
          </p:cNvSpPr>
          <p:nvPr>
            <p:ph type="sldNum" sz="quarter" idx="12"/>
          </p:nvPr>
        </p:nvSpPr>
        <p:spPr/>
        <p:txBody>
          <a:bodyPr/>
          <a:lstStyle/>
          <a:p>
            <a:fld id="{185439CA-FFDF-5E4A-B93F-5EEBFADE75DB}" type="slidenum">
              <a:rPr lang="sk-SK" smtClean="0"/>
              <a:t>‹#›</a:t>
            </a:fld>
            <a:endParaRPr lang="sk-SK"/>
          </a:p>
        </p:txBody>
      </p:sp>
    </p:spTree>
    <p:extLst>
      <p:ext uri="{BB962C8B-B14F-4D97-AF65-F5344CB8AC3E}">
        <p14:creationId xmlns:p14="http://schemas.microsoft.com/office/powerpoint/2010/main" val="2827172160"/>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Prázdna">
    <p:spTree>
      <p:nvGrpSpPr>
        <p:cNvPr id="1" name=""/>
        <p:cNvGrpSpPr/>
        <p:nvPr/>
      </p:nvGrpSpPr>
      <p:grpSpPr>
        <a:xfrm>
          <a:off x="0" y="0"/>
          <a:ext cx="0" cy="0"/>
          <a:chOff x="0" y="0"/>
          <a:chExt cx="0" cy="0"/>
        </a:xfrm>
      </p:grpSpPr>
      <p:sp>
        <p:nvSpPr>
          <p:cNvPr id="2" name="Zástupný objekt pre dátum 1">
            <a:extLst>
              <a:ext uri="{FF2B5EF4-FFF2-40B4-BE49-F238E27FC236}">
                <a16:creationId xmlns:a16="http://schemas.microsoft.com/office/drawing/2014/main" id="{2D053EF2-E6D4-7C82-1BED-DFAB2631EB6D}"/>
              </a:ext>
            </a:extLst>
          </p:cNvPr>
          <p:cNvSpPr>
            <a:spLocks noGrp="1"/>
          </p:cNvSpPr>
          <p:nvPr>
            <p:ph type="dt" sz="half" idx="10"/>
          </p:nvPr>
        </p:nvSpPr>
        <p:spPr/>
        <p:txBody>
          <a:bodyPr/>
          <a:lstStyle/>
          <a:p>
            <a:fld id="{58DCA4B3-3C9E-E04F-B55D-F59C9BC1799F}" type="datetimeFigureOut">
              <a:rPr lang="sk-SK" smtClean="0"/>
              <a:t>10. 5. 2026</a:t>
            </a:fld>
            <a:endParaRPr lang="sk-SK"/>
          </a:p>
        </p:txBody>
      </p:sp>
      <p:sp>
        <p:nvSpPr>
          <p:cNvPr id="3" name="Zástupný objekt pre pätu 2">
            <a:extLst>
              <a:ext uri="{FF2B5EF4-FFF2-40B4-BE49-F238E27FC236}">
                <a16:creationId xmlns:a16="http://schemas.microsoft.com/office/drawing/2014/main" id="{80E0FA22-A281-8255-63E2-C9007CD67C0E}"/>
              </a:ext>
            </a:extLst>
          </p:cNvPr>
          <p:cNvSpPr>
            <a:spLocks noGrp="1"/>
          </p:cNvSpPr>
          <p:nvPr>
            <p:ph type="ftr" sz="quarter" idx="11"/>
          </p:nvPr>
        </p:nvSpPr>
        <p:spPr/>
        <p:txBody>
          <a:bodyPr/>
          <a:lstStyle/>
          <a:p>
            <a:endParaRPr lang="sk-SK"/>
          </a:p>
        </p:txBody>
      </p:sp>
      <p:sp>
        <p:nvSpPr>
          <p:cNvPr id="4" name="Zástupný objekt pre číslo snímky 3">
            <a:extLst>
              <a:ext uri="{FF2B5EF4-FFF2-40B4-BE49-F238E27FC236}">
                <a16:creationId xmlns:a16="http://schemas.microsoft.com/office/drawing/2014/main" id="{461B1FC1-8367-7E9F-5EA4-F6B4FD335978}"/>
              </a:ext>
            </a:extLst>
          </p:cNvPr>
          <p:cNvSpPr>
            <a:spLocks noGrp="1"/>
          </p:cNvSpPr>
          <p:nvPr>
            <p:ph type="sldNum" sz="quarter" idx="12"/>
          </p:nvPr>
        </p:nvSpPr>
        <p:spPr/>
        <p:txBody>
          <a:bodyPr/>
          <a:lstStyle/>
          <a:p>
            <a:fld id="{185439CA-FFDF-5E4A-B93F-5EEBFADE75DB}" type="slidenum">
              <a:rPr lang="sk-SK" smtClean="0"/>
              <a:t>‹#›</a:t>
            </a:fld>
            <a:endParaRPr lang="sk-SK"/>
          </a:p>
        </p:txBody>
      </p:sp>
    </p:spTree>
    <p:extLst>
      <p:ext uri="{BB962C8B-B14F-4D97-AF65-F5344CB8AC3E}">
        <p14:creationId xmlns:p14="http://schemas.microsoft.com/office/powerpoint/2010/main" val="2997129373"/>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Obsah s popisom">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764A415C-CE71-D47A-B15C-C8AE4540154F}"/>
              </a:ext>
            </a:extLst>
          </p:cNvPr>
          <p:cNvSpPr>
            <a:spLocks noGrp="1"/>
          </p:cNvSpPr>
          <p:nvPr>
            <p:ph type="title"/>
          </p:nvPr>
        </p:nvSpPr>
        <p:spPr>
          <a:xfrm>
            <a:off x="839788" y="457200"/>
            <a:ext cx="3932237" cy="1600200"/>
          </a:xfrm>
        </p:spPr>
        <p:txBody>
          <a:bodyPr anchor="b"/>
          <a:lstStyle>
            <a:lvl1pPr>
              <a:defRPr sz="3200"/>
            </a:lvl1pPr>
          </a:lstStyle>
          <a:p>
            <a:r>
              <a:rPr lang="sk-SK"/>
              <a:t>Kliknutím upravte štýl predlohy nadpisu</a:t>
            </a:r>
          </a:p>
        </p:txBody>
      </p:sp>
      <p:sp>
        <p:nvSpPr>
          <p:cNvPr id="3" name="Zástupný objekt pre obsah 2">
            <a:extLst>
              <a:ext uri="{FF2B5EF4-FFF2-40B4-BE49-F238E27FC236}">
                <a16:creationId xmlns:a16="http://schemas.microsoft.com/office/drawing/2014/main" id="{654B6308-1D7C-B32D-13B5-9786B1D61BE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sk-SK"/>
              <a:t>Kliknite sem a upravte štýly predlohy textu</a:t>
            </a:r>
          </a:p>
          <a:p>
            <a:pPr lvl="1"/>
            <a:r>
              <a:rPr lang="sk-SK"/>
              <a:t>Druhá úroveň</a:t>
            </a:r>
          </a:p>
          <a:p>
            <a:pPr lvl="2"/>
            <a:r>
              <a:rPr lang="sk-SK"/>
              <a:t>Tretia úroveň</a:t>
            </a:r>
          </a:p>
          <a:p>
            <a:pPr lvl="3"/>
            <a:r>
              <a:rPr lang="sk-SK"/>
              <a:t>Štvrtá úroveň</a:t>
            </a:r>
          </a:p>
          <a:p>
            <a:pPr lvl="4"/>
            <a:r>
              <a:rPr lang="sk-SK"/>
              <a:t>Piata úroveň</a:t>
            </a:r>
          </a:p>
        </p:txBody>
      </p:sp>
      <p:sp>
        <p:nvSpPr>
          <p:cNvPr id="4" name="Zástupný text 3">
            <a:extLst>
              <a:ext uri="{FF2B5EF4-FFF2-40B4-BE49-F238E27FC236}">
                <a16:creationId xmlns:a16="http://schemas.microsoft.com/office/drawing/2014/main" id="{A33EB404-BC26-02E4-B696-4DC4F765E34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sk-SK"/>
              <a:t>Kliknite sem a upravte štýly predlohy textu</a:t>
            </a:r>
          </a:p>
        </p:txBody>
      </p:sp>
      <p:sp>
        <p:nvSpPr>
          <p:cNvPr id="5" name="Zástupný objekt pre dátum 4">
            <a:extLst>
              <a:ext uri="{FF2B5EF4-FFF2-40B4-BE49-F238E27FC236}">
                <a16:creationId xmlns:a16="http://schemas.microsoft.com/office/drawing/2014/main" id="{20862442-19C1-BBE9-029E-CD24296EC5F2}"/>
              </a:ext>
            </a:extLst>
          </p:cNvPr>
          <p:cNvSpPr>
            <a:spLocks noGrp="1"/>
          </p:cNvSpPr>
          <p:nvPr>
            <p:ph type="dt" sz="half" idx="10"/>
          </p:nvPr>
        </p:nvSpPr>
        <p:spPr/>
        <p:txBody>
          <a:bodyPr/>
          <a:lstStyle/>
          <a:p>
            <a:fld id="{58DCA4B3-3C9E-E04F-B55D-F59C9BC1799F}" type="datetimeFigureOut">
              <a:rPr lang="sk-SK" smtClean="0"/>
              <a:t>10. 5. 2026</a:t>
            </a:fld>
            <a:endParaRPr lang="sk-SK"/>
          </a:p>
        </p:txBody>
      </p:sp>
      <p:sp>
        <p:nvSpPr>
          <p:cNvPr id="6" name="Zástupný objekt pre pätu 5">
            <a:extLst>
              <a:ext uri="{FF2B5EF4-FFF2-40B4-BE49-F238E27FC236}">
                <a16:creationId xmlns:a16="http://schemas.microsoft.com/office/drawing/2014/main" id="{6330443D-449C-5BB3-5AAF-EC740F0F8CBE}"/>
              </a:ext>
            </a:extLst>
          </p:cNvPr>
          <p:cNvSpPr>
            <a:spLocks noGrp="1"/>
          </p:cNvSpPr>
          <p:nvPr>
            <p:ph type="ftr" sz="quarter" idx="11"/>
          </p:nvPr>
        </p:nvSpPr>
        <p:spPr/>
        <p:txBody>
          <a:bodyPr/>
          <a:lstStyle/>
          <a:p>
            <a:endParaRPr lang="sk-SK"/>
          </a:p>
        </p:txBody>
      </p:sp>
      <p:sp>
        <p:nvSpPr>
          <p:cNvPr id="7" name="Zástupný objekt pre číslo snímky 6">
            <a:extLst>
              <a:ext uri="{FF2B5EF4-FFF2-40B4-BE49-F238E27FC236}">
                <a16:creationId xmlns:a16="http://schemas.microsoft.com/office/drawing/2014/main" id="{1451D085-BAF9-23D8-0CED-FEC415805A3F}"/>
              </a:ext>
            </a:extLst>
          </p:cNvPr>
          <p:cNvSpPr>
            <a:spLocks noGrp="1"/>
          </p:cNvSpPr>
          <p:nvPr>
            <p:ph type="sldNum" sz="quarter" idx="12"/>
          </p:nvPr>
        </p:nvSpPr>
        <p:spPr/>
        <p:txBody>
          <a:bodyPr/>
          <a:lstStyle/>
          <a:p>
            <a:fld id="{185439CA-FFDF-5E4A-B93F-5EEBFADE75DB}" type="slidenum">
              <a:rPr lang="sk-SK" smtClean="0"/>
              <a:t>‹#›</a:t>
            </a:fld>
            <a:endParaRPr lang="sk-SK"/>
          </a:p>
        </p:txBody>
      </p:sp>
    </p:spTree>
    <p:extLst>
      <p:ext uri="{BB962C8B-B14F-4D97-AF65-F5344CB8AC3E}">
        <p14:creationId xmlns:p14="http://schemas.microsoft.com/office/powerpoint/2010/main" val="192832349"/>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Obrázok s popisom">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22A455EC-C631-D3F7-2664-86FA236E9CD3}"/>
              </a:ext>
            </a:extLst>
          </p:cNvPr>
          <p:cNvSpPr>
            <a:spLocks noGrp="1"/>
          </p:cNvSpPr>
          <p:nvPr>
            <p:ph type="title"/>
          </p:nvPr>
        </p:nvSpPr>
        <p:spPr>
          <a:xfrm>
            <a:off x="839788" y="457200"/>
            <a:ext cx="3932237" cy="1600200"/>
          </a:xfrm>
        </p:spPr>
        <p:txBody>
          <a:bodyPr anchor="b"/>
          <a:lstStyle>
            <a:lvl1pPr>
              <a:defRPr sz="3200"/>
            </a:lvl1pPr>
          </a:lstStyle>
          <a:p>
            <a:r>
              <a:rPr lang="sk-SK"/>
              <a:t>Kliknutím upravte štýl predlohy nadpisu</a:t>
            </a:r>
          </a:p>
        </p:txBody>
      </p:sp>
      <p:sp>
        <p:nvSpPr>
          <p:cNvPr id="3" name="Zástupný objekt pre obrázok 2">
            <a:extLst>
              <a:ext uri="{FF2B5EF4-FFF2-40B4-BE49-F238E27FC236}">
                <a16:creationId xmlns:a16="http://schemas.microsoft.com/office/drawing/2014/main" id="{33A44B42-A83B-7745-44C1-E1F8D96CF71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sk-SK"/>
          </a:p>
        </p:txBody>
      </p:sp>
      <p:sp>
        <p:nvSpPr>
          <p:cNvPr id="4" name="Zástupný text 3">
            <a:extLst>
              <a:ext uri="{FF2B5EF4-FFF2-40B4-BE49-F238E27FC236}">
                <a16:creationId xmlns:a16="http://schemas.microsoft.com/office/drawing/2014/main" id="{DA4A74A0-1FA2-6A8E-95AF-5623EB08301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sk-SK"/>
              <a:t>Kliknite sem a upravte štýly predlohy textu</a:t>
            </a:r>
          </a:p>
        </p:txBody>
      </p:sp>
      <p:sp>
        <p:nvSpPr>
          <p:cNvPr id="5" name="Zástupný objekt pre dátum 4">
            <a:extLst>
              <a:ext uri="{FF2B5EF4-FFF2-40B4-BE49-F238E27FC236}">
                <a16:creationId xmlns:a16="http://schemas.microsoft.com/office/drawing/2014/main" id="{85389D4A-7ED0-3856-AA32-EAB5E5EB491E}"/>
              </a:ext>
            </a:extLst>
          </p:cNvPr>
          <p:cNvSpPr>
            <a:spLocks noGrp="1"/>
          </p:cNvSpPr>
          <p:nvPr>
            <p:ph type="dt" sz="half" idx="10"/>
          </p:nvPr>
        </p:nvSpPr>
        <p:spPr/>
        <p:txBody>
          <a:bodyPr/>
          <a:lstStyle/>
          <a:p>
            <a:fld id="{58DCA4B3-3C9E-E04F-B55D-F59C9BC1799F}" type="datetimeFigureOut">
              <a:rPr lang="sk-SK" smtClean="0"/>
              <a:t>10. 5. 2026</a:t>
            </a:fld>
            <a:endParaRPr lang="sk-SK"/>
          </a:p>
        </p:txBody>
      </p:sp>
      <p:sp>
        <p:nvSpPr>
          <p:cNvPr id="6" name="Zástupný objekt pre pätu 5">
            <a:extLst>
              <a:ext uri="{FF2B5EF4-FFF2-40B4-BE49-F238E27FC236}">
                <a16:creationId xmlns:a16="http://schemas.microsoft.com/office/drawing/2014/main" id="{A185337E-AB02-15E6-08B7-4A35D9558783}"/>
              </a:ext>
            </a:extLst>
          </p:cNvPr>
          <p:cNvSpPr>
            <a:spLocks noGrp="1"/>
          </p:cNvSpPr>
          <p:nvPr>
            <p:ph type="ftr" sz="quarter" idx="11"/>
          </p:nvPr>
        </p:nvSpPr>
        <p:spPr/>
        <p:txBody>
          <a:bodyPr/>
          <a:lstStyle/>
          <a:p>
            <a:endParaRPr lang="sk-SK"/>
          </a:p>
        </p:txBody>
      </p:sp>
      <p:sp>
        <p:nvSpPr>
          <p:cNvPr id="7" name="Zástupný objekt pre číslo snímky 6">
            <a:extLst>
              <a:ext uri="{FF2B5EF4-FFF2-40B4-BE49-F238E27FC236}">
                <a16:creationId xmlns:a16="http://schemas.microsoft.com/office/drawing/2014/main" id="{80F0ECB7-7450-8A56-54F6-CC987FF798D4}"/>
              </a:ext>
            </a:extLst>
          </p:cNvPr>
          <p:cNvSpPr>
            <a:spLocks noGrp="1"/>
          </p:cNvSpPr>
          <p:nvPr>
            <p:ph type="sldNum" sz="quarter" idx="12"/>
          </p:nvPr>
        </p:nvSpPr>
        <p:spPr/>
        <p:txBody>
          <a:bodyPr/>
          <a:lstStyle/>
          <a:p>
            <a:fld id="{185439CA-FFDF-5E4A-B93F-5EEBFADE75DB}" type="slidenum">
              <a:rPr lang="sk-SK" smtClean="0"/>
              <a:t>‹#›</a:t>
            </a:fld>
            <a:endParaRPr lang="sk-SK"/>
          </a:p>
        </p:txBody>
      </p:sp>
    </p:spTree>
    <p:extLst>
      <p:ext uri="{BB962C8B-B14F-4D97-AF65-F5344CB8AC3E}">
        <p14:creationId xmlns:p14="http://schemas.microsoft.com/office/powerpoint/2010/main" val="3641350989"/>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Nadpis a zvislý text">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2D28887E-DCD2-AA9C-91E1-0661E81774CB}"/>
              </a:ext>
            </a:extLst>
          </p:cNvPr>
          <p:cNvSpPr>
            <a:spLocks noGrp="1"/>
          </p:cNvSpPr>
          <p:nvPr>
            <p:ph type="title"/>
          </p:nvPr>
        </p:nvSpPr>
        <p:spPr/>
        <p:txBody>
          <a:bodyPr/>
          <a:lstStyle/>
          <a:p>
            <a:r>
              <a:rPr lang="sk-SK"/>
              <a:t>Kliknutím upravte štýl predlohy nadpisu</a:t>
            </a:r>
          </a:p>
        </p:txBody>
      </p:sp>
      <p:sp>
        <p:nvSpPr>
          <p:cNvPr id="3" name="Zástupný zvislý text 2">
            <a:extLst>
              <a:ext uri="{FF2B5EF4-FFF2-40B4-BE49-F238E27FC236}">
                <a16:creationId xmlns:a16="http://schemas.microsoft.com/office/drawing/2014/main" id="{4BA7269E-A8A8-9016-160E-3ABDB248571C}"/>
              </a:ext>
            </a:extLst>
          </p:cNvPr>
          <p:cNvSpPr>
            <a:spLocks noGrp="1"/>
          </p:cNvSpPr>
          <p:nvPr>
            <p:ph type="body" orient="vert" idx="1"/>
          </p:nvPr>
        </p:nvSpPr>
        <p:spPr/>
        <p:txBody>
          <a:bodyPr vert="eaVert"/>
          <a:lstStyle/>
          <a:p>
            <a:pPr lvl="0"/>
            <a:r>
              <a:rPr lang="sk-SK"/>
              <a:t>Kliknite sem a upravte štýly predlohy textu</a:t>
            </a:r>
          </a:p>
          <a:p>
            <a:pPr lvl="1"/>
            <a:r>
              <a:rPr lang="sk-SK"/>
              <a:t>Druhá úroveň</a:t>
            </a:r>
          </a:p>
          <a:p>
            <a:pPr lvl="2"/>
            <a:r>
              <a:rPr lang="sk-SK"/>
              <a:t>Tretia úroveň</a:t>
            </a:r>
          </a:p>
          <a:p>
            <a:pPr lvl="3"/>
            <a:r>
              <a:rPr lang="sk-SK"/>
              <a:t>Štvrtá úroveň</a:t>
            </a:r>
          </a:p>
          <a:p>
            <a:pPr lvl="4"/>
            <a:r>
              <a:rPr lang="sk-SK"/>
              <a:t>Piata úroveň</a:t>
            </a:r>
          </a:p>
        </p:txBody>
      </p:sp>
      <p:sp>
        <p:nvSpPr>
          <p:cNvPr id="4" name="Zástupný objekt pre dátum 3">
            <a:extLst>
              <a:ext uri="{FF2B5EF4-FFF2-40B4-BE49-F238E27FC236}">
                <a16:creationId xmlns:a16="http://schemas.microsoft.com/office/drawing/2014/main" id="{0D704455-A11E-6528-B7A5-AE144BF0D3A9}"/>
              </a:ext>
            </a:extLst>
          </p:cNvPr>
          <p:cNvSpPr>
            <a:spLocks noGrp="1"/>
          </p:cNvSpPr>
          <p:nvPr>
            <p:ph type="dt" sz="half" idx="10"/>
          </p:nvPr>
        </p:nvSpPr>
        <p:spPr/>
        <p:txBody>
          <a:bodyPr/>
          <a:lstStyle/>
          <a:p>
            <a:fld id="{58DCA4B3-3C9E-E04F-B55D-F59C9BC1799F}" type="datetimeFigureOut">
              <a:rPr lang="sk-SK" smtClean="0"/>
              <a:t>10. 5. 2026</a:t>
            </a:fld>
            <a:endParaRPr lang="sk-SK"/>
          </a:p>
        </p:txBody>
      </p:sp>
      <p:sp>
        <p:nvSpPr>
          <p:cNvPr id="5" name="Zástupný objekt pre pätu 4">
            <a:extLst>
              <a:ext uri="{FF2B5EF4-FFF2-40B4-BE49-F238E27FC236}">
                <a16:creationId xmlns:a16="http://schemas.microsoft.com/office/drawing/2014/main" id="{A89C664A-F647-DC25-6121-E1237316FC67}"/>
              </a:ext>
            </a:extLst>
          </p:cNvPr>
          <p:cNvSpPr>
            <a:spLocks noGrp="1"/>
          </p:cNvSpPr>
          <p:nvPr>
            <p:ph type="ftr" sz="quarter" idx="11"/>
          </p:nvPr>
        </p:nvSpPr>
        <p:spPr/>
        <p:txBody>
          <a:bodyPr/>
          <a:lstStyle/>
          <a:p>
            <a:endParaRPr lang="sk-SK"/>
          </a:p>
        </p:txBody>
      </p:sp>
      <p:sp>
        <p:nvSpPr>
          <p:cNvPr id="6" name="Zástupný objekt pre číslo snímky 5">
            <a:extLst>
              <a:ext uri="{FF2B5EF4-FFF2-40B4-BE49-F238E27FC236}">
                <a16:creationId xmlns:a16="http://schemas.microsoft.com/office/drawing/2014/main" id="{EED1534D-6F89-E844-F2D9-15F65EDE0A8A}"/>
              </a:ext>
            </a:extLst>
          </p:cNvPr>
          <p:cNvSpPr>
            <a:spLocks noGrp="1"/>
          </p:cNvSpPr>
          <p:nvPr>
            <p:ph type="sldNum" sz="quarter" idx="12"/>
          </p:nvPr>
        </p:nvSpPr>
        <p:spPr/>
        <p:txBody>
          <a:bodyPr/>
          <a:lstStyle/>
          <a:p>
            <a:fld id="{185439CA-FFDF-5E4A-B93F-5EEBFADE75DB}" type="slidenum">
              <a:rPr lang="sk-SK" smtClean="0"/>
              <a:t>‹#›</a:t>
            </a:fld>
            <a:endParaRPr lang="sk-SK"/>
          </a:p>
        </p:txBody>
      </p:sp>
    </p:spTree>
    <p:extLst>
      <p:ext uri="{BB962C8B-B14F-4D97-AF65-F5344CB8AC3E}">
        <p14:creationId xmlns:p14="http://schemas.microsoft.com/office/powerpoint/2010/main" val="794850888"/>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Zvislý nadpis a text">
    <p:spTree>
      <p:nvGrpSpPr>
        <p:cNvPr id="1" name=""/>
        <p:cNvGrpSpPr/>
        <p:nvPr/>
      </p:nvGrpSpPr>
      <p:grpSpPr>
        <a:xfrm>
          <a:off x="0" y="0"/>
          <a:ext cx="0" cy="0"/>
          <a:chOff x="0" y="0"/>
          <a:chExt cx="0" cy="0"/>
        </a:xfrm>
      </p:grpSpPr>
      <p:sp>
        <p:nvSpPr>
          <p:cNvPr id="2" name="Zvislý nadpis 1">
            <a:extLst>
              <a:ext uri="{FF2B5EF4-FFF2-40B4-BE49-F238E27FC236}">
                <a16:creationId xmlns:a16="http://schemas.microsoft.com/office/drawing/2014/main" id="{A7ED57BC-D467-9856-360D-40FD10FB1E84}"/>
              </a:ext>
            </a:extLst>
          </p:cNvPr>
          <p:cNvSpPr>
            <a:spLocks noGrp="1"/>
          </p:cNvSpPr>
          <p:nvPr>
            <p:ph type="title" orient="vert"/>
          </p:nvPr>
        </p:nvSpPr>
        <p:spPr>
          <a:xfrm>
            <a:off x="8724900" y="365125"/>
            <a:ext cx="2628900" cy="5811838"/>
          </a:xfrm>
        </p:spPr>
        <p:txBody>
          <a:bodyPr vert="eaVert"/>
          <a:lstStyle/>
          <a:p>
            <a:r>
              <a:rPr lang="sk-SK"/>
              <a:t>Kliknutím upravte štýl predlohy nadpisu</a:t>
            </a:r>
          </a:p>
        </p:txBody>
      </p:sp>
      <p:sp>
        <p:nvSpPr>
          <p:cNvPr id="3" name="Zástupný zvislý text 2">
            <a:extLst>
              <a:ext uri="{FF2B5EF4-FFF2-40B4-BE49-F238E27FC236}">
                <a16:creationId xmlns:a16="http://schemas.microsoft.com/office/drawing/2014/main" id="{57803AF7-C7BA-8D39-E5B2-F3DB542BF82D}"/>
              </a:ext>
            </a:extLst>
          </p:cNvPr>
          <p:cNvSpPr>
            <a:spLocks noGrp="1"/>
          </p:cNvSpPr>
          <p:nvPr>
            <p:ph type="body" orient="vert" idx="1"/>
          </p:nvPr>
        </p:nvSpPr>
        <p:spPr>
          <a:xfrm>
            <a:off x="838200" y="365125"/>
            <a:ext cx="7734300" cy="5811838"/>
          </a:xfrm>
        </p:spPr>
        <p:txBody>
          <a:bodyPr vert="eaVert"/>
          <a:lstStyle/>
          <a:p>
            <a:pPr lvl="0"/>
            <a:r>
              <a:rPr lang="sk-SK"/>
              <a:t>Kliknite sem a upravte štýly predlohy textu</a:t>
            </a:r>
          </a:p>
          <a:p>
            <a:pPr lvl="1"/>
            <a:r>
              <a:rPr lang="sk-SK"/>
              <a:t>Druhá úroveň</a:t>
            </a:r>
          </a:p>
          <a:p>
            <a:pPr lvl="2"/>
            <a:r>
              <a:rPr lang="sk-SK"/>
              <a:t>Tretia úroveň</a:t>
            </a:r>
          </a:p>
          <a:p>
            <a:pPr lvl="3"/>
            <a:r>
              <a:rPr lang="sk-SK"/>
              <a:t>Štvrtá úroveň</a:t>
            </a:r>
          </a:p>
          <a:p>
            <a:pPr lvl="4"/>
            <a:r>
              <a:rPr lang="sk-SK"/>
              <a:t>Piata úroveň</a:t>
            </a:r>
          </a:p>
        </p:txBody>
      </p:sp>
      <p:sp>
        <p:nvSpPr>
          <p:cNvPr id="4" name="Zástupný objekt pre dátum 3">
            <a:extLst>
              <a:ext uri="{FF2B5EF4-FFF2-40B4-BE49-F238E27FC236}">
                <a16:creationId xmlns:a16="http://schemas.microsoft.com/office/drawing/2014/main" id="{ACB0603B-D8E5-5779-4424-2C143440D902}"/>
              </a:ext>
            </a:extLst>
          </p:cNvPr>
          <p:cNvSpPr>
            <a:spLocks noGrp="1"/>
          </p:cNvSpPr>
          <p:nvPr>
            <p:ph type="dt" sz="half" idx="10"/>
          </p:nvPr>
        </p:nvSpPr>
        <p:spPr/>
        <p:txBody>
          <a:bodyPr/>
          <a:lstStyle/>
          <a:p>
            <a:fld id="{58DCA4B3-3C9E-E04F-B55D-F59C9BC1799F}" type="datetimeFigureOut">
              <a:rPr lang="sk-SK" smtClean="0"/>
              <a:t>10. 5. 2026</a:t>
            </a:fld>
            <a:endParaRPr lang="sk-SK"/>
          </a:p>
        </p:txBody>
      </p:sp>
      <p:sp>
        <p:nvSpPr>
          <p:cNvPr id="5" name="Zástupný objekt pre pätu 4">
            <a:extLst>
              <a:ext uri="{FF2B5EF4-FFF2-40B4-BE49-F238E27FC236}">
                <a16:creationId xmlns:a16="http://schemas.microsoft.com/office/drawing/2014/main" id="{B5FB7FEF-B13B-AA5F-B31C-16087B377BB8}"/>
              </a:ext>
            </a:extLst>
          </p:cNvPr>
          <p:cNvSpPr>
            <a:spLocks noGrp="1"/>
          </p:cNvSpPr>
          <p:nvPr>
            <p:ph type="ftr" sz="quarter" idx="11"/>
          </p:nvPr>
        </p:nvSpPr>
        <p:spPr/>
        <p:txBody>
          <a:bodyPr/>
          <a:lstStyle/>
          <a:p>
            <a:endParaRPr lang="sk-SK"/>
          </a:p>
        </p:txBody>
      </p:sp>
      <p:sp>
        <p:nvSpPr>
          <p:cNvPr id="6" name="Zástupný objekt pre číslo snímky 5">
            <a:extLst>
              <a:ext uri="{FF2B5EF4-FFF2-40B4-BE49-F238E27FC236}">
                <a16:creationId xmlns:a16="http://schemas.microsoft.com/office/drawing/2014/main" id="{C939CB95-EDB0-5F0C-C2B9-44FDD720EC78}"/>
              </a:ext>
            </a:extLst>
          </p:cNvPr>
          <p:cNvSpPr>
            <a:spLocks noGrp="1"/>
          </p:cNvSpPr>
          <p:nvPr>
            <p:ph type="sldNum" sz="quarter" idx="12"/>
          </p:nvPr>
        </p:nvSpPr>
        <p:spPr/>
        <p:txBody>
          <a:bodyPr/>
          <a:lstStyle/>
          <a:p>
            <a:fld id="{185439CA-FFDF-5E4A-B93F-5EEBFADE75DB}" type="slidenum">
              <a:rPr lang="sk-SK" smtClean="0"/>
              <a:t>‹#›</a:t>
            </a:fld>
            <a:endParaRPr lang="sk-SK"/>
          </a:p>
        </p:txBody>
      </p:sp>
    </p:spTree>
    <p:extLst>
      <p:ext uri="{BB962C8B-B14F-4D97-AF65-F5344CB8AC3E}">
        <p14:creationId xmlns:p14="http://schemas.microsoft.com/office/powerpoint/2010/main" val="543980993"/>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Zástupný objekt pre nadpis 1">
            <a:extLst>
              <a:ext uri="{FF2B5EF4-FFF2-40B4-BE49-F238E27FC236}">
                <a16:creationId xmlns:a16="http://schemas.microsoft.com/office/drawing/2014/main" id="{F7345FE0-5365-00A5-2D94-AAD1336C905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sk-SK"/>
              <a:t>Kliknutím upravte štýl predlohy nadpisu</a:t>
            </a:r>
          </a:p>
        </p:txBody>
      </p:sp>
      <p:sp>
        <p:nvSpPr>
          <p:cNvPr id="3" name="Zástupný text 2">
            <a:extLst>
              <a:ext uri="{FF2B5EF4-FFF2-40B4-BE49-F238E27FC236}">
                <a16:creationId xmlns:a16="http://schemas.microsoft.com/office/drawing/2014/main" id="{A384122A-D192-1A0F-A72F-1323A0B4B8A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sk-SK"/>
              <a:t>Kliknite sem a upravte štýly predlohy textu</a:t>
            </a:r>
          </a:p>
          <a:p>
            <a:pPr lvl="1"/>
            <a:r>
              <a:rPr lang="sk-SK"/>
              <a:t>Druhá úroveň</a:t>
            </a:r>
          </a:p>
          <a:p>
            <a:pPr lvl="2"/>
            <a:r>
              <a:rPr lang="sk-SK"/>
              <a:t>Tretia úroveň</a:t>
            </a:r>
          </a:p>
          <a:p>
            <a:pPr lvl="3"/>
            <a:r>
              <a:rPr lang="sk-SK"/>
              <a:t>Štvrtá úroveň</a:t>
            </a:r>
          </a:p>
          <a:p>
            <a:pPr lvl="4"/>
            <a:r>
              <a:rPr lang="sk-SK"/>
              <a:t>Piata úroveň</a:t>
            </a:r>
          </a:p>
        </p:txBody>
      </p:sp>
      <p:sp>
        <p:nvSpPr>
          <p:cNvPr id="4" name="Zástupný objekt pre dátum 3">
            <a:extLst>
              <a:ext uri="{FF2B5EF4-FFF2-40B4-BE49-F238E27FC236}">
                <a16:creationId xmlns:a16="http://schemas.microsoft.com/office/drawing/2014/main" id="{C3231574-EF41-D96C-E8C6-9843FC7EC71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8DCA4B3-3C9E-E04F-B55D-F59C9BC1799F}" type="datetimeFigureOut">
              <a:rPr lang="sk-SK" smtClean="0"/>
              <a:t>10. 5. 2026</a:t>
            </a:fld>
            <a:endParaRPr lang="sk-SK"/>
          </a:p>
        </p:txBody>
      </p:sp>
      <p:sp>
        <p:nvSpPr>
          <p:cNvPr id="5" name="Zástupný objekt pre pätu 4">
            <a:extLst>
              <a:ext uri="{FF2B5EF4-FFF2-40B4-BE49-F238E27FC236}">
                <a16:creationId xmlns:a16="http://schemas.microsoft.com/office/drawing/2014/main" id="{9872F2ED-1AFA-780C-EF00-8299B82EE63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sk-SK"/>
          </a:p>
        </p:txBody>
      </p:sp>
      <p:sp>
        <p:nvSpPr>
          <p:cNvPr id="6" name="Zástupný objekt pre číslo snímky 5">
            <a:extLst>
              <a:ext uri="{FF2B5EF4-FFF2-40B4-BE49-F238E27FC236}">
                <a16:creationId xmlns:a16="http://schemas.microsoft.com/office/drawing/2014/main" id="{9487BEC2-0D74-D203-B439-D47036AD77E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85439CA-FFDF-5E4A-B93F-5EEBFADE75DB}" type="slidenum">
              <a:rPr lang="sk-SK" smtClean="0"/>
              <a:t>‹#›</a:t>
            </a:fld>
            <a:endParaRPr lang="sk-SK"/>
          </a:p>
        </p:txBody>
      </p:sp>
    </p:spTree>
    <p:extLst>
      <p:ext uri="{BB962C8B-B14F-4D97-AF65-F5344CB8AC3E}">
        <p14:creationId xmlns:p14="http://schemas.microsoft.com/office/powerpoint/2010/main" val="368775155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sk-S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7" name="Rectangle 6"/>
          <p:cNvSpPr/>
          <p:nvPr/>
        </p:nvSpPr>
        <p:spPr>
          <a:xfrm>
            <a:off x="3474720" y="3584448"/>
            <a:ext cx="5212080" cy="25400"/>
          </a:xfrm>
          <a:prstGeom prst="rect">
            <a:avLst/>
          </a:prstGeom>
          <a:solidFill>
            <a:srgbClr val="3949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1188720" y="3840480"/>
            <a:ext cx="3200400" cy="960120"/>
          </a:xfrm>
          <a:prstGeom prst="rect">
            <a:avLst/>
          </a:prstGeom>
          <a:solidFill>
            <a:srgbClr val="303F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280160" y="3886200"/>
            <a:ext cx="3017520" cy="246221"/>
          </a:xfrm>
          <a:prstGeom prst="rect">
            <a:avLst/>
          </a:prstGeom>
          <a:noFill/>
        </p:spPr>
        <p:txBody>
          <a:bodyPr wrap="square">
            <a:spAutoFit/>
          </a:bodyPr>
          <a:lstStyle/>
          <a:p>
            <a:pPr algn="ctr"/>
            <a:r>
              <a:rPr sz="1000" b="0" i="0" dirty="0">
                <a:solidFill>
                  <a:srgbClr val="C5CAE9"/>
                </a:solidFill>
              </a:rPr>
              <a:t>DATASET</a:t>
            </a:r>
            <a:endParaRPr sz="800" b="0" i="0" dirty="0">
              <a:solidFill>
                <a:srgbClr val="C5CAE9"/>
              </a:solidFill>
            </a:endParaRPr>
          </a:p>
        </p:txBody>
      </p:sp>
      <p:sp>
        <p:nvSpPr>
          <p:cNvPr id="10" name="TextBox 9"/>
          <p:cNvSpPr txBox="1"/>
          <p:nvPr/>
        </p:nvSpPr>
        <p:spPr>
          <a:xfrm>
            <a:off x="1280160" y="4241581"/>
            <a:ext cx="3017520" cy="502920"/>
          </a:xfrm>
          <a:prstGeom prst="rect">
            <a:avLst/>
          </a:prstGeom>
          <a:noFill/>
        </p:spPr>
        <p:txBody>
          <a:bodyPr wrap="square">
            <a:spAutoFit/>
          </a:bodyPr>
          <a:lstStyle/>
          <a:p>
            <a:pPr algn="ctr"/>
            <a:r>
              <a:rPr sz="1800" b="1" i="0" dirty="0">
                <a:solidFill>
                  <a:srgbClr val="FFFFFF"/>
                </a:solidFill>
              </a:rPr>
              <a:t>meteo_data_raw.csv</a:t>
            </a:r>
          </a:p>
        </p:txBody>
      </p:sp>
      <p:sp>
        <p:nvSpPr>
          <p:cNvPr id="11" name="Rectangle 10"/>
          <p:cNvSpPr/>
          <p:nvPr/>
        </p:nvSpPr>
        <p:spPr>
          <a:xfrm>
            <a:off x="4754880" y="3840480"/>
            <a:ext cx="3200400" cy="960120"/>
          </a:xfrm>
          <a:prstGeom prst="rect">
            <a:avLst/>
          </a:prstGeom>
          <a:solidFill>
            <a:srgbClr val="303F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846320" y="3886200"/>
            <a:ext cx="3017520" cy="246221"/>
          </a:xfrm>
          <a:prstGeom prst="rect">
            <a:avLst/>
          </a:prstGeom>
          <a:noFill/>
        </p:spPr>
        <p:txBody>
          <a:bodyPr wrap="square">
            <a:spAutoFit/>
          </a:bodyPr>
          <a:lstStyle/>
          <a:p>
            <a:pPr algn="ctr"/>
            <a:r>
              <a:rPr sz="1000" b="0" i="0" dirty="0">
                <a:solidFill>
                  <a:srgbClr val="C5CAE9"/>
                </a:solidFill>
              </a:rPr>
              <a:t>VZORIEK</a:t>
            </a:r>
            <a:endParaRPr sz="800" b="0" i="0" dirty="0">
              <a:solidFill>
                <a:srgbClr val="C5CAE9"/>
              </a:solidFill>
            </a:endParaRPr>
          </a:p>
        </p:txBody>
      </p:sp>
      <p:sp>
        <p:nvSpPr>
          <p:cNvPr id="13" name="TextBox 12"/>
          <p:cNvSpPr txBox="1"/>
          <p:nvPr/>
        </p:nvSpPr>
        <p:spPr>
          <a:xfrm>
            <a:off x="4846320" y="4227088"/>
            <a:ext cx="3017520" cy="502920"/>
          </a:xfrm>
          <a:prstGeom prst="rect">
            <a:avLst/>
          </a:prstGeom>
          <a:noFill/>
        </p:spPr>
        <p:txBody>
          <a:bodyPr wrap="square">
            <a:spAutoFit/>
          </a:bodyPr>
          <a:lstStyle/>
          <a:p>
            <a:pPr algn="ctr"/>
            <a:r>
              <a:rPr sz="1800" b="1" i="0" dirty="0">
                <a:solidFill>
                  <a:srgbClr val="FFFFFF"/>
                </a:solidFill>
              </a:rPr>
              <a:t>25 600</a:t>
            </a:r>
          </a:p>
        </p:txBody>
      </p:sp>
      <p:sp>
        <p:nvSpPr>
          <p:cNvPr id="14" name="Rectangle 13"/>
          <p:cNvSpPr/>
          <p:nvPr/>
        </p:nvSpPr>
        <p:spPr>
          <a:xfrm>
            <a:off x="8321040" y="3840480"/>
            <a:ext cx="3200400" cy="960120"/>
          </a:xfrm>
          <a:prstGeom prst="rect">
            <a:avLst/>
          </a:prstGeom>
          <a:solidFill>
            <a:srgbClr val="303F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412480" y="3886200"/>
            <a:ext cx="3017520" cy="246221"/>
          </a:xfrm>
          <a:prstGeom prst="rect">
            <a:avLst/>
          </a:prstGeom>
          <a:noFill/>
        </p:spPr>
        <p:txBody>
          <a:bodyPr wrap="square">
            <a:spAutoFit/>
          </a:bodyPr>
          <a:lstStyle/>
          <a:p>
            <a:pPr algn="ctr"/>
            <a:r>
              <a:rPr sz="1000" b="0" i="0">
                <a:solidFill>
                  <a:srgbClr val="C5CAE9"/>
                </a:solidFill>
              </a:rPr>
              <a:t>PARAMETROV</a:t>
            </a:r>
          </a:p>
        </p:txBody>
      </p:sp>
      <p:sp>
        <p:nvSpPr>
          <p:cNvPr id="16" name="TextBox 15"/>
          <p:cNvSpPr txBox="1"/>
          <p:nvPr/>
        </p:nvSpPr>
        <p:spPr>
          <a:xfrm>
            <a:off x="8412480" y="4241581"/>
            <a:ext cx="3017520" cy="502920"/>
          </a:xfrm>
          <a:prstGeom prst="rect">
            <a:avLst/>
          </a:prstGeom>
          <a:noFill/>
        </p:spPr>
        <p:txBody>
          <a:bodyPr wrap="square">
            <a:spAutoFit/>
          </a:bodyPr>
          <a:lstStyle/>
          <a:p>
            <a:pPr algn="ctr"/>
            <a:r>
              <a:rPr sz="1800" b="1" i="0">
                <a:solidFill>
                  <a:srgbClr val="FFFFFF"/>
                </a:solidFill>
              </a:rPr>
              <a:t>18</a:t>
            </a:r>
          </a:p>
        </p:txBody>
      </p:sp>
      <p:sp>
        <p:nvSpPr>
          <p:cNvPr id="17" name="BlokTextu 16">
            <a:extLst>
              <a:ext uri="{FF2B5EF4-FFF2-40B4-BE49-F238E27FC236}">
                <a16:creationId xmlns:a16="http://schemas.microsoft.com/office/drawing/2014/main" id="{C5E0BA7A-3C04-D236-42F5-B820648B5545}"/>
              </a:ext>
            </a:extLst>
          </p:cNvPr>
          <p:cNvSpPr txBox="1"/>
          <p:nvPr/>
        </p:nvSpPr>
        <p:spPr>
          <a:xfrm>
            <a:off x="2244735" y="1290728"/>
            <a:ext cx="7372712" cy="1200329"/>
          </a:xfrm>
          <a:prstGeom prst="rect">
            <a:avLst/>
          </a:prstGeom>
          <a:noFill/>
        </p:spPr>
        <p:txBody>
          <a:bodyPr wrap="square" rtlCol="0">
            <a:spAutoFit/>
          </a:bodyPr>
          <a:lstStyle/>
          <a:p>
            <a:pPr algn="ctr"/>
            <a:r>
              <a:rPr lang="sk-SK" sz="3600" b="1" dirty="0">
                <a:solidFill>
                  <a:schemeClr val="bg1"/>
                </a:solidFill>
              </a:rPr>
              <a:t>Štatistická analýza meteorologických dát</a:t>
            </a:r>
          </a:p>
        </p:txBody>
      </p:sp>
      <p:sp>
        <p:nvSpPr>
          <p:cNvPr id="18" name="BlokTextu 17">
            <a:extLst>
              <a:ext uri="{FF2B5EF4-FFF2-40B4-BE49-F238E27FC236}">
                <a16:creationId xmlns:a16="http://schemas.microsoft.com/office/drawing/2014/main" id="{E1541E03-32F8-FA19-6136-85BD1840D857}"/>
              </a:ext>
            </a:extLst>
          </p:cNvPr>
          <p:cNvSpPr txBox="1"/>
          <p:nvPr/>
        </p:nvSpPr>
        <p:spPr>
          <a:xfrm>
            <a:off x="5931091" y="6067168"/>
            <a:ext cx="6787978" cy="400110"/>
          </a:xfrm>
          <a:prstGeom prst="rect">
            <a:avLst/>
          </a:prstGeom>
          <a:noFill/>
        </p:spPr>
        <p:txBody>
          <a:bodyPr wrap="square" rtlCol="0">
            <a:spAutoFit/>
          </a:bodyPr>
          <a:lstStyle/>
          <a:p>
            <a:pPr algn="ctr"/>
            <a:r>
              <a:rPr lang="sk-SK" sz="2000" dirty="0">
                <a:solidFill>
                  <a:schemeClr val="bg1"/>
                </a:solidFill>
              </a:rPr>
              <a:t>Bc. Matej </a:t>
            </a:r>
            <a:r>
              <a:rPr lang="sk-SK" sz="2000" dirty="0" err="1">
                <a:solidFill>
                  <a:schemeClr val="bg1"/>
                </a:solidFill>
              </a:rPr>
              <a:t>Režnák</a:t>
            </a:r>
            <a:r>
              <a:rPr lang="sk-SK" sz="2000" dirty="0">
                <a:solidFill>
                  <a:schemeClr val="bg1"/>
                </a:solidFill>
              </a:rPr>
              <a:t>, Bc. Tomáš Varmuža</a:t>
            </a:r>
          </a:p>
        </p:txBody>
      </p:sp>
      <p:sp>
        <p:nvSpPr>
          <p:cNvPr id="19" name="BlokTextu 18">
            <a:extLst>
              <a:ext uri="{FF2B5EF4-FFF2-40B4-BE49-F238E27FC236}">
                <a16:creationId xmlns:a16="http://schemas.microsoft.com/office/drawing/2014/main" id="{ABD478AA-0BF1-819A-2ED7-C6ECF467E40B}"/>
              </a:ext>
            </a:extLst>
          </p:cNvPr>
          <p:cNvSpPr txBox="1"/>
          <p:nvPr/>
        </p:nvSpPr>
        <p:spPr>
          <a:xfrm>
            <a:off x="2701858" y="3080516"/>
            <a:ext cx="6787978" cy="369332"/>
          </a:xfrm>
          <a:prstGeom prst="rect">
            <a:avLst/>
          </a:prstGeom>
          <a:noFill/>
        </p:spPr>
        <p:txBody>
          <a:bodyPr wrap="square" rtlCol="0">
            <a:spAutoFit/>
          </a:bodyPr>
          <a:lstStyle/>
          <a:p>
            <a:pPr algn="ctr"/>
            <a:r>
              <a:rPr lang="sk-SK" dirty="0">
                <a:solidFill>
                  <a:schemeClr val="bg1"/>
                </a:solidFill>
              </a:rPr>
              <a:t>MKR – Semestrálne zadanie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201167"/>
            <a:ext cx="349776" cy="461665"/>
          </a:xfrm>
          <a:prstGeom prst="rect">
            <a:avLst/>
          </a:prstGeom>
          <a:noFill/>
        </p:spPr>
        <p:txBody>
          <a:bodyPr wrap="none">
            <a:spAutoFit/>
          </a:bodyPr>
          <a:lstStyle/>
          <a:p>
            <a:pPr algn="ctr"/>
            <a:r>
              <a:rPr sz="2400" b="1">
                <a:solidFill>
                  <a:srgbClr val="FFFFFF"/>
                </a:solidFill>
              </a:rPr>
              <a:t>2</a:t>
            </a:r>
          </a:p>
        </p:txBody>
      </p:sp>
      <p:sp>
        <p:nvSpPr>
          <p:cNvPr id="4" name="TextBox 3"/>
          <p:cNvSpPr txBox="1"/>
          <p:nvPr/>
        </p:nvSpPr>
        <p:spPr>
          <a:xfrm>
            <a:off x="822960" y="201168"/>
            <a:ext cx="3352456" cy="461665"/>
          </a:xfrm>
          <a:prstGeom prst="rect">
            <a:avLst/>
          </a:prstGeom>
          <a:noFill/>
        </p:spPr>
        <p:txBody>
          <a:bodyPr wrap="none">
            <a:spAutoFit/>
          </a:bodyPr>
          <a:lstStyle/>
          <a:p>
            <a:pPr algn="l"/>
            <a:r>
              <a:rPr sz="2400" b="1" dirty="0" err="1">
                <a:solidFill>
                  <a:srgbClr val="FFFFFF"/>
                </a:solidFill>
              </a:rPr>
              <a:t>Zadanie</a:t>
            </a:r>
            <a:r>
              <a:rPr sz="2400" b="1" dirty="0">
                <a:solidFill>
                  <a:srgbClr val="FFFFFF"/>
                </a:solidFill>
              </a:rPr>
              <a:t> a </a:t>
            </a:r>
            <a:r>
              <a:rPr sz="2400" b="1" dirty="0" err="1">
                <a:solidFill>
                  <a:srgbClr val="FFFFFF"/>
                </a:solidFill>
              </a:rPr>
              <a:t>cieľ</a:t>
            </a:r>
            <a:r>
              <a:rPr sz="2400" b="1" dirty="0">
                <a:solidFill>
                  <a:srgbClr val="FFFFFF"/>
                </a:solidFill>
              </a:rPr>
              <a:t> </a:t>
            </a:r>
            <a:r>
              <a:rPr sz="2400" b="1" dirty="0" err="1">
                <a:solidFill>
                  <a:srgbClr val="FFFFFF"/>
                </a:solidFill>
              </a:rPr>
              <a:t>projektu</a:t>
            </a:r>
            <a:endParaRPr sz="2400" b="1" dirty="0">
              <a:solidFill>
                <a:srgbClr val="FFFFFF"/>
              </a:solidFill>
            </a:endParaRPr>
          </a:p>
        </p:txBody>
      </p:sp>
      <p:sp>
        <p:nvSpPr>
          <p:cNvPr id="6" name="TextBox 5"/>
          <p:cNvSpPr txBox="1"/>
          <p:nvPr/>
        </p:nvSpPr>
        <p:spPr>
          <a:xfrm>
            <a:off x="640080" y="1478300"/>
            <a:ext cx="11551615" cy="3303468"/>
          </a:xfrm>
          <a:prstGeom prst="rect">
            <a:avLst/>
          </a:prstGeom>
          <a:noFill/>
        </p:spPr>
        <p:txBody>
          <a:bodyPr wrap="square">
            <a:spAutoFit/>
          </a:bodyPr>
          <a:lstStyle/>
          <a:p>
            <a:pPr>
              <a:spcAft>
                <a:spcPts val="700"/>
              </a:spcAft>
            </a:pPr>
            <a:r>
              <a:rPr dirty="0">
                <a:solidFill>
                  <a:srgbClr val="222222"/>
                </a:solidFill>
              </a:rPr>
              <a:t>•</a:t>
            </a:r>
            <a:r>
              <a:rPr sz="1250" dirty="0">
                <a:solidFill>
                  <a:srgbClr val="222222"/>
                </a:solidFill>
              </a:rPr>
              <a:t> </a:t>
            </a:r>
            <a:r>
              <a:rPr dirty="0">
                <a:solidFill>
                  <a:srgbClr val="222222"/>
                </a:solidFill>
              </a:rPr>
              <a:t>Uskutočniť </a:t>
            </a:r>
            <a:r>
              <a:rPr dirty="0" err="1">
                <a:solidFill>
                  <a:srgbClr val="222222"/>
                </a:solidFill>
              </a:rPr>
              <a:t>základnú</a:t>
            </a:r>
            <a:r>
              <a:rPr dirty="0">
                <a:solidFill>
                  <a:srgbClr val="222222"/>
                </a:solidFill>
              </a:rPr>
              <a:t> </a:t>
            </a:r>
            <a:r>
              <a:rPr dirty="0" err="1">
                <a:solidFill>
                  <a:srgbClr val="222222"/>
                </a:solidFill>
              </a:rPr>
              <a:t>štatistickú</a:t>
            </a:r>
            <a:r>
              <a:rPr dirty="0">
                <a:solidFill>
                  <a:srgbClr val="222222"/>
                </a:solidFill>
              </a:rPr>
              <a:t> </a:t>
            </a:r>
            <a:r>
              <a:rPr dirty="0" err="1">
                <a:solidFill>
                  <a:srgbClr val="222222"/>
                </a:solidFill>
              </a:rPr>
              <a:t>analýzu</a:t>
            </a:r>
            <a:r>
              <a:rPr dirty="0">
                <a:solidFill>
                  <a:srgbClr val="222222"/>
                </a:solidFill>
              </a:rPr>
              <a:t> </a:t>
            </a:r>
            <a:r>
              <a:rPr dirty="0" err="1">
                <a:solidFill>
                  <a:srgbClr val="222222"/>
                </a:solidFill>
              </a:rPr>
              <a:t>meteorologickej</a:t>
            </a:r>
            <a:r>
              <a:rPr dirty="0">
                <a:solidFill>
                  <a:srgbClr val="222222"/>
                </a:solidFill>
              </a:rPr>
              <a:t> </a:t>
            </a:r>
            <a:r>
              <a:rPr dirty="0" err="1">
                <a:solidFill>
                  <a:srgbClr val="222222"/>
                </a:solidFill>
              </a:rPr>
              <a:t>dátovej</a:t>
            </a:r>
            <a:r>
              <a:rPr dirty="0">
                <a:solidFill>
                  <a:srgbClr val="222222"/>
                </a:solidFill>
              </a:rPr>
              <a:t> </a:t>
            </a:r>
            <a:r>
              <a:rPr dirty="0" err="1">
                <a:solidFill>
                  <a:srgbClr val="222222"/>
                </a:solidFill>
              </a:rPr>
              <a:t>sady</a:t>
            </a:r>
            <a:endParaRPr lang="sk-SK" dirty="0">
              <a:solidFill>
                <a:srgbClr val="222222"/>
              </a:solidFill>
            </a:endParaRPr>
          </a:p>
          <a:p>
            <a:pPr>
              <a:spcAft>
                <a:spcPts val="700"/>
              </a:spcAft>
            </a:pPr>
            <a:endParaRPr dirty="0">
              <a:solidFill>
                <a:srgbClr val="222222"/>
              </a:solidFill>
            </a:endParaRPr>
          </a:p>
          <a:p>
            <a:pPr>
              <a:spcAft>
                <a:spcPts val="700"/>
              </a:spcAft>
            </a:pPr>
            <a:r>
              <a:rPr dirty="0">
                <a:solidFill>
                  <a:srgbClr val="222222"/>
                </a:solidFill>
              </a:rPr>
              <a:t>• </a:t>
            </a:r>
            <a:r>
              <a:rPr dirty="0" err="1">
                <a:solidFill>
                  <a:srgbClr val="222222"/>
                </a:solidFill>
              </a:rPr>
              <a:t>Identifikovať</a:t>
            </a:r>
            <a:r>
              <a:rPr dirty="0">
                <a:solidFill>
                  <a:srgbClr val="222222"/>
                </a:solidFill>
              </a:rPr>
              <a:t> </a:t>
            </a:r>
            <a:r>
              <a:rPr dirty="0" err="1">
                <a:solidFill>
                  <a:srgbClr val="222222"/>
                </a:solidFill>
              </a:rPr>
              <a:t>chýbajúce</a:t>
            </a:r>
            <a:r>
              <a:rPr dirty="0">
                <a:solidFill>
                  <a:srgbClr val="222222"/>
                </a:solidFill>
              </a:rPr>
              <a:t> </a:t>
            </a:r>
            <a:r>
              <a:rPr dirty="0" err="1">
                <a:solidFill>
                  <a:srgbClr val="222222"/>
                </a:solidFill>
              </a:rPr>
              <a:t>dni</a:t>
            </a:r>
            <a:r>
              <a:rPr dirty="0">
                <a:solidFill>
                  <a:srgbClr val="222222"/>
                </a:solidFill>
              </a:rPr>
              <a:t> a </a:t>
            </a:r>
            <a:r>
              <a:rPr dirty="0" err="1">
                <a:solidFill>
                  <a:srgbClr val="222222"/>
                </a:solidFill>
              </a:rPr>
              <a:t>chýbajúce</a:t>
            </a:r>
            <a:r>
              <a:rPr dirty="0">
                <a:solidFill>
                  <a:srgbClr val="222222"/>
                </a:solidFill>
              </a:rPr>
              <a:t> </a:t>
            </a:r>
            <a:r>
              <a:rPr dirty="0" err="1">
                <a:solidFill>
                  <a:srgbClr val="222222"/>
                </a:solidFill>
              </a:rPr>
              <a:t>vzorky</a:t>
            </a:r>
            <a:r>
              <a:rPr dirty="0">
                <a:solidFill>
                  <a:srgbClr val="222222"/>
                </a:solidFill>
              </a:rPr>
              <a:t> (</a:t>
            </a:r>
            <a:r>
              <a:rPr dirty="0" err="1">
                <a:solidFill>
                  <a:srgbClr val="222222"/>
                </a:solidFill>
              </a:rPr>
              <a:t>NaN</a:t>
            </a:r>
            <a:r>
              <a:rPr dirty="0">
                <a:solidFill>
                  <a:srgbClr val="222222"/>
                </a:solidFill>
              </a:rPr>
              <a:t> </a:t>
            </a:r>
            <a:r>
              <a:rPr dirty="0" err="1">
                <a:solidFill>
                  <a:srgbClr val="222222"/>
                </a:solidFill>
              </a:rPr>
              <a:t>hodnoty</a:t>
            </a:r>
            <a:r>
              <a:rPr dirty="0">
                <a:solidFill>
                  <a:srgbClr val="222222"/>
                </a:solidFill>
              </a:rPr>
              <a:t>)</a:t>
            </a:r>
            <a:endParaRPr lang="sk-SK" dirty="0">
              <a:solidFill>
                <a:srgbClr val="222222"/>
              </a:solidFill>
            </a:endParaRPr>
          </a:p>
          <a:p>
            <a:pPr>
              <a:spcAft>
                <a:spcPts val="700"/>
              </a:spcAft>
            </a:pPr>
            <a:endParaRPr dirty="0">
              <a:solidFill>
                <a:srgbClr val="222222"/>
              </a:solidFill>
            </a:endParaRPr>
          </a:p>
          <a:p>
            <a:pPr>
              <a:spcAft>
                <a:spcPts val="700"/>
              </a:spcAft>
            </a:pPr>
            <a:r>
              <a:rPr dirty="0">
                <a:solidFill>
                  <a:srgbClr val="222222"/>
                </a:solidFill>
              </a:rPr>
              <a:t>• </a:t>
            </a:r>
            <a:r>
              <a:rPr dirty="0" err="1">
                <a:solidFill>
                  <a:srgbClr val="222222"/>
                </a:solidFill>
              </a:rPr>
              <a:t>Detekovať</a:t>
            </a:r>
            <a:r>
              <a:rPr dirty="0">
                <a:solidFill>
                  <a:srgbClr val="222222"/>
                </a:solidFill>
              </a:rPr>
              <a:t> a </a:t>
            </a:r>
            <a:r>
              <a:rPr dirty="0" err="1">
                <a:solidFill>
                  <a:srgbClr val="222222"/>
                </a:solidFill>
              </a:rPr>
              <a:t>odstrániť</a:t>
            </a:r>
            <a:r>
              <a:rPr dirty="0">
                <a:solidFill>
                  <a:srgbClr val="222222"/>
                </a:solidFill>
              </a:rPr>
              <a:t> </a:t>
            </a:r>
            <a:r>
              <a:rPr dirty="0" err="1">
                <a:solidFill>
                  <a:srgbClr val="222222"/>
                </a:solidFill>
              </a:rPr>
              <a:t>poškodené</a:t>
            </a:r>
            <a:r>
              <a:rPr dirty="0">
                <a:solidFill>
                  <a:srgbClr val="222222"/>
                </a:solidFill>
              </a:rPr>
              <a:t> </a:t>
            </a:r>
            <a:r>
              <a:rPr dirty="0" err="1">
                <a:solidFill>
                  <a:srgbClr val="222222"/>
                </a:solidFill>
              </a:rPr>
              <a:t>vzorky</a:t>
            </a:r>
            <a:r>
              <a:rPr dirty="0">
                <a:solidFill>
                  <a:srgbClr val="222222"/>
                </a:solidFill>
              </a:rPr>
              <a:t> </a:t>
            </a:r>
            <a:r>
              <a:rPr dirty="0" err="1">
                <a:solidFill>
                  <a:srgbClr val="222222"/>
                </a:solidFill>
              </a:rPr>
              <a:t>pomocou</a:t>
            </a:r>
            <a:r>
              <a:rPr dirty="0">
                <a:solidFill>
                  <a:srgbClr val="222222"/>
                </a:solidFill>
              </a:rPr>
              <a:t> </a:t>
            </a:r>
            <a:r>
              <a:rPr dirty="0" err="1">
                <a:solidFill>
                  <a:srgbClr val="222222"/>
                </a:solidFill>
              </a:rPr>
              <a:t>fyzikálnych</a:t>
            </a:r>
            <a:r>
              <a:rPr dirty="0">
                <a:solidFill>
                  <a:srgbClr val="222222"/>
                </a:solidFill>
              </a:rPr>
              <a:t> </a:t>
            </a:r>
            <a:r>
              <a:rPr dirty="0" err="1">
                <a:solidFill>
                  <a:srgbClr val="222222"/>
                </a:solidFill>
              </a:rPr>
              <a:t>medzí</a:t>
            </a:r>
            <a:endParaRPr lang="sk-SK" dirty="0">
              <a:solidFill>
                <a:srgbClr val="222222"/>
              </a:solidFill>
            </a:endParaRPr>
          </a:p>
          <a:p>
            <a:pPr>
              <a:spcAft>
                <a:spcPts val="700"/>
              </a:spcAft>
            </a:pPr>
            <a:endParaRPr dirty="0">
              <a:solidFill>
                <a:srgbClr val="222222"/>
              </a:solidFill>
            </a:endParaRPr>
          </a:p>
          <a:p>
            <a:pPr>
              <a:spcAft>
                <a:spcPts val="700"/>
              </a:spcAft>
            </a:pPr>
            <a:r>
              <a:rPr dirty="0">
                <a:solidFill>
                  <a:srgbClr val="222222"/>
                </a:solidFill>
              </a:rPr>
              <a:t>• </a:t>
            </a:r>
            <a:r>
              <a:rPr dirty="0" err="1">
                <a:solidFill>
                  <a:srgbClr val="222222"/>
                </a:solidFill>
              </a:rPr>
              <a:t>Vizualizovať</a:t>
            </a:r>
            <a:r>
              <a:rPr dirty="0">
                <a:solidFill>
                  <a:srgbClr val="222222"/>
                </a:solidFill>
              </a:rPr>
              <a:t> </a:t>
            </a:r>
            <a:r>
              <a:rPr dirty="0" err="1">
                <a:solidFill>
                  <a:srgbClr val="222222"/>
                </a:solidFill>
              </a:rPr>
              <a:t>slnečné</a:t>
            </a:r>
            <a:r>
              <a:rPr dirty="0">
                <a:solidFill>
                  <a:srgbClr val="222222"/>
                </a:solidFill>
              </a:rPr>
              <a:t> </a:t>
            </a:r>
            <a:r>
              <a:rPr dirty="0" err="1">
                <a:solidFill>
                  <a:srgbClr val="222222"/>
                </a:solidFill>
              </a:rPr>
              <a:t>žiarenie</a:t>
            </a:r>
            <a:r>
              <a:rPr dirty="0">
                <a:solidFill>
                  <a:srgbClr val="222222"/>
                </a:solidFill>
              </a:rPr>
              <a:t> </a:t>
            </a:r>
            <a:r>
              <a:rPr lang="sk-SK" dirty="0">
                <a:solidFill>
                  <a:srgbClr val="222222"/>
                </a:solidFill>
              </a:rPr>
              <a:t>-</a:t>
            </a:r>
            <a:r>
              <a:rPr dirty="0">
                <a:solidFill>
                  <a:srgbClr val="222222"/>
                </a:solidFill>
              </a:rPr>
              <a:t> </a:t>
            </a:r>
            <a:r>
              <a:rPr dirty="0" err="1">
                <a:solidFill>
                  <a:srgbClr val="222222"/>
                </a:solidFill>
              </a:rPr>
              <a:t>ročný</a:t>
            </a:r>
            <a:r>
              <a:rPr dirty="0">
                <a:solidFill>
                  <a:srgbClr val="222222"/>
                </a:solidFill>
              </a:rPr>
              <a:t> </a:t>
            </a:r>
            <a:r>
              <a:rPr dirty="0" err="1">
                <a:solidFill>
                  <a:srgbClr val="222222"/>
                </a:solidFill>
              </a:rPr>
              <a:t>priebeh</a:t>
            </a:r>
            <a:r>
              <a:rPr dirty="0">
                <a:solidFill>
                  <a:srgbClr val="222222"/>
                </a:solidFill>
              </a:rPr>
              <a:t> a </a:t>
            </a:r>
            <a:r>
              <a:rPr dirty="0" err="1">
                <a:solidFill>
                  <a:srgbClr val="222222"/>
                </a:solidFill>
              </a:rPr>
              <a:t>mesačné</a:t>
            </a:r>
            <a:r>
              <a:rPr dirty="0">
                <a:solidFill>
                  <a:srgbClr val="222222"/>
                </a:solidFill>
              </a:rPr>
              <a:t> </a:t>
            </a:r>
            <a:r>
              <a:rPr dirty="0" err="1">
                <a:solidFill>
                  <a:srgbClr val="222222"/>
                </a:solidFill>
              </a:rPr>
              <a:t>denné</a:t>
            </a:r>
            <a:r>
              <a:rPr dirty="0">
                <a:solidFill>
                  <a:srgbClr val="222222"/>
                </a:solidFill>
              </a:rPr>
              <a:t> </a:t>
            </a:r>
            <a:r>
              <a:rPr dirty="0" err="1">
                <a:solidFill>
                  <a:srgbClr val="222222"/>
                </a:solidFill>
              </a:rPr>
              <a:t>profily</a:t>
            </a:r>
            <a:endParaRPr lang="sk-SK" dirty="0">
              <a:solidFill>
                <a:srgbClr val="222222"/>
              </a:solidFill>
            </a:endParaRPr>
          </a:p>
          <a:p>
            <a:pPr>
              <a:spcAft>
                <a:spcPts val="700"/>
              </a:spcAft>
            </a:pPr>
            <a:endParaRPr dirty="0">
              <a:solidFill>
                <a:srgbClr val="222222"/>
              </a:solidFill>
            </a:endParaRPr>
          </a:p>
          <a:p>
            <a:pPr>
              <a:spcAft>
                <a:spcPts val="700"/>
              </a:spcAft>
            </a:pPr>
            <a:r>
              <a:rPr dirty="0">
                <a:solidFill>
                  <a:srgbClr val="222222"/>
                </a:solidFill>
              </a:rPr>
              <a:t>• </a:t>
            </a:r>
            <a:r>
              <a:rPr dirty="0" err="1">
                <a:solidFill>
                  <a:srgbClr val="222222"/>
                </a:solidFill>
              </a:rPr>
              <a:t>Analyzovať</a:t>
            </a:r>
            <a:r>
              <a:rPr dirty="0">
                <a:solidFill>
                  <a:srgbClr val="222222"/>
                </a:solidFill>
              </a:rPr>
              <a:t> </a:t>
            </a:r>
            <a:r>
              <a:rPr dirty="0" err="1">
                <a:solidFill>
                  <a:srgbClr val="222222"/>
                </a:solidFill>
              </a:rPr>
              <a:t>korelačné</a:t>
            </a:r>
            <a:r>
              <a:rPr dirty="0">
                <a:solidFill>
                  <a:srgbClr val="222222"/>
                </a:solidFill>
              </a:rPr>
              <a:t> </a:t>
            </a:r>
            <a:r>
              <a:rPr dirty="0" err="1">
                <a:solidFill>
                  <a:srgbClr val="222222"/>
                </a:solidFill>
              </a:rPr>
              <a:t>závislosti</a:t>
            </a:r>
            <a:r>
              <a:rPr dirty="0">
                <a:solidFill>
                  <a:srgbClr val="222222"/>
                </a:solidFill>
              </a:rPr>
              <a:t> </a:t>
            </a:r>
            <a:r>
              <a:rPr dirty="0" err="1">
                <a:solidFill>
                  <a:srgbClr val="222222"/>
                </a:solidFill>
              </a:rPr>
              <a:t>medzi</a:t>
            </a:r>
            <a:r>
              <a:rPr dirty="0">
                <a:solidFill>
                  <a:srgbClr val="222222"/>
                </a:solidFill>
              </a:rPr>
              <a:t> </a:t>
            </a:r>
            <a:r>
              <a:rPr dirty="0" err="1">
                <a:solidFill>
                  <a:srgbClr val="222222"/>
                </a:solidFill>
              </a:rPr>
              <a:t>parametrami</a:t>
            </a:r>
            <a:r>
              <a:rPr dirty="0">
                <a:solidFill>
                  <a:srgbClr val="222222"/>
                </a:solidFill>
              </a:rPr>
              <a:t> (</a:t>
            </a:r>
            <a:r>
              <a:rPr dirty="0" err="1">
                <a:solidFill>
                  <a:srgbClr val="222222"/>
                </a:solidFill>
              </a:rPr>
              <a:t>Pearsonova</a:t>
            </a:r>
            <a:r>
              <a:rPr dirty="0">
                <a:solidFill>
                  <a:srgbClr val="222222"/>
                </a:solidFill>
              </a:rPr>
              <a:t> </a:t>
            </a:r>
            <a:r>
              <a:rPr dirty="0" err="1">
                <a:solidFill>
                  <a:srgbClr val="222222"/>
                </a:solidFill>
              </a:rPr>
              <a:t>matica</a:t>
            </a:r>
            <a:r>
              <a:rPr sz="1250" dirty="0">
                <a:solidFill>
                  <a:srgbClr val="222222"/>
                </a:solidFill>
              </a:rPr>
              <a:t>)</a:t>
            </a:r>
          </a:p>
        </p:txBody>
      </p:sp>
      <p:sp>
        <p:nvSpPr>
          <p:cNvPr id="7" name="Rectangle 6"/>
          <p:cNvSpPr/>
          <p:nvPr/>
        </p:nvSpPr>
        <p:spPr>
          <a:xfrm>
            <a:off x="182880" y="5623560"/>
            <a:ext cx="11551615" cy="1033272"/>
          </a:xfrm>
          <a:prstGeom prst="rect">
            <a:avLst/>
          </a:prstGeom>
          <a:solidFill>
            <a:srgbClr val="E8EAF6"/>
          </a:solidFill>
          <a:ln w="6350">
            <a:solidFill>
              <a:srgbClr val="C5CA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20039" y="5847808"/>
            <a:ext cx="11277295" cy="584775"/>
          </a:xfrm>
          <a:prstGeom prst="rect">
            <a:avLst/>
          </a:prstGeom>
          <a:noFill/>
        </p:spPr>
        <p:txBody>
          <a:bodyPr wrap="square">
            <a:spAutoFit/>
          </a:bodyPr>
          <a:lstStyle/>
          <a:p>
            <a:r>
              <a:rPr sz="1600" b="1" dirty="0" err="1">
                <a:solidFill>
                  <a:srgbClr val="1A237E"/>
                </a:solidFill>
              </a:rPr>
              <a:t>Vstup</a:t>
            </a:r>
            <a:r>
              <a:rPr sz="1600" b="1" dirty="0">
                <a:solidFill>
                  <a:srgbClr val="1A237E"/>
                </a:solidFill>
              </a:rPr>
              <a:t>: </a:t>
            </a:r>
            <a:r>
              <a:rPr sz="1600" b="0" dirty="0" err="1">
                <a:solidFill>
                  <a:srgbClr val="222222"/>
                </a:solidFill>
              </a:rPr>
              <a:t>meteo_data</a:t>
            </a:r>
            <a:r>
              <a:rPr sz="1600" b="0" dirty="0">
                <a:solidFill>
                  <a:srgbClr val="222222"/>
                </a:solidFill>
              </a:rPr>
              <a:t>/train/meteo_data_raw.csv</a:t>
            </a:r>
          </a:p>
          <a:p>
            <a:r>
              <a:rPr sz="1600" b="1" dirty="0" err="1">
                <a:solidFill>
                  <a:srgbClr val="1A237E"/>
                </a:solidFill>
              </a:rPr>
              <a:t>Výstup</a:t>
            </a:r>
            <a:r>
              <a:rPr sz="1600" b="1" dirty="0">
                <a:solidFill>
                  <a:srgbClr val="1A237E"/>
                </a:solidFill>
              </a:rPr>
              <a:t>: </a:t>
            </a:r>
            <a:r>
              <a:rPr sz="1600" b="0" dirty="0" err="1">
                <a:solidFill>
                  <a:srgbClr val="222222"/>
                </a:solidFill>
              </a:rPr>
              <a:t>output_analyza_train_raw</a:t>
            </a:r>
            <a:r>
              <a:rPr sz="1600" b="0" dirty="0">
                <a:solidFill>
                  <a:srgbClr val="222222"/>
                </a:solidFill>
              </a:rPr>
              <a:t>/ — </a:t>
            </a:r>
            <a:r>
              <a:rPr sz="1600" b="0" dirty="0" err="1">
                <a:solidFill>
                  <a:srgbClr val="222222"/>
                </a:solidFill>
              </a:rPr>
              <a:t>grafy</a:t>
            </a:r>
            <a:r>
              <a:rPr sz="1600" b="0" dirty="0">
                <a:solidFill>
                  <a:srgbClr val="222222"/>
                </a:solidFill>
              </a:rPr>
              <a:t>, </a:t>
            </a:r>
            <a:r>
              <a:rPr sz="1600" b="0" dirty="0" err="1">
                <a:solidFill>
                  <a:srgbClr val="222222"/>
                </a:solidFill>
              </a:rPr>
              <a:t>štatistiky</a:t>
            </a:r>
            <a:r>
              <a:rPr sz="1600" b="0" dirty="0">
                <a:solidFill>
                  <a:srgbClr val="222222"/>
                </a:solidFill>
              </a:rPr>
              <a:t>, HTML report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51569" y="201167"/>
            <a:ext cx="349776" cy="461665"/>
          </a:xfrm>
          <a:prstGeom prst="rect">
            <a:avLst/>
          </a:prstGeom>
          <a:noFill/>
        </p:spPr>
        <p:txBody>
          <a:bodyPr wrap="none">
            <a:spAutoFit/>
          </a:bodyPr>
          <a:lstStyle/>
          <a:p>
            <a:pPr algn="ctr"/>
            <a:r>
              <a:rPr sz="2400" b="1" dirty="0">
                <a:solidFill>
                  <a:srgbClr val="FFFFFF"/>
                </a:solidFill>
              </a:rPr>
              <a:t>3</a:t>
            </a:r>
          </a:p>
        </p:txBody>
      </p:sp>
      <p:sp>
        <p:nvSpPr>
          <p:cNvPr id="4" name="TextBox 3"/>
          <p:cNvSpPr txBox="1"/>
          <p:nvPr/>
        </p:nvSpPr>
        <p:spPr>
          <a:xfrm>
            <a:off x="822960" y="201168"/>
            <a:ext cx="3627532" cy="461665"/>
          </a:xfrm>
          <a:prstGeom prst="rect">
            <a:avLst/>
          </a:prstGeom>
          <a:noFill/>
        </p:spPr>
        <p:txBody>
          <a:bodyPr wrap="none">
            <a:spAutoFit/>
          </a:bodyPr>
          <a:lstStyle/>
          <a:p>
            <a:pPr algn="l"/>
            <a:r>
              <a:rPr sz="2400" b="1" dirty="0">
                <a:solidFill>
                  <a:srgbClr val="FFFFFF"/>
                </a:solidFill>
              </a:rPr>
              <a:t>Dataset a </a:t>
            </a:r>
            <a:r>
              <a:rPr sz="2400" b="1" dirty="0" err="1">
                <a:solidFill>
                  <a:srgbClr val="FFFFFF"/>
                </a:solidFill>
              </a:rPr>
              <a:t>merací</a:t>
            </a:r>
            <a:r>
              <a:rPr sz="2400" b="1" dirty="0">
                <a:solidFill>
                  <a:srgbClr val="FFFFFF"/>
                </a:solidFill>
              </a:rPr>
              <a:t> </a:t>
            </a:r>
            <a:r>
              <a:rPr sz="2400" b="1" dirty="0" err="1">
                <a:solidFill>
                  <a:srgbClr val="FFFFFF"/>
                </a:solidFill>
              </a:rPr>
              <a:t>systém</a:t>
            </a:r>
            <a:endParaRPr sz="2400" b="1" dirty="0">
              <a:solidFill>
                <a:srgbClr val="FFFFFF"/>
              </a:solidFill>
            </a:endParaRPr>
          </a:p>
        </p:txBody>
      </p:sp>
      <p:sp>
        <p:nvSpPr>
          <p:cNvPr id="6" name="Rectangle 5"/>
          <p:cNvSpPr/>
          <p:nvPr/>
        </p:nvSpPr>
        <p:spPr>
          <a:xfrm>
            <a:off x="320040" y="1143000"/>
            <a:ext cx="5684367" cy="4937760"/>
          </a:xfrm>
          <a:prstGeom prst="rect">
            <a:avLst/>
          </a:prstGeom>
          <a:solidFill>
            <a:srgbClr val="F8F9FF"/>
          </a:solidFill>
          <a:ln w="6350">
            <a:solidFill>
              <a:srgbClr val="E0E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1234440"/>
            <a:ext cx="5410047" cy="492443"/>
          </a:xfrm>
          <a:prstGeom prst="rect">
            <a:avLst/>
          </a:prstGeom>
          <a:noFill/>
        </p:spPr>
        <p:txBody>
          <a:bodyPr wrap="square">
            <a:spAutoFit/>
          </a:bodyPr>
          <a:lstStyle/>
          <a:p>
            <a:pPr algn="l"/>
            <a:r>
              <a:rPr sz="2600" b="1" i="0" dirty="0">
                <a:solidFill>
                  <a:srgbClr val="3949AB"/>
                </a:solidFill>
              </a:rPr>
              <a:t>O </a:t>
            </a:r>
            <a:r>
              <a:rPr sz="2600" b="1" i="0" dirty="0" err="1">
                <a:solidFill>
                  <a:srgbClr val="3949AB"/>
                </a:solidFill>
              </a:rPr>
              <a:t>datasete</a:t>
            </a:r>
            <a:r>
              <a:rPr lang="sk-SK" sz="2600" b="1" dirty="0">
                <a:solidFill>
                  <a:srgbClr val="3949AB"/>
                </a:solidFill>
              </a:rPr>
              <a:t>:</a:t>
            </a:r>
            <a:endParaRPr sz="2600" b="1" i="0" dirty="0">
              <a:solidFill>
                <a:srgbClr val="3949AB"/>
              </a:solidFill>
            </a:endParaRPr>
          </a:p>
        </p:txBody>
      </p:sp>
      <p:sp>
        <p:nvSpPr>
          <p:cNvPr id="8" name="TextBox 7"/>
          <p:cNvSpPr txBox="1"/>
          <p:nvPr/>
        </p:nvSpPr>
        <p:spPr>
          <a:xfrm>
            <a:off x="457200" y="1740932"/>
            <a:ext cx="5410047" cy="3860031"/>
          </a:xfrm>
          <a:prstGeom prst="rect">
            <a:avLst/>
          </a:prstGeom>
          <a:noFill/>
        </p:spPr>
        <p:txBody>
          <a:bodyPr wrap="square">
            <a:spAutoFit/>
          </a:bodyPr>
          <a:lstStyle/>
          <a:p>
            <a:pPr>
              <a:spcAft>
                <a:spcPts val="100"/>
              </a:spcAft>
            </a:pPr>
            <a:r>
              <a:rPr sz="1600" b="1" dirty="0">
                <a:solidFill>
                  <a:srgbClr val="222222"/>
                </a:solidFill>
              </a:rPr>
              <a:t>• </a:t>
            </a:r>
            <a:r>
              <a:rPr sz="1600" b="1" dirty="0" err="1">
                <a:solidFill>
                  <a:srgbClr val="222222"/>
                </a:solidFill>
              </a:rPr>
              <a:t>Meracia</a:t>
            </a:r>
            <a:r>
              <a:rPr sz="1600" b="1" dirty="0">
                <a:solidFill>
                  <a:srgbClr val="222222"/>
                </a:solidFill>
              </a:rPr>
              <a:t> </a:t>
            </a:r>
            <a:r>
              <a:rPr sz="1600" b="1" dirty="0" err="1">
                <a:solidFill>
                  <a:srgbClr val="222222"/>
                </a:solidFill>
              </a:rPr>
              <a:t>stanica</a:t>
            </a:r>
            <a:r>
              <a:rPr sz="1600" b="1" dirty="0">
                <a:solidFill>
                  <a:srgbClr val="222222"/>
                </a:solidFill>
              </a:rPr>
              <a:t>:</a:t>
            </a:r>
          </a:p>
          <a:p>
            <a:pPr>
              <a:spcAft>
                <a:spcPts val="400"/>
              </a:spcAft>
            </a:pPr>
            <a:r>
              <a:rPr sz="1600" i="1" dirty="0">
                <a:solidFill>
                  <a:srgbClr val="555555"/>
                </a:solidFill>
              </a:rPr>
              <a:t>   </a:t>
            </a:r>
            <a:r>
              <a:rPr sz="1600" i="1" dirty="0" err="1">
                <a:solidFill>
                  <a:srgbClr val="555555"/>
                </a:solidFill>
              </a:rPr>
              <a:t>Alpnach</a:t>
            </a:r>
            <a:r>
              <a:rPr sz="1600" i="1" dirty="0">
                <a:solidFill>
                  <a:srgbClr val="555555"/>
                </a:solidFill>
              </a:rPr>
              <a:t>, </a:t>
            </a:r>
            <a:r>
              <a:rPr sz="1600" i="1" dirty="0" err="1">
                <a:solidFill>
                  <a:srgbClr val="555555"/>
                </a:solidFill>
              </a:rPr>
              <a:t>Švajčiarsko</a:t>
            </a:r>
            <a:r>
              <a:rPr sz="1600" i="1" dirty="0">
                <a:solidFill>
                  <a:srgbClr val="555555"/>
                </a:solidFill>
              </a:rPr>
              <a:t> (46,94° N)</a:t>
            </a:r>
          </a:p>
          <a:p>
            <a:pPr>
              <a:spcAft>
                <a:spcPts val="100"/>
              </a:spcAft>
            </a:pPr>
            <a:endParaRPr lang="en-US" sz="1600" b="1" dirty="0">
              <a:solidFill>
                <a:srgbClr val="222222"/>
              </a:solidFill>
            </a:endParaRPr>
          </a:p>
          <a:p>
            <a:pPr>
              <a:spcAft>
                <a:spcPts val="100"/>
              </a:spcAft>
            </a:pPr>
            <a:r>
              <a:rPr sz="1600" b="1" dirty="0">
                <a:solidFill>
                  <a:srgbClr val="222222"/>
                </a:solidFill>
              </a:rPr>
              <a:t>• Pyranometer:</a:t>
            </a:r>
          </a:p>
          <a:p>
            <a:pPr>
              <a:spcAft>
                <a:spcPts val="400"/>
              </a:spcAft>
            </a:pPr>
            <a:r>
              <a:rPr sz="1600" i="1" dirty="0">
                <a:solidFill>
                  <a:srgbClr val="555555"/>
                </a:solidFill>
              </a:rPr>
              <a:t>   Kipp &amp; </a:t>
            </a:r>
            <a:r>
              <a:rPr sz="1600" i="1" dirty="0" err="1">
                <a:solidFill>
                  <a:srgbClr val="555555"/>
                </a:solidFill>
              </a:rPr>
              <a:t>Zonen</a:t>
            </a:r>
            <a:r>
              <a:rPr sz="1600" i="1" dirty="0">
                <a:solidFill>
                  <a:srgbClr val="555555"/>
                </a:solidFill>
              </a:rPr>
              <a:t> SMP10</a:t>
            </a:r>
          </a:p>
          <a:p>
            <a:pPr>
              <a:spcAft>
                <a:spcPts val="100"/>
              </a:spcAft>
            </a:pPr>
            <a:endParaRPr lang="en-US" sz="1600" b="1" dirty="0">
              <a:solidFill>
                <a:srgbClr val="222222"/>
              </a:solidFill>
            </a:endParaRPr>
          </a:p>
          <a:p>
            <a:pPr>
              <a:spcAft>
                <a:spcPts val="100"/>
              </a:spcAft>
            </a:pPr>
            <a:r>
              <a:rPr sz="1600" b="1" dirty="0">
                <a:solidFill>
                  <a:srgbClr val="222222"/>
                </a:solidFill>
              </a:rPr>
              <a:t>• </a:t>
            </a:r>
            <a:r>
              <a:rPr sz="1600" b="1" dirty="0" err="1">
                <a:solidFill>
                  <a:srgbClr val="222222"/>
                </a:solidFill>
              </a:rPr>
              <a:t>Ventilovaný</a:t>
            </a:r>
            <a:r>
              <a:rPr sz="1600" b="1" dirty="0">
                <a:solidFill>
                  <a:srgbClr val="222222"/>
                </a:solidFill>
              </a:rPr>
              <a:t> </a:t>
            </a:r>
            <a:r>
              <a:rPr sz="1600" b="1" dirty="0" err="1">
                <a:solidFill>
                  <a:srgbClr val="222222"/>
                </a:solidFill>
              </a:rPr>
              <a:t>kryt</a:t>
            </a:r>
            <a:r>
              <a:rPr sz="1600" b="1" dirty="0">
                <a:solidFill>
                  <a:srgbClr val="222222"/>
                </a:solidFill>
              </a:rPr>
              <a:t>:</a:t>
            </a:r>
          </a:p>
          <a:p>
            <a:pPr>
              <a:spcAft>
                <a:spcPts val="400"/>
              </a:spcAft>
            </a:pPr>
            <a:r>
              <a:rPr sz="1600" i="1" dirty="0">
                <a:solidFill>
                  <a:srgbClr val="555555"/>
                </a:solidFill>
              </a:rPr>
              <a:t>   CVF4 (</a:t>
            </a:r>
            <a:r>
              <a:rPr sz="1600" i="1" dirty="0" err="1">
                <a:solidFill>
                  <a:srgbClr val="555555"/>
                </a:solidFill>
              </a:rPr>
              <a:t>ventilátor</a:t>
            </a:r>
            <a:r>
              <a:rPr sz="1600" i="1" dirty="0">
                <a:solidFill>
                  <a:srgbClr val="555555"/>
                </a:solidFill>
              </a:rPr>
              <a:t> + </a:t>
            </a:r>
            <a:r>
              <a:rPr sz="1600" i="1" dirty="0" err="1">
                <a:solidFill>
                  <a:srgbClr val="555555"/>
                </a:solidFill>
              </a:rPr>
              <a:t>ohrievač</a:t>
            </a:r>
            <a:r>
              <a:rPr sz="1600" i="1" dirty="0">
                <a:solidFill>
                  <a:srgbClr val="555555"/>
                </a:solidFill>
              </a:rPr>
              <a:t>)</a:t>
            </a:r>
          </a:p>
          <a:p>
            <a:pPr>
              <a:spcAft>
                <a:spcPts val="100"/>
              </a:spcAft>
            </a:pPr>
            <a:endParaRPr lang="en-US" sz="1600" b="1" dirty="0">
              <a:solidFill>
                <a:srgbClr val="222222"/>
              </a:solidFill>
            </a:endParaRPr>
          </a:p>
          <a:p>
            <a:pPr>
              <a:spcAft>
                <a:spcPts val="100"/>
              </a:spcAft>
            </a:pPr>
            <a:r>
              <a:rPr sz="1600" b="1" dirty="0">
                <a:solidFill>
                  <a:srgbClr val="222222"/>
                </a:solidFill>
              </a:rPr>
              <a:t>• Rok </a:t>
            </a:r>
            <a:r>
              <a:rPr sz="1600" b="1" dirty="0" err="1">
                <a:solidFill>
                  <a:srgbClr val="222222"/>
                </a:solidFill>
              </a:rPr>
              <a:t>merania</a:t>
            </a:r>
            <a:r>
              <a:rPr sz="1600" b="1" dirty="0">
                <a:solidFill>
                  <a:srgbClr val="222222"/>
                </a:solidFill>
              </a:rPr>
              <a:t>:</a:t>
            </a:r>
          </a:p>
          <a:p>
            <a:pPr>
              <a:spcAft>
                <a:spcPts val="400"/>
              </a:spcAft>
            </a:pPr>
            <a:r>
              <a:rPr sz="1600" i="1" dirty="0">
                <a:solidFill>
                  <a:srgbClr val="555555"/>
                </a:solidFill>
              </a:rPr>
              <a:t>   2018</a:t>
            </a:r>
          </a:p>
          <a:p>
            <a:pPr>
              <a:spcAft>
                <a:spcPts val="100"/>
              </a:spcAft>
            </a:pPr>
            <a:endParaRPr lang="en-US" sz="1600" b="1" dirty="0">
              <a:solidFill>
                <a:srgbClr val="222222"/>
              </a:solidFill>
            </a:endParaRPr>
          </a:p>
          <a:p>
            <a:pPr>
              <a:spcAft>
                <a:spcPts val="100"/>
              </a:spcAft>
            </a:pPr>
            <a:r>
              <a:rPr sz="1600" b="1" dirty="0">
                <a:solidFill>
                  <a:srgbClr val="222222"/>
                </a:solidFill>
              </a:rPr>
              <a:t>• </a:t>
            </a:r>
            <a:r>
              <a:rPr sz="1600" b="1" dirty="0" err="1">
                <a:solidFill>
                  <a:srgbClr val="222222"/>
                </a:solidFill>
              </a:rPr>
              <a:t>Vzorkovanie</a:t>
            </a:r>
            <a:r>
              <a:rPr sz="1600" b="1" dirty="0">
                <a:solidFill>
                  <a:srgbClr val="222222"/>
                </a:solidFill>
              </a:rPr>
              <a:t>:</a:t>
            </a:r>
          </a:p>
          <a:p>
            <a:pPr>
              <a:spcAft>
                <a:spcPts val="400"/>
              </a:spcAft>
            </a:pPr>
            <a:r>
              <a:rPr sz="1600" i="1" dirty="0">
                <a:solidFill>
                  <a:srgbClr val="555555"/>
                </a:solidFill>
              </a:rPr>
              <a:t>   ~70 </a:t>
            </a:r>
            <a:r>
              <a:rPr sz="1600" i="1" dirty="0" err="1">
                <a:solidFill>
                  <a:srgbClr val="555555"/>
                </a:solidFill>
              </a:rPr>
              <a:t>vzoriek</a:t>
            </a:r>
            <a:r>
              <a:rPr sz="1600" i="1" dirty="0">
                <a:solidFill>
                  <a:srgbClr val="555555"/>
                </a:solidFill>
              </a:rPr>
              <a:t>/</a:t>
            </a:r>
            <a:r>
              <a:rPr sz="1600" i="1" dirty="0" err="1">
                <a:solidFill>
                  <a:srgbClr val="555555"/>
                </a:solidFill>
              </a:rPr>
              <a:t>deň</a:t>
            </a:r>
            <a:endParaRPr sz="1600" i="1" dirty="0">
              <a:solidFill>
                <a:srgbClr val="555555"/>
              </a:solidFill>
            </a:endParaRPr>
          </a:p>
        </p:txBody>
      </p:sp>
      <p:sp>
        <p:nvSpPr>
          <p:cNvPr id="9" name="Rectangle 8"/>
          <p:cNvSpPr/>
          <p:nvPr/>
        </p:nvSpPr>
        <p:spPr>
          <a:xfrm>
            <a:off x="6187287" y="1143000"/>
            <a:ext cx="5684367" cy="4937760"/>
          </a:xfrm>
          <a:prstGeom prst="rect">
            <a:avLst/>
          </a:prstGeom>
          <a:solidFill>
            <a:srgbClr val="F8F9FF"/>
          </a:solidFill>
          <a:ln w="6350">
            <a:solidFill>
              <a:srgbClr val="E0E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324447" y="1234440"/>
            <a:ext cx="5410047" cy="492443"/>
          </a:xfrm>
          <a:prstGeom prst="rect">
            <a:avLst/>
          </a:prstGeom>
          <a:noFill/>
        </p:spPr>
        <p:txBody>
          <a:bodyPr wrap="square">
            <a:spAutoFit/>
          </a:bodyPr>
          <a:lstStyle/>
          <a:p>
            <a:pPr algn="l"/>
            <a:r>
              <a:rPr sz="2600" b="1" i="0" dirty="0" err="1">
                <a:solidFill>
                  <a:srgbClr val="3949AB"/>
                </a:solidFill>
              </a:rPr>
              <a:t>Parametre</a:t>
            </a:r>
            <a:r>
              <a:rPr sz="2600" b="1" i="0" dirty="0">
                <a:solidFill>
                  <a:srgbClr val="3949AB"/>
                </a:solidFill>
              </a:rPr>
              <a:t> (18 </a:t>
            </a:r>
            <a:r>
              <a:rPr sz="2600" b="1" i="0" dirty="0" err="1">
                <a:solidFill>
                  <a:srgbClr val="3949AB"/>
                </a:solidFill>
              </a:rPr>
              <a:t>stĺpcov</a:t>
            </a:r>
            <a:r>
              <a:rPr sz="2600" b="1" i="0" dirty="0">
                <a:solidFill>
                  <a:srgbClr val="3949AB"/>
                </a:solidFill>
              </a:rPr>
              <a:t>)</a:t>
            </a:r>
            <a:r>
              <a:rPr lang="sk-SK" sz="2600" b="1" dirty="0">
                <a:solidFill>
                  <a:srgbClr val="3949AB"/>
                </a:solidFill>
              </a:rPr>
              <a:t>:</a:t>
            </a:r>
            <a:endParaRPr sz="2600" b="1" i="0" dirty="0">
              <a:solidFill>
                <a:srgbClr val="3949AB"/>
              </a:solidFill>
            </a:endParaRPr>
          </a:p>
        </p:txBody>
      </p:sp>
      <p:sp>
        <p:nvSpPr>
          <p:cNvPr id="11" name="TextBox 10"/>
          <p:cNvSpPr txBox="1"/>
          <p:nvPr/>
        </p:nvSpPr>
        <p:spPr>
          <a:xfrm>
            <a:off x="6324446" y="1740932"/>
            <a:ext cx="5410047" cy="3908762"/>
          </a:xfrm>
          <a:prstGeom prst="rect">
            <a:avLst/>
          </a:prstGeom>
          <a:noFill/>
        </p:spPr>
        <p:txBody>
          <a:bodyPr wrap="square">
            <a:spAutoFit/>
          </a:bodyPr>
          <a:lstStyle/>
          <a:p>
            <a:pPr>
              <a:spcAft>
                <a:spcPts val="400"/>
              </a:spcAft>
            </a:pPr>
            <a:r>
              <a:rPr sz="1600" dirty="0">
                <a:solidFill>
                  <a:srgbClr val="222222"/>
                </a:solidFill>
              </a:rPr>
              <a:t>• </a:t>
            </a:r>
            <a:r>
              <a:rPr sz="1600" dirty="0" err="1">
                <a:solidFill>
                  <a:srgbClr val="222222"/>
                </a:solidFill>
              </a:rPr>
              <a:t>Žiarenie</a:t>
            </a:r>
            <a:r>
              <a:rPr sz="1600" dirty="0">
                <a:solidFill>
                  <a:srgbClr val="222222"/>
                </a:solidFill>
              </a:rPr>
              <a:t>: </a:t>
            </a:r>
            <a:endParaRPr lang="sk-SK" sz="1600" dirty="0">
              <a:solidFill>
                <a:srgbClr val="222222"/>
              </a:solidFill>
            </a:endParaRPr>
          </a:p>
          <a:p>
            <a:pPr>
              <a:spcAft>
                <a:spcPts val="400"/>
              </a:spcAft>
            </a:pPr>
            <a:r>
              <a:rPr lang="sk-SK" sz="1600" dirty="0">
                <a:solidFill>
                  <a:srgbClr val="222222"/>
                </a:solidFill>
              </a:rPr>
              <a:t>        • </a:t>
            </a:r>
            <a:r>
              <a:rPr lang="sk-SK" sz="1600" dirty="0" err="1">
                <a:solidFill>
                  <a:srgbClr val="222222"/>
                </a:solidFill>
              </a:rPr>
              <a:t>Irradiance</a:t>
            </a:r>
            <a:r>
              <a:rPr lang="sk-SK" sz="1600" dirty="0">
                <a:solidFill>
                  <a:srgbClr val="222222"/>
                </a:solidFill>
              </a:rPr>
              <a:t>, </a:t>
            </a:r>
            <a:r>
              <a:rPr lang="sk-SK" sz="1600" dirty="0" err="1">
                <a:solidFill>
                  <a:srgbClr val="222222"/>
                </a:solidFill>
              </a:rPr>
              <a:t>IrradianceNotCompensated</a:t>
            </a:r>
            <a:endParaRPr sz="1600" dirty="0">
              <a:solidFill>
                <a:srgbClr val="222222"/>
              </a:solidFill>
            </a:endParaRPr>
          </a:p>
          <a:p>
            <a:pPr>
              <a:spcAft>
                <a:spcPts val="400"/>
              </a:spcAft>
            </a:pPr>
            <a:r>
              <a:rPr sz="1600" dirty="0">
                <a:solidFill>
                  <a:srgbClr val="222222"/>
                </a:solidFill>
              </a:rPr>
              <a:t>• </a:t>
            </a:r>
            <a:r>
              <a:rPr sz="1600" dirty="0" err="1">
                <a:solidFill>
                  <a:srgbClr val="222222"/>
                </a:solidFill>
              </a:rPr>
              <a:t>Teploty</a:t>
            </a:r>
            <a:r>
              <a:rPr sz="1600" dirty="0">
                <a:solidFill>
                  <a:srgbClr val="222222"/>
                </a:solidFill>
              </a:rPr>
              <a:t>: </a:t>
            </a:r>
            <a:endParaRPr lang="sk-SK" sz="1600" dirty="0">
              <a:solidFill>
                <a:srgbClr val="222222"/>
              </a:solidFill>
            </a:endParaRPr>
          </a:p>
          <a:p>
            <a:pPr>
              <a:spcAft>
                <a:spcPts val="400"/>
              </a:spcAft>
            </a:pPr>
            <a:r>
              <a:rPr lang="sk-SK" sz="1600" dirty="0">
                <a:solidFill>
                  <a:srgbClr val="222222"/>
                </a:solidFill>
              </a:rPr>
              <a:t>        • </a:t>
            </a:r>
            <a:r>
              <a:rPr sz="1600" dirty="0" err="1">
                <a:solidFill>
                  <a:srgbClr val="222222"/>
                </a:solidFill>
              </a:rPr>
              <a:t>BodyTemp</a:t>
            </a:r>
            <a:r>
              <a:rPr sz="1600" dirty="0">
                <a:solidFill>
                  <a:srgbClr val="222222"/>
                </a:solidFill>
              </a:rPr>
              <a:t>, </a:t>
            </a:r>
            <a:r>
              <a:rPr sz="1600" dirty="0" err="1">
                <a:solidFill>
                  <a:srgbClr val="222222"/>
                </a:solidFill>
              </a:rPr>
              <a:t>HumidityTemp</a:t>
            </a:r>
            <a:r>
              <a:rPr sz="1600" dirty="0">
                <a:solidFill>
                  <a:srgbClr val="222222"/>
                </a:solidFill>
              </a:rPr>
              <a:t>, </a:t>
            </a:r>
            <a:r>
              <a:rPr sz="1600" dirty="0" err="1">
                <a:solidFill>
                  <a:srgbClr val="222222"/>
                </a:solidFill>
              </a:rPr>
              <a:t>PressureTemp</a:t>
            </a:r>
            <a:r>
              <a:rPr sz="1600" dirty="0">
                <a:solidFill>
                  <a:srgbClr val="222222"/>
                </a:solidFill>
              </a:rPr>
              <a:t> </a:t>
            </a:r>
          </a:p>
          <a:p>
            <a:pPr>
              <a:spcAft>
                <a:spcPts val="400"/>
              </a:spcAft>
            </a:pPr>
            <a:r>
              <a:rPr sz="1600" dirty="0">
                <a:solidFill>
                  <a:srgbClr val="222222"/>
                </a:solidFill>
              </a:rPr>
              <a:t>• </a:t>
            </a:r>
            <a:r>
              <a:rPr sz="1600" dirty="0" err="1">
                <a:solidFill>
                  <a:srgbClr val="222222"/>
                </a:solidFill>
              </a:rPr>
              <a:t>Tlak</a:t>
            </a:r>
            <a:r>
              <a:rPr sz="1600" dirty="0">
                <a:solidFill>
                  <a:srgbClr val="222222"/>
                </a:solidFill>
              </a:rPr>
              <a:t>: </a:t>
            </a:r>
            <a:endParaRPr lang="sk-SK" sz="1600" dirty="0">
              <a:solidFill>
                <a:srgbClr val="222222"/>
              </a:solidFill>
            </a:endParaRPr>
          </a:p>
          <a:p>
            <a:pPr>
              <a:spcAft>
                <a:spcPts val="400"/>
              </a:spcAft>
            </a:pPr>
            <a:r>
              <a:rPr lang="sk-SK" sz="1600" dirty="0">
                <a:solidFill>
                  <a:srgbClr val="222222"/>
                </a:solidFill>
              </a:rPr>
              <a:t>        • </a:t>
            </a:r>
            <a:r>
              <a:rPr sz="1600" dirty="0">
                <a:solidFill>
                  <a:srgbClr val="222222"/>
                </a:solidFill>
              </a:rPr>
              <a:t>Pressure, </a:t>
            </a:r>
            <a:r>
              <a:rPr sz="1600" dirty="0" err="1">
                <a:solidFill>
                  <a:srgbClr val="222222"/>
                </a:solidFill>
              </a:rPr>
              <a:t>PressureAvg</a:t>
            </a:r>
            <a:endParaRPr sz="1600" dirty="0">
              <a:solidFill>
                <a:srgbClr val="222222"/>
              </a:solidFill>
            </a:endParaRPr>
          </a:p>
          <a:p>
            <a:pPr>
              <a:spcAft>
                <a:spcPts val="400"/>
              </a:spcAft>
            </a:pPr>
            <a:r>
              <a:rPr sz="1600" dirty="0">
                <a:solidFill>
                  <a:srgbClr val="222222"/>
                </a:solidFill>
              </a:rPr>
              <a:t>• </a:t>
            </a:r>
            <a:r>
              <a:rPr sz="1600" dirty="0" err="1">
                <a:solidFill>
                  <a:srgbClr val="222222"/>
                </a:solidFill>
              </a:rPr>
              <a:t>Vlhkosť</a:t>
            </a:r>
            <a:r>
              <a:rPr sz="1600" dirty="0">
                <a:solidFill>
                  <a:srgbClr val="222222"/>
                </a:solidFill>
              </a:rPr>
              <a:t>: </a:t>
            </a:r>
            <a:endParaRPr lang="sk-SK" sz="1600" dirty="0">
              <a:solidFill>
                <a:srgbClr val="222222"/>
              </a:solidFill>
            </a:endParaRPr>
          </a:p>
          <a:p>
            <a:pPr>
              <a:spcAft>
                <a:spcPts val="400"/>
              </a:spcAft>
            </a:pPr>
            <a:r>
              <a:rPr lang="sk-SK" sz="1600" dirty="0">
                <a:solidFill>
                  <a:srgbClr val="222222"/>
                </a:solidFill>
              </a:rPr>
              <a:t>        • </a:t>
            </a:r>
            <a:r>
              <a:rPr sz="1600" dirty="0" err="1">
                <a:solidFill>
                  <a:srgbClr val="222222"/>
                </a:solidFill>
              </a:rPr>
              <a:t>RelativeHumidity</a:t>
            </a:r>
            <a:endParaRPr sz="1600" dirty="0">
              <a:solidFill>
                <a:srgbClr val="222222"/>
              </a:solidFill>
            </a:endParaRPr>
          </a:p>
          <a:p>
            <a:pPr>
              <a:spcAft>
                <a:spcPts val="400"/>
              </a:spcAft>
            </a:pPr>
            <a:r>
              <a:rPr sz="1600" dirty="0">
                <a:solidFill>
                  <a:srgbClr val="222222"/>
                </a:solidFill>
              </a:rPr>
              <a:t>• </a:t>
            </a:r>
            <a:r>
              <a:rPr sz="1600" dirty="0" err="1">
                <a:solidFill>
                  <a:srgbClr val="222222"/>
                </a:solidFill>
              </a:rPr>
              <a:t>Mechanika</a:t>
            </a:r>
            <a:r>
              <a:rPr sz="1600" dirty="0">
                <a:solidFill>
                  <a:srgbClr val="222222"/>
                </a:solidFill>
              </a:rPr>
              <a:t>: </a:t>
            </a:r>
            <a:endParaRPr lang="sk-SK" sz="1600" dirty="0">
              <a:solidFill>
                <a:srgbClr val="222222"/>
              </a:solidFill>
            </a:endParaRPr>
          </a:p>
          <a:p>
            <a:pPr>
              <a:spcAft>
                <a:spcPts val="400"/>
              </a:spcAft>
            </a:pPr>
            <a:r>
              <a:rPr lang="sk-SK" sz="1600" dirty="0">
                <a:solidFill>
                  <a:srgbClr val="222222"/>
                </a:solidFill>
              </a:rPr>
              <a:t>        • </a:t>
            </a:r>
            <a:r>
              <a:rPr sz="1600" dirty="0" err="1">
                <a:solidFill>
                  <a:srgbClr val="222222"/>
                </a:solidFill>
              </a:rPr>
              <a:t>FanSpeed</a:t>
            </a:r>
            <a:r>
              <a:rPr sz="1600" dirty="0">
                <a:solidFill>
                  <a:srgbClr val="222222"/>
                </a:solidFill>
              </a:rPr>
              <a:t>, </a:t>
            </a:r>
            <a:r>
              <a:rPr sz="1600" dirty="0" err="1">
                <a:solidFill>
                  <a:srgbClr val="222222"/>
                </a:solidFill>
              </a:rPr>
              <a:t>HeaterCurrent</a:t>
            </a:r>
            <a:r>
              <a:rPr sz="1600" dirty="0">
                <a:solidFill>
                  <a:srgbClr val="222222"/>
                </a:solidFill>
              </a:rPr>
              <a:t>, </a:t>
            </a:r>
            <a:r>
              <a:rPr sz="1600" dirty="0" err="1">
                <a:solidFill>
                  <a:srgbClr val="222222"/>
                </a:solidFill>
              </a:rPr>
              <a:t>FanCurrent</a:t>
            </a:r>
            <a:r>
              <a:rPr sz="1600" dirty="0">
                <a:solidFill>
                  <a:srgbClr val="222222"/>
                </a:solidFill>
              </a:rPr>
              <a:t>, </a:t>
            </a:r>
            <a:r>
              <a:rPr sz="1600" dirty="0" err="1">
                <a:solidFill>
                  <a:srgbClr val="222222"/>
                </a:solidFill>
              </a:rPr>
              <a:t>TiltAngle</a:t>
            </a:r>
            <a:r>
              <a:rPr sz="1600" dirty="0">
                <a:solidFill>
                  <a:srgbClr val="222222"/>
                </a:solidFill>
              </a:rPr>
              <a:t> </a:t>
            </a:r>
          </a:p>
          <a:p>
            <a:pPr>
              <a:spcAft>
                <a:spcPts val="400"/>
              </a:spcAft>
            </a:pPr>
            <a:r>
              <a:rPr sz="1600" dirty="0">
                <a:solidFill>
                  <a:srgbClr val="222222"/>
                </a:solidFill>
              </a:rPr>
              <a:t>• </a:t>
            </a:r>
            <a:r>
              <a:rPr sz="1600" dirty="0" err="1">
                <a:solidFill>
                  <a:srgbClr val="222222"/>
                </a:solidFill>
              </a:rPr>
              <a:t>Poloha</a:t>
            </a:r>
            <a:r>
              <a:rPr sz="1600" dirty="0">
                <a:solidFill>
                  <a:srgbClr val="222222"/>
                </a:solidFill>
              </a:rPr>
              <a:t> </a:t>
            </a:r>
            <a:r>
              <a:rPr sz="1600" dirty="0" err="1">
                <a:solidFill>
                  <a:srgbClr val="222222"/>
                </a:solidFill>
              </a:rPr>
              <a:t>slnka</a:t>
            </a:r>
            <a:r>
              <a:rPr sz="1600" dirty="0">
                <a:solidFill>
                  <a:srgbClr val="222222"/>
                </a:solidFill>
              </a:rPr>
              <a:t>: </a:t>
            </a:r>
            <a:endParaRPr lang="sk-SK" sz="1600" dirty="0">
              <a:solidFill>
                <a:srgbClr val="222222"/>
              </a:solidFill>
            </a:endParaRPr>
          </a:p>
          <a:p>
            <a:pPr>
              <a:spcAft>
                <a:spcPts val="400"/>
              </a:spcAft>
            </a:pPr>
            <a:r>
              <a:rPr lang="sk-SK" sz="1600" dirty="0">
                <a:solidFill>
                  <a:srgbClr val="222222"/>
                </a:solidFill>
              </a:rPr>
              <a:t>        • </a:t>
            </a:r>
            <a:r>
              <a:rPr sz="1600" dirty="0" err="1">
                <a:solidFill>
                  <a:srgbClr val="222222"/>
                </a:solidFill>
              </a:rPr>
              <a:t>SunAzimuth</a:t>
            </a:r>
            <a:r>
              <a:rPr sz="1600" dirty="0">
                <a:solidFill>
                  <a:srgbClr val="222222"/>
                </a:solidFill>
              </a:rPr>
              <a:t>, </a:t>
            </a:r>
            <a:r>
              <a:rPr sz="1600" dirty="0" err="1">
                <a:solidFill>
                  <a:srgbClr val="222222"/>
                </a:solidFill>
              </a:rPr>
              <a:t>SunZenith</a:t>
            </a:r>
            <a:r>
              <a:rPr sz="1600" dirty="0">
                <a:solidFill>
                  <a:srgbClr val="222222"/>
                </a:solidFill>
              </a:rPr>
              <a:t>, </a:t>
            </a:r>
            <a:r>
              <a:rPr sz="1600" dirty="0" err="1">
                <a:solidFill>
                  <a:srgbClr val="222222"/>
                </a:solidFill>
              </a:rPr>
              <a:t>SunLatitude</a:t>
            </a:r>
            <a:r>
              <a:rPr sz="1600" dirty="0">
                <a:solidFill>
                  <a:srgbClr val="222222"/>
                </a:solidFill>
              </a:rPr>
              <a:t>, </a:t>
            </a:r>
            <a:r>
              <a:rPr sz="1600" dirty="0" err="1">
                <a:solidFill>
                  <a:srgbClr val="222222"/>
                </a:solidFill>
              </a:rPr>
              <a:t>SunLongitude</a:t>
            </a:r>
            <a:endParaRPr sz="1600" dirty="0">
              <a:solidFill>
                <a:srgbClr val="222222"/>
              </a:solidFill>
            </a:endParaRPr>
          </a:p>
          <a:p>
            <a:pPr>
              <a:spcAft>
                <a:spcPts val="400"/>
              </a:spcAft>
            </a:pPr>
            <a:r>
              <a:rPr sz="1600" dirty="0">
                <a:solidFill>
                  <a:srgbClr val="222222"/>
                </a:solidFill>
              </a:rPr>
              <a:t>• </a:t>
            </a:r>
            <a:r>
              <a:rPr sz="1600" dirty="0" err="1">
                <a:solidFill>
                  <a:srgbClr val="222222"/>
                </a:solidFill>
              </a:rPr>
              <a:t>konštanty</a:t>
            </a:r>
            <a:r>
              <a:rPr sz="1600" dirty="0">
                <a:solidFill>
                  <a:srgbClr val="222222"/>
                </a:solidFill>
              </a:rPr>
              <a:t> </a:t>
            </a:r>
            <a:r>
              <a:rPr lang="sk-SK" sz="1600" dirty="0">
                <a:solidFill>
                  <a:srgbClr val="222222"/>
                </a:solidFill>
              </a:rPr>
              <a:t>-</a:t>
            </a:r>
            <a:r>
              <a:rPr sz="1600" dirty="0">
                <a:solidFill>
                  <a:srgbClr val="222222"/>
                </a:solidFill>
              </a:rPr>
              <a:t> </a:t>
            </a:r>
            <a:r>
              <a:rPr sz="1600" dirty="0" err="1">
                <a:solidFill>
                  <a:srgbClr val="222222"/>
                </a:solidFill>
              </a:rPr>
              <a:t>vyl</a:t>
            </a:r>
            <a:r>
              <a:rPr lang="sk-SK" sz="1600" dirty="0">
                <a:solidFill>
                  <a:srgbClr val="222222"/>
                </a:solidFill>
              </a:rPr>
              <a:t>ú</a:t>
            </a:r>
            <a:r>
              <a:rPr sz="1600" dirty="0" err="1">
                <a:solidFill>
                  <a:srgbClr val="222222"/>
                </a:solidFill>
              </a:rPr>
              <a:t>čené</a:t>
            </a:r>
            <a:r>
              <a:rPr sz="1600" dirty="0">
                <a:solidFill>
                  <a:srgbClr val="222222"/>
                </a:solidFill>
              </a:rPr>
              <a:t> z </a:t>
            </a:r>
            <a:r>
              <a:rPr sz="1600" dirty="0" err="1">
                <a:solidFill>
                  <a:srgbClr val="222222"/>
                </a:solidFill>
              </a:rPr>
              <a:t>korelačnej</a:t>
            </a:r>
            <a:r>
              <a:rPr sz="1600" dirty="0">
                <a:solidFill>
                  <a:srgbClr val="222222"/>
                </a:solidFill>
              </a:rPr>
              <a:t> </a:t>
            </a:r>
            <a:r>
              <a:rPr sz="1600" dirty="0" err="1">
                <a:solidFill>
                  <a:srgbClr val="222222"/>
                </a:solidFill>
              </a:rPr>
              <a:t>analýzy</a:t>
            </a:r>
            <a:endParaRPr sz="1600" dirty="0">
              <a:solidFill>
                <a:srgbClr val="222222"/>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201168"/>
            <a:ext cx="349776" cy="461665"/>
          </a:xfrm>
          <a:prstGeom prst="rect">
            <a:avLst/>
          </a:prstGeom>
          <a:noFill/>
        </p:spPr>
        <p:txBody>
          <a:bodyPr wrap="none">
            <a:spAutoFit/>
          </a:bodyPr>
          <a:lstStyle/>
          <a:p>
            <a:pPr algn="ctr"/>
            <a:r>
              <a:rPr sz="2400" b="1" dirty="0">
                <a:solidFill>
                  <a:srgbClr val="FFFFFF"/>
                </a:solidFill>
              </a:rPr>
              <a:t>4</a:t>
            </a:r>
          </a:p>
        </p:txBody>
      </p:sp>
      <p:sp>
        <p:nvSpPr>
          <p:cNvPr id="4" name="TextBox 3"/>
          <p:cNvSpPr txBox="1"/>
          <p:nvPr/>
        </p:nvSpPr>
        <p:spPr>
          <a:xfrm>
            <a:off x="822960" y="201168"/>
            <a:ext cx="6068456" cy="461665"/>
          </a:xfrm>
          <a:prstGeom prst="rect">
            <a:avLst/>
          </a:prstGeom>
          <a:noFill/>
        </p:spPr>
        <p:txBody>
          <a:bodyPr wrap="none">
            <a:spAutoFit/>
          </a:bodyPr>
          <a:lstStyle/>
          <a:p>
            <a:pPr algn="l"/>
            <a:r>
              <a:rPr sz="2400" b="1" dirty="0" err="1">
                <a:solidFill>
                  <a:srgbClr val="FFFFFF"/>
                </a:solidFill>
              </a:rPr>
              <a:t>Architektúra</a:t>
            </a:r>
            <a:r>
              <a:rPr sz="2400" b="1" dirty="0">
                <a:solidFill>
                  <a:srgbClr val="FFFFFF"/>
                </a:solidFill>
              </a:rPr>
              <a:t> </a:t>
            </a:r>
            <a:r>
              <a:rPr sz="2400" b="1" dirty="0" err="1">
                <a:solidFill>
                  <a:srgbClr val="FFFFFF"/>
                </a:solidFill>
              </a:rPr>
              <a:t>riešenia</a:t>
            </a:r>
            <a:r>
              <a:rPr sz="2400" b="1" dirty="0">
                <a:solidFill>
                  <a:srgbClr val="FFFFFF"/>
                </a:solidFill>
              </a:rPr>
              <a:t> </a:t>
            </a:r>
            <a:r>
              <a:rPr lang="sk-SK" sz="2400" b="1" dirty="0">
                <a:solidFill>
                  <a:srgbClr val="FFFFFF"/>
                </a:solidFill>
              </a:rPr>
              <a:t>-</a:t>
            </a:r>
            <a:r>
              <a:rPr sz="2400" b="1" dirty="0">
                <a:solidFill>
                  <a:srgbClr val="FFFFFF"/>
                </a:solidFill>
              </a:rPr>
              <a:t> 6 </a:t>
            </a:r>
            <a:r>
              <a:rPr sz="2400" b="1" dirty="0" err="1">
                <a:solidFill>
                  <a:srgbClr val="FFFFFF"/>
                </a:solidFill>
              </a:rPr>
              <a:t>modulov</a:t>
            </a:r>
            <a:r>
              <a:rPr sz="2400" b="1" dirty="0">
                <a:solidFill>
                  <a:srgbClr val="FFFFFF"/>
                </a:solidFill>
              </a:rPr>
              <a:t>, pipeline</a:t>
            </a:r>
          </a:p>
        </p:txBody>
      </p:sp>
      <p:sp>
        <p:nvSpPr>
          <p:cNvPr id="6" name="Rectangle 5"/>
          <p:cNvSpPr/>
          <p:nvPr/>
        </p:nvSpPr>
        <p:spPr>
          <a:xfrm>
            <a:off x="320040" y="1234440"/>
            <a:ext cx="11551615" cy="402336"/>
          </a:xfrm>
          <a:prstGeom prst="rect">
            <a:avLst/>
          </a:prstGeom>
          <a:solidFill>
            <a:srgbClr val="3949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93192" y="1273917"/>
            <a:ext cx="3108960" cy="338554"/>
          </a:xfrm>
          <a:prstGeom prst="rect">
            <a:avLst/>
          </a:prstGeom>
          <a:noFill/>
        </p:spPr>
        <p:txBody>
          <a:bodyPr wrap="square">
            <a:spAutoFit/>
          </a:bodyPr>
          <a:lstStyle/>
          <a:p>
            <a:pPr algn="l"/>
            <a:r>
              <a:rPr sz="1600" b="1" i="0" dirty="0">
                <a:solidFill>
                  <a:srgbClr val="FFFFFF"/>
                </a:solidFill>
              </a:rPr>
              <a:t>Modul</a:t>
            </a:r>
            <a:endParaRPr sz="1100" b="1" i="0" dirty="0">
              <a:solidFill>
                <a:srgbClr val="FFFFFF"/>
              </a:solidFill>
            </a:endParaRPr>
          </a:p>
        </p:txBody>
      </p:sp>
      <p:sp>
        <p:nvSpPr>
          <p:cNvPr id="8" name="TextBox 7"/>
          <p:cNvSpPr txBox="1"/>
          <p:nvPr/>
        </p:nvSpPr>
        <p:spPr>
          <a:xfrm>
            <a:off x="3502152" y="1273917"/>
            <a:ext cx="8442655" cy="338554"/>
          </a:xfrm>
          <a:prstGeom prst="rect">
            <a:avLst/>
          </a:prstGeom>
          <a:noFill/>
        </p:spPr>
        <p:txBody>
          <a:bodyPr wrap="square">
            <a:spAutoFit/>
          </a:bodyPr>
          <a:lstStyle/>
          <a:p>
            <a:pPr algn="l"/>
            <a:r>
              <a:rPr sz="1600" b="1" i="0" dirty="0">
                <a:solidFill>
                  <a:srgbClr val="FFFFFF"/>
                </a:solidFill>
              </a:rPr>
              <a:t>Zodpovednosť</a:t>
            </a:r>
          </a:p>
        </p:txBody>
      </p:sp>
      <p:sp>
        <p:nvSpPr>
          <p:cNvPr id="9" name="Rectangle 8"/>
          <p:cNvSpPr/>
          <p:nvPr/>
        </p:nvSpPr>
        <p:spPr>
          <a:xfrm>
            <a:off x="320040" y="1636776"/>
            <a:ext cx="11551615" cy="512064"/>
          </a:xfrm>
          <a:prstGeom prst="rect">
            <a:avLst/>
          </a:prstGeom>
          <a:solidFill>
            <a:srgbClr val="F8F9FF"/>
          </a:solidFill>
          <a:ln w="6350">
            <a:solidFill>
              <a:srgbClr val="E0E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93192" y="1755225"/>
            <a:ext cx="3017520" cy="307777"/>
          </a:xfrm>
          <a:prstGeom prst="rect">
            <a:avLst/>
          </a:prstGeom>
          <a:noFill/>
        </p:spPr>
        <p:txBody>
          <a:bodyPr wrap="square">
            <a:spAutoFit/>
          </a:bodyPr>
          <a:lstStyle/>
          <a:p>
            <a:pPr algn="l"/>
            <a:r>
              <a:rPr sz="1400" b="1" i="0" dirty="0">
                <a:solidFill>
                  <a:srgbClr val="1A237E"/>
                </a:solidFill>
              </a:rPr>
              <a:t>nacitanie_dat.py</a:t>
            </a:r>
          </a:p>
        </p:txBody>
      </p:sp>
      <p:sp>
        <p:nvSpPr>
          <p:cNvPr id="11" name="TextBox 10"/>
          <p:cNvSpPr txBox="1"/>
          <p:nvPr/>
        </p:nvSpPr>
        <p:spPr>
          <a:xfrm>
            <a:off x="3483864" y="1774466"/>
            <a:ext cx="8351215" cy="276999"/>
          </a:xfrm>
          <a:prstGeom prst="rect">
            <a:avLst/>
          </a:prstGeom>
          <a:noFill/>
        </p:spPr>
        <p:txBody>
          <a:bodyPr wrap="square">
            <a:spAutoFit/>
          </a:bodyPr>
          <a:lstStyle/>
          <a:p>
            <a:pPr algn="l"/>
            <a:r>
              <a:rPr sz="1200" b="0" i="0" dirty="0" err="1">
                <a:solidFill>
                  <a:srgbClr val="222222"/>
                </a:solidFill>
              </a:rPr>
              <a:t>Načítanie</a:t>
            </a:r>
            <a:r>
              <a:rPr sz="1200" b="0" i="0" dirty="0">
                <a:solidFill>
                  <a:srgbClr val="222222"/>
                </a:solidFill>
              </a:rPr>
              <a:t> CSV, </a:t>
            </a:r>
            <a:r>
              <a:rPr sz="1200" b="0" i="0" dirty="0" err="1">
                <a:solidFill>
                  <a:srgbClr val="222222"/>
                </a:solidFill>
              </a:rPr>
              <a:t>parsovanie</a:t>
            </a:r>
            <a:r>
              <a:rPr sz="1200" b="0" i="0" dirty="0">
                <a:solidFill>
                  <a:srgbClr val="222222"/>
                </a:solidFill>
              </a:rPr>
              <a:t> </a:t>
            </a:r>
            <a:r>
              <a:rPr sz="1200" b="0" i="0" dirty="0" err="1">
                <a:solidFill>
                  <a:srgbClr val="222222"/>
                </a:solidFill>
              </a:rPr>
              <a:t>DateTime</a:t>
            </a:r>
            <a:r>
              <a:rPr sz="1200" b="0" i="0" dirty="0">
                <a:solidFill>
                  <a:srgbClr val="222222"/>
                </a:solidFill>
              </a:rPr>
              <a:t>, </a:t>
            </a:r>
            <a:r>
              <a:rPr sz="1200" b="0" i="0" dirty="0" err="1">
                <a:solidFill>
                  <a:srgbClr val="222222"/>
                </a:solidFill>
              </a:rPr>
              <a:t>pomocné</a:t>
            </a:r>
            <a:r>
              <a:rPr sz="1200" b="0" i="0" dirty="0">
                <a:solidFill>
                  <a:srgbClr val="222222"/>
                </a:solidFill>
              </a:rPr>
              <a:t> </a:t>
            </a:r>
            <a:r>
              <a:rPr sz="1200" b="0" i="0" dirty="0" err="1">
                <a:solidFill>
                  <a:srgbClr val="222222"/>
                </a:solidFill>
              </a:rPr>
              <a:t>stĺpce</a:t>
            </a:r>
            <a:r>
              <a:rPr sz="1200" b="0" i="0" dirty="0">
                <a:solidFill>
                  <a:srgbClr val="222222"/>
                </a:solidFill>
              </a:rPr>
              <a:t> (Date, Hour, Month, </a:t>
            </a:r>
            <a:r>
              <a:rPr sz="1200" b="0" i="0" dirty="0" err="1">
                <a:solidFill>
                  <a:srgbClr val="222222"/>
                </a:solidFill>
              </a:rPr>
              <a:t>DayOfYear</a:t>
            </a:r>
            <a:r>
              <a:rPr sz="1200" b="0" i="0" dirty="0">
                <a:solidFill>
                  <a:srgbClr val="222222"/>
                </a:solidFill>
              </a:rPr>
              <a:t>)</a:t>
            </a:r>
          </a:p>
        </p:txBody>
      </p:sp>
      <p:sp>
        <p:nvSpPr>
          <p:cNvPr id="12" name="Rectangle 11"/>
          <p:cNvSpPr/>
          <p:nvPr/>
        </p:nvSpPr>
        <p:spPr>
          <a:xfrm>
            <a:off x="320040" y="2148840"/>
            <a:ext cx="11551615" cy="512064"/>
          </a:xfrm>
          <a:prstGeom prst="rect">
            <a:avLst/>
          </a:prstGeom>
          <a:solidFill>
            <a:srgbClr val="FFFFFF"/>
          </a:solidFill>
          <a:ln w="6350">
            <a:solidFill>
              <a:srgbClr val="E0E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93192" y="2221992"/>
            <a:ext cx="3017520" cy="307777"/>
          </a:xfrm>
          <a:prstGeom prst="rect">
            <a:avLst/>
          </a:prstGeom>
          <a:noFill/>
        </p:spPr>
        <p:txBody>
          <a:bodyPr wrap="square">
            <a:spAutoFit/>
          </a:bodyPr>
          <a:lstStyle/>
          <a:p>
            <a:pPr algn="l"/>
            <a:r>
              <a:rPr sz="1400" b="1" dirty="0">
                <a:solidFill>
                  <a:srgbClr val="1A237E"/>
                </a:solidFill>
              </a:rPr>
              <a:t>analyza_chyb.py</a:t>
            </a:r>
          </a:p>
        </p:txBody>
      </p:sp>
      <p:sp>
        <p:nvSpPr>
          <p:cNvPr id="14" name="TextBox 13"/>
          <p:cNvSpPr txBox="1"/>
          <p:nvPr/>
        </p:nvSpPr>
        <p:spPr>
          <a:xfrm>
            <a:off x="3502151" y="2237380"/>
            <a:ext cx="8351215" cy="276999"/>
          </a:xfrm>
          <a:prstGeom prst="rect">
            <a:avLst/>
          </a:prstGeom>
          <a:noFill/>
        </p:spPr>
        <p:txBody>
          <a:bodyPr wrap="square">
            <a:spAutoFit/>
          </a:bodyPr>
          <a:lstStyle/>
          <a:p>
            <a:pPr algn="l"/>
            <a:r>
              <a:rPr sz="1200" b="0" i="0" dirty="0" err="1">
                <a:solidFill>
                  <a:srgbClr val="222222"/>
                </a:solidFill>
              </a:rPr>
              <a:t>NaN</a:t>
            </a:r>
            <a:r>
              <a:rPr sz="1200" b="0" i="0" dirty="0">
                <a:solidFill>
                  <a:srgbClr val="222222"/>
                </a:solidFill>
              </a:rPr>
              <a:t>, </a:t>
            </a:r>
            <a:r>
              <a:rPr sz="1200" b="0" i="0" dirty="0" err="1">
                <a:solidFill>
                  <a:srgbClr val="222222"/>
                </a:solidFill>
              </a:rPr>
              <a:t>chýbajúce</a:t>
            </a:r>
            <a:r>
              <a:rPr sz="1200" b="0" i="0" dirty="0">
                <a:solidFill>
                  <a:srgbClr val="222222"/>
                </a:solidFill>
              </a:rPr>
              <a:t> </a:t>
            </a:r>
            <a:r>
              <a:rPr sz="1200" b="0" i="0" dirty="0" err="1">
                <a:solidFill>
                  <a:srgbClr val="222222"/>
                </a:solidFill>
              </a:rPr>
              <a:t>dni</a:t>
            </a:r>
            <a:r>
              <a:rPr sz="1200" b="0" i="0" dirty="0">
                <a:solidFill>
                  <a:srgbClr val="222222"/>
                </a:solidFill>
              </a:rPr>
              <a:t>, </a:t>
            </a:r>
            <a:r>
              <a:rPr sz="1200" b="0" i="0" dirty="0" err="1">
                <a:solidFill>
                  <a:srgbClr val="222222"/>
                </a:solidFill>
              </a:rPr>
              <a:t>fyzikálne</a:t>
            </a:r>
            <a:r>
              <a:rPr sz="1200" b="0" i="0" dirty="0">
                <a:solidFill>
                  <a:srgbClr val="222222"/>
                </a:solidFill>
              </a:rPr>
              <a:t> </a:t>
            </a:r>
            <a:r>
              <a:rPr sz="1200" b="0" i="0" dirty="0" err="1">
                <a:solidFill>
                  <a:srgbClr val="222222"/>
                </a:solidFill>
              </a:rPr>
              <a:t>medze</a:t>
            </a:r>
            <a:r>
              <a:rPr sz="1200" b="0" i="0" dirty="0">
                <a:solidFill>
                  <a:srgbClr val="222222"/>
                </a:solidFill>
              </a:rPr>
              <a:t>, </a:t>
            </a:r>
            <a:r>
              <a:rPr sz="1200" b="0" i="0" dirty="0" err="1">
                <a:solidFill>
                  <a:srgbClr val="222222"/>
                </a:solidFill>
              </a:rPr>
              <a:t>histogramy</a:t>
            </a:r>
            <a:r>
              <a:rPr sz="1200" b="0" i="0" dirty="0">
                <a:solidFill>
                  <a:srgbClr val="222222"/>
                </a:solidFill>
              </a:rPr>
              <a:t> </a:t>
            </a:r>
            <a:r>
              <a:rPr sz="1200" b="0" i="0" dirty="0" err="1">
                <a:solidFill>
                  <a:srgbClr val="222222"/>
                </a:solidFill>
              </a:rPr>
              <a:t>skupín</a:t>
            </a:r>
            <a:r>
              <a:rPr sz="1200" b="0" i="0" dirty="0">
                <a:solidFill>
                  <a:srgbClr val="222222"/>
                </a:solidFill>
              </a:rPr>
              <a:t> </a:t>
            </a:r>
            <a:r>
              <a:rPr sz="1200" b="0" i="0" dirty="0" err="1">
                <a:solidFill>
                  <a:srgbClr val="222222"/>
                </a:solidFill>
              </a:rPr>
              <a:t>chýb</a:t>
            </a:r>
            <a:r>
              <a:rPr sz="1200" b="0" i="0" dirty="0">
                <a:solidFill>
                  <a:srgbClr val="222222"/>
                </a:solidFill>
              </a:rPr>
              <a:t>, </a:t>
            </a:r>
            <a:r>
              <a:rPr sz="1200" b="0" i="0" dirty="0" err="1">
                <a:solidFill>
                  <a:srgbClr val="222222"/>
                </a:solidFill>
              </a:rPr>
              <a:t>čistenie</a:t>
            </a:r>
            <a:r>
              <a:rPr sz="1200" b="0" i="0" dirty="0">
                <a:solidFill>
                  <a:srgbClr val="222222"/>
                </a:solidFill>
              </a:rPr>
              <a:t> → cleaned.csv</a:t>
            </a:r>
          </a:p>
        </p:txBody>
      </p:sp>
      <p:sp>
        <p:nvSpPr>
          <p:cNvPr id="15" name="Rectangle 14"/>
          <p:cNvSpPr/>
          <p:nvPr/>
        </p:nvSpPr>
        <p:spPr>
          <a:xfrm>
            <a:off x="320040" y="2660904"/>
            <a:ext cx="11551615" cy="512064"/>
          </a:xfrm>
          <a:prstGeom prst="rect">
            <a:avLst/>
          </a:prstGeom>
          <a:solidFill>
            <a:srgbClr val="F8F9FF"/>
          </a:solidFill>
          <a:ln w="6350">
            <a:solidFill>
              <a:srgbClr val="E0E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93192" y="2734056"/>
            <a:ext cx="3017520" cy="307777"/>
          </a:xfrm>
          <a:prstGeom prst="rect">
            <a:avLst/>
          </a:prstGeom>
          <a:noFill/>
        </p:spPr>
        <p:txBody>
          <a:bodyPr wrap="square">
            <a:spAutoFit/>
          </a:bodyPr>
          <a:lstStyle/>
          <a:p>
            <a:pPr algn="l"/>
            <a:r>
              <a:rPr sz="1400" b="1" dirty="0">
                <a:solidFill>
                  <a:srgbClr val="1A237E"/>
                </a:solidFill>
              </a:rPr>
              <a:t>analyza_ziarenia.py</a:t>
            </a:r>
          </a:p>
        </p:txBody>
      </p:sp>
      <p:sp>
        <p:nvSpPr>
          <p:cNvPr id="17" name="TextBox 16"/>
          <p:cNvSpPr txBox="1"/>
          <p:nvPr/>
        </p:nvSpPr>
        <p:spPr>
          <a:xfrm>
            <a:off x="3483864" y="2775758"/>
            <a:ext cx="8351215" cy="276999"/>
          </a:xfrm>
          <a:prstGeom prst="rect">
            <a:avLst/>
          </a:prstGeom>
          <a:noFill/>
        </p:spPr>
        <p:txBody>
          <a:bodyPr wrap="square">
            <a:spAutoFit/>
          </a:bodyPr>
          <a:lstStyle/>
          <a:p>
            <a:pPr algn="l"/>
            <a:r>
              <a:rPr sz="1200" b="0" i="0" dirty="0" err="1">
                <a:solidFill>
                  <a:srgbClr val="222222"/>
                </a:solidFill>
              </a:rPr>
              <a:t>Ročná</a:t>
            </a:r>
            <a:r>
              <a:rPr sz="1200" b="0" i="0" dirty="0">
                <a:solidFill>
                  <a:srgbClr val="222222"/>
                </a:solidFill>
              </a:rPr>
              <a:t> </a:t>
            </a:r>
            <a:r>
              <a:rPr sz="1200" b="0" i="0" dirty="0" err="1">
                <a:solidFill>
                  <a:srgbClr val="222222"/>
                </a:solidFill>
              </a:rPr>
              <a:t>analýza</a:t>
            </a:r>
            <a:r>
              <a:rPr sz="1200" b="0" i="0" dirty="0">
                <a:solidFill>
                  <a:srgbClr val="222222"/>
                </a:solidFill>
              </a:rPr>
              <a:t> (</a:t>
            </a:r>
            <a:r>
              <a:rPr sz="1200" b="0" i="0" dirty="0" err="1">
                <a:solidFill>
                  <a:srgbClr val="222222"/>
                </a:solidFill>
              </a:rPr>
              <a:t>DayOfYear</a:t>
            </a:r>
            <a:r>
              <a:rPr sz="1200" b="0" i="0" dirty="0">
                <a:solidFill>
                  <a:srgbClr val="222222"/>
                </a:solidFill>
              </a:rPr>
              <a:t>) + </a:t>
            </a:r>
            <a:r>
              <a:rPr sz="1200" b="0" i="0" dirty="0" err="1">
                <a:solidFill>
                  <a:srgbClr val="222222"/>
                </a:solidFill>
              </a:rPr>
              <a:t>mesačné</a:t>
            </a:r>
            <a:r>
              <a:rPr sz="1200" b="0" i="0" dirty="0">
                <a:solidFill>
                  <a:srgbClr val="222222"/>
                </a:solidFill>
              </a:rPr>
              <a:t> </a:t>
            </a:r>
            <a:r>
              <a:rPr sz="1200" b="0" i="0" dirty="0" err="1">
                <a:solidFill>
                  <a:srgbClr val="222222"/>
                </a:solidFill>
              </a:rPr>
              <a:t>hodinové</a:t>
            </a:r>
            <a:r>
              <a:rPr sz="1200" b="0" i="0" dirty="0">
                <a:solidFill>
                  <a:srgbClr val="222222"/>
                </a:solidFill>
              </a:rPr>
              <a:t> </a:t>
            </a:r>
            <a:r>
              <a:rPr sz="1200" b="0" i="0" dirty="0" err="1">
                <a:solidFill>
                  <a:srgbClr val="222222"/>
                </a:solidFill>
              </a:rPr>
              <a:t>profily</a:t>
            </a:r>
            <a:r>
              <a:rPr sz="1200" b="0" i="0" dirty="0">
                <a:solidFill>
                  <a:srgbClr val="222222"/>
                </a:solidFill>
              </a:rPr>
              <a:t>, </a:t>
            </a:r>
            <a:r>
              <a:rPr sz="1200" b="0" i="0" dirty="0" err="1">
                <a:solidFill>
                  <a:srgbClr val="222222"/>
                </a:solidFill>
              </a:rPr>
              <a:t>PyTorch</a:t>
            </a:r>
            <a:r>
              <a:rPr sz="1200" b="0" i="0" dirty="0">
                <a:solidFill>
                  <a:srgbClr val="222222"/>
                </a:solidFill>
              </a:rPr>
              <a:t> </a:t>
            </a:r>
            <a:r>
              <a:rPr sz="1200" b="0" i="0" dirty="0" err="1">
                <a:solidFill>
                  <a:srgbClr val="222222"/>
                </a:solidFill>
              </a:rPr>
              <a:t>štatistiky</a:t>
            </a:r>
            <a:endParaRPr sz="1200" b="0" i="0" dirty="0">
              <a:solidFill>
                <a:srgbClr val="222222"/>
              </a:solidFill>
            </a:endParaRPr>
          </a:p>
        </p:txBody>
      </p:sp>
      <p:sp>
        <p:nvSpPr>
          <p:cNvPr id="18" name="Rectangle 17"/>
          <p:cNvSpPr/>
          <p:nvPr/>
        </p:nvSpPr>
        <p:spPr>
          <a:xfrm>
            <a:off x="320040" y="3172968"/>
            <a:ext cx="11551615" cy="512064"/>
          </a:xfrm>
          <a:prstGeom prst="rect">
            <a:avLst/>
          </a:prstGeom>
          <a:solidFill>
            <a:srgbClr val="FFFFFF"/>
          </a:solidFill>
          <a:ln w="6350">
            <a:solidFill>
              <a:srgbClr val="E0E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393192" y="3246120"/>
            <a:ext cx="3017520" cy="307777"/>
          </a:xfrm>
          <a:prstGeom prst="rect">
            <a:avLst/>
          </a:prstGeom>
          <a:noFill/>
        </p:spPr>
        <p:txBody>
          <a:bodyPr wrap="square">
            <a:spAutoFit/>
          </a:bodyPr>
          <a:lstStyle/>
          <a:p>
            <a:pPr algn="l"/>
            <a:r>
              <a:rPr sz="1400" b="1" dirty="0">
                <a:solidFill>
                  <a:srgbClr val="1A237E"/>
                </a:solidFill>
              </a:rPr>
              <a:t>analyza_korelacie.py</a:t>
            </a:r>
          </a:p>
        </p:txBody>
      </p:sp>
      <p:sp>
        <p:nvSpPr>
          <p:cNvPr id="20" name="TextBox 19"/>
          <p:cNvSpPr txBox="1"/>
          <p:nvPr/>
        </p:nvSpPr>
        <p:spPr>
          <a:xfrm>
            <a:off x="3502151" y="3261508"/>
            <a:ext cx="8351215" cy="276999"/>
          </a:xfrm>
          <a:prstGeom prst="rect">
            <a:avLst/>
          </a:prstGeom>
          <a:noFill/>
        </p:spPr>
        <p:txBody>
          <a:bodyPr wrap="square">
            <a:spAutoFit/>
          </a:bodyPr>
          <a:lstStyle/>
          <a:p>
            <a:pPr algn="l"/>
            <a:r>
              <a:rPr sz="1200" b="0" i="0" dirty="0">
                <a:solidFill>
                  <a:srgbClr val="222222"/>
                </a:solidFill>
              </a:rPr>
              <a:t>Súhrnné </a:t>
            </a:r>
            <a:r>
              <a:rPr sz="1200" b="0" i="0" dirty="0" err="1">
                <a:solidFill>
                  <a:srgbClr val="222222"/>
                </a:solidFill>
              </a:rPr>
              <a:t>štatistiky</a:t>
            </a:r>
            <a:r>
              <a:rPr sz="1200" b="0" i="0" dirty="0">
                <a:solidFill>
                  <a:srgbClr val="222222"/>
                </a:solidFill>
              </a:rPr>
              <a:t>, </a:t>
            </a:r>
            <a:r>
              <a:rPr sz="1200" b="0" i="0" dirty="0" err="1">
                <a:solidFill>
                  <a:srgbClr val="222222"/>
                </a:solidFill>
              </a:rPr>
              <a:t>Pearsonova</a:t>
            </a:r>
            <a:r>
              <a:rPr sz="1200" b="0" i="0" dirty="0">
                <a:solidFill>
                  <a:srgbClr val="222222"/>
                </a:solidFill>
              </a:rPr>
              <a:t> </a:t>
            </a:r>
            <a:r>
              <a:rPr sz="1200" b="0" i="0" dirty="0" err="1">
                <a:solidFill>
                  <a:srgbClr val="222222"/>
                </a:solidFill>
              </a:rPr>
              <a:t>matica</a:t>
            </a:r>
            <a:r>
              <a:rPr sz="1200" b="0" i="0" dirty="0">
                <a:solidFill>
                  <a:srgbClr val="222222"/>
                </a:solidFill>
              </a:rPr>
              <a:t>, </a:t>
            </a:r>
            <a:r>
              <a:rPr sz="1200" b="0" i="0" dirty="0" err="1">
                <a:solidFill>
                  <a:srgbClr val="222222"/>
                </a:solidFill>
              </a:rPr>
              <a:t>heatmapa</a:t>
            </a:r>
            <a:r>
              <a:rPr sz="1200" b="0" i="0" dirty="0">
                <a:solidFill>
                  <a:srgbClr val="222222"/>
                </a:solidFill>
              </a:rPr>
              <a:t>, 12 scatter </a:t>
            </a:r>
            <a:r>
              <a:rPr sz="1200" b="0" i="0" dirty="0" err="1">
                <a:solidFill>
                  <a:srgbClr val="222222"/>
                </a:solidFill>
              </a:rPr>
              <a:t>plotov</a:t>
            </a:r>
            <a:endParaRPr sz="1200" b="0" i="0" dirty="0">
              <a:solidFill>
                <a:srgbClr val="222222"/>
              </a:solidFill>
            </a:endParaRPr>
          </a:p>
        </p:txBody>
      </p:sp>
      <p:sp>
        <p:nvSpPr>
          <p:cNvPr id="21" name="Rectangle 20"/>
          <p:cNvSpPr/>
          <p:nvPr/>
        </p:nvSpPr>
        <p:spPr>
          <a:xfrm>
            <a:off x="320040" y="3685032"/>
            <a:ext cx="11551615" cy="512064"/>
          </a:xfrm>
          <a:prstGeom prst="rect">
            <a:avLst/>
          </a:prstGeom>
          <a:solidFill>
            <a:srgbClr val="F8F9FF"/>
          </a:solidFill>
          <a:ln w="6350">
            <a:solidFill>
              <a:srgbClr val="E0E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393192" y="3758184"/>
            <a:ext cx="3017520" cy="307777"/>
          </a:xfrm>
          <a:prstGeom prst="rect">
            <a:avLst/>
          </a:prstGeom>
          <a:noFill/>
        </p:spPr>
        <p:txBody>
          <a:bodyPr wrap="square">
            <a:spAutoFit/>
          </a:bodyPr>
          <a:lstStyle/>
          <a:p>
            <a:pPr algn="l"/>
            <a:r>
              <a:rPr sz="1400" b="1" dirty="0">
                <a:solidFill>
                  <a:srgbClr val="1A237E"/>
                </a:solidFill>
              </a:rPr>
              <a:t>generuj_html.py</a:t>
            </a:r>
          </a:p>
        </p:txBody>
      </p:sp>
      <p:sp>
        <p:nvSpPr>
          <p:cNvPr id="23" name="TextBox 22"/>
          <p:cNvSpPr txBox="1"/>
          <p:nvPr/>
        </p:nvSpPr>
        <p:spPr>
          <a:xfrm>
            <a:off x="3502151" y="3775302"/>
            <a:ext cx="8351215" cy="276999"/>
          </a:xfrm>
          <a:prstGeom prst="rect">
            <a:avLst/>
          </a:prstGeom>
          <a:noFill/>
        </p:spPr>
        <p:txBody>
          <a:bodyPr wrap="square">
            <a:spAutoFit/>
          </a:bodyPr>
          <a:lstStyle/>
          <a:p>
            <a:pPr algn="l"/>
            <a:r>
              <a:rPr sz="1200" b="0" i="0" dirty="0">
                <a:solidFill>
                  <a:srgbClr val="222222"/>
                </a:solidFill>
              </a:rPr>
              <a:t>Self-contained HTML report (base64 </a:t>
            </a:r>
            <a:r>
              <a:rPr sz="1200" b="0" i="0" dirty="0" err="1">
                <a:solidFill>
                  <a:srgbClr val="222222"/>
                </a:solidFill>
              </a:rPr>
              <a:t>obrázky</a:t>
            </a:r>
            <a:r>
              <a:rPr sz="1200" b="0" i="0" dirty="0">
                <a:solidFill>
                  <a:srgbClr val="222222"/>
                </a:solidFill>
              </a:rPr>
              <a:t>, </a:t>
            </a:r>
            <a:r>
              <a:rPr sz="1200" b="0" i="0" dirty="0" err="1">
                <a:solidFill>
                  <a:srgbClr val="222222"/>
                </a:solidFill>
              </a:rPr>
              <a:t>zachytenie</a:t>
            </a:r>
            <a:r>
              <a:rPr sz="1200" b="0" i="0" dirty="0">
                <a:solidFill>
                  <a:srgbClr val="222222"/>
                </a:solidFill>
              </a:rPr>
              <a:t> </a:t>
            </a:r>
            <a:r>
              <a:rPr sz="1200" b="0" i="0" dirty="0" err="1">
                <a:solidFill>
                  <a:srgbClr val="222222"/>
                </a:solidFill>
              </a:rPr>
              <a:t>stdout</a:t>
            </a:r>
            <a:r>
              <a:rPr sz="1200" b="0" i="0" dirty="0">
                <a:solidFill>
                  <a:srgbClr val="222222"/>
                </a:solidFill>
              </a:rPr>
              <a:t>)</a:t>
            </a:r>
          </a:p>
        </p:txBody>
      </p:sp>
      <p:sp>
        <p:nvSpPr>
          <p:cNvPr id="24" name="Rectangle 23"/>
          <p:cNvSpPr/>
          <p:nvPr/>
        </p:nvSpPr>
        <p:spPr>
          <a:xfrm>
            <a:off x="320040" y="4197096"/>
            <a:ext cx="11551615" cy="512064"/>
          </a:xfrm>
          <a:prstGeom prst="rect">
            <a:avLst/>
          </a:prstGeom>
          <a:solidFill>
            <a:srgbClr val="FFFFFF"/>
          </a:solidFill>
          <a:ln w="6350">
            <a:solidFill>
              <a:srgbClr val="E0E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393192" y="4270248"/>
            <a:ext cx="3017520" cy="420624"/>
          </a:xfrm>
          <a:prstGeom prst="rect">
            <a:avLst/>
          </a:prstGeom>
          <a:noFill/>
        </p:spPr>
        <p:txBody>
          <a:bodyPr wrap="square">
            <a:spAutoFit/>
          </a:bodyPr>
          <a:lstStyle>
            <a:defPPr>
              <a:defRPr lang="sk-SK"/>
            </a:defPPr>
            <a:lvl1pPr>
              <a:defRPr sz="1400" b="1" i="0">
                <a:solidFill>
                  <a:srgbClr val="1A237E"/>
                </a:solidFill>
              </a:defRPr>
            </a:lvl1pPr>
          </a:lstStyle>
          <a:p>
            <a:r>
              <a:rPr dirty="0"/>
              <a:t>main.py</a:t>
            </a:r>
          </a:p>
        </p:txBody>
      </p:sp>
      <p:sp>
        <p:nvSpPr>
          <p:cNvPr id="26" name="TextBox 25"/>
          <p:cNvSpPr txBox="1"/>
          <p:nvPr/>
        </p:nvSpPr>
        <p:spPr>
          <a:xfrm>
            <a:off x="3502151" y="4289772"/>
            <a:ext cx="8351215" cy="276999"/>
          </a:xfrm>
          <a:prstGeom prst="rect">
            <a:avLst/>
          </a:prstGeom>
          <a:noFill/>
        </p:spPr>
        <p:txBody>
          <a:bodyPr wrap="square">
            <a:spAutoFit/>
          </a:bodyPr>
          <a:lstStyle/>
          <a:p>
            <a:pPr algn="l"/>
            <a:r>
              <a:rPr sz="1200" b="0" i="0" dirty="0" err="1">
                <a:solidFill>
                  <a:srgbClr val="222222"/>
                </a:solidFill>
              </a:rPr>
              <a:t>Orchestrácia</a:t>
            </a:r>
            <a:r>
              <a:rPr sz="1200" b="0" i="0" dirty="0">
                <a:solidFill>
                  <a:srgbClr val="222222"/>
                </a:solidFill>
              </a:rPr>
              <a:t> — </a:t>
            </a:r>
            <a:r>
              <a:rPr sz="1200" b="0" i="0" dirty="0" err="1">
                <a:solidFill>
                  <a:srgbClr val="222222"/>
                </a:solidFill>
              </a:rPr>
              <a:t>spúšťa</a:t>
            </a:r>
            <a:r>
              <a:rPr sz="1200" b="0" i="0" dirty="0">
                <a:solidFill>
                  <a:srgbClr val="222222"/>
                </a:solidFill>
              </a:rPr>
              <a:t> </a:t>
            </a:r>
            <a:r>
              <a:rPr sz="1200" b="0" i="0" dirty="0" err="1">
                <a:solidFill>
                  <a:srgbClr val="222222"/>
                </a:solidFill>
              </a:rPr>
              <a:t>moduly</a:t>
            </a:r>
            <a:r>
              <a:rPr sz="1200" b="0" i="0" dirty="0">
                <a:solidFill>
                  <a:srgbClr val="222222"/>
                </a:solidFill>
              </a:rPr>
              <a:t> v </a:t>
            </a:r>
            <a:r>
              <a:rPr sz="1200" b="0" i="0" dirty="0" err="1">
                <a:solidFill>
                  <a:srgbClr val="222222"/>
                </a:solidFill>
              </a:rPr>
              <a:t>správnom</a:t>
            </a:r>
            <a:r>
              <a:rPr sz="1200" b="0" i="0" dirty="0">
                <a:solidFill>
                  <a:srgbClr val="222222"/>
                </a:solidFill>
              </a:rPr>
              <a:t> </a:t>
            </a:r>
            <a:r>
              <a:rPr sz="1200" b="0" i="0" dirty="0" err="1">
                <a:solidFill>
                  <a:srgbClr val="222222"/>
                </a:solidFill>
              </a:rPr>
              <a:t>poradí</a:t>
            </a:r>
            <a:endParaRPr sz="1200" b="0" i="0" dirty="0">
              <a:solidFill>
                <a:srgbClr val="222222"/>
              </a:solidFill>
            </a:endParaRPr>
          </a:p>
        </p:txBody>
      </p:sp>
      <p:sp>
        <p:nvSpPr>
          <p:cNvPr id="27" name="Rectangle 26"/>
          <p:cNvSpPr/>
          <p:nvPr/>
        </p:nvSpPr>
        <p:spPr>
          <a:xfrm>
            <a:off x="320040" y="4782312"/>
            <a:ext cx="11551615" cy="512064"/>
          </a:xfrm>
          <a:prstGeom prst="rect">
            <a:avLst/>
          </a:prstGeom>
          <a:solidFill>
            <a:srgbClr val="E8EA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411480" y="4846320"/>
            <a:ext cx="11368735" cy="369332"/>
          </a:xfrm>
          <a:prstGeom prst="rect">
            <a:avLst/>
          </a:prstGeom>
          <a:noFill/>
        </p:spPr>
        <p:txBody>
          <a:bodyPr wrap="square">
            <a:spAutoFit/>
          </a:bodyPr>
          <a:lstStyle/>
          <a:p>
            <a:pPr algn="ctr"/>
            <a:r>
              <a:rPr b="0" i="0" dirty="0">
                <a:solidFill>
                  <a:srgbClr val="222222"/>
                </a:solidFill>
              </a:rPr>
              <a:t>Pipeline:  raw CSV  →  </a:t>
            </a:r>
            <a:r>
              <a:rPr b="0" i="0" dirty="0" err="1">
                <a:solidFill>
                  <a:srgbClr val="222222"/>
                </a:solidFill>
              </a:rPr>
              <a:t>NaN</a:t>
            </a:r>
            <a:r>
              <a:rPr b="0" i="0" dirty="0">
                <a:solidFill>
                  <a:srgbClr val="222222"/>
                </a:solidFill>
              </a:rPr>
              <a:t>/</a:t>
            </a:r>
            <a:r>
              <a:rPr b="0" i="0" dirty="0" err="1">
                <a:solidFill>
                  <a:srgbClr val="222222"/>
                </a:solidFill>
              </a:rPr>
              <a:t>chyby</a:t>
            </a:r>
            <a:r>
              <a:rPr b="0" i="0" dirty="0">
                <a:solidFill>
                  <a:srgbClr val="222222"/>
                </a:solidFill>
              </a:rPr>
              <a:t>  →  </a:t>
            </a:r>
            <a:r>
              <a:rPr b="0" i="0" dirty="0" err="1">
                <a:solidFill>
                  <a:srgbClr val="222222"/>
                </a:solidFill>
              </a:rPr>
              <a:t>vyčistenie</a:t>
            </a:r>
            <a:r>
              <a:rPr b="0" i="0" dirty="0">
                <a:solidFill>
                  <a:srgbClr val="222222"/>
                </a:solidFill>
              </a:rPr>
              <a:t>  →  </a:t>
            </a:r>
            <a:r>
              <a:rPr b="0" i="0" dirty="0" err="1">
                <a:solidFill>
                  <a:srgbClr val="222222"/>
                </a:solidFill>
              </a:rPr>
              <a:t>žiarenie</a:t>
            </a:r>
            <a:r>
              <a:rPr b="0" i="0" dirty="0">
                <a:solidFill>
                  <a:srgbClr val="222222"/>
                </a:solidFill>
              </a:rPr>
              <a:t>  →  </a:t>
            </a:r>
            <a:r>
              <a:rPr b="0" i="0" dirty="0" err="1">
                <a:solidFill>
                  <a:srgbClr val="222222"/>
                </a:solidFill>
              </a:rPr>
              <a:t>korélácie</a:t>
            </a:r>
            <a:r>
              <a:rPr b="0" i="0" dirty="0">
                <a:solidFill>
                  <a:srgbClr val="222222"/>
                </a:solidFill>
              </a:rPr>
              <a:t>  →  HTML report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51569" y="201167"/>
            <a:ext cx="349776" cy="461665"/>
          </a:xfrm>
          <a:prstGeom prst="rect">
            <a:avLst/>
          </a:prstGeom>
          <a:noFill/>
        </p:spPr>
        <p:txBody>
          <a:bodyPr wrap="none">
            <a:spAutoFit/>
          </a:bodyPr>
          <a:lstStyle/>
          <a:p>
            <a:pPr algn="ctr"/>
            <a:r>
              <a:rPr sz="2400" b="1" dirty="0">
                <a:solidFill>
                  <a:srgbClr val="FFFFFF"/>
                </a:solidFill>
              </a:rPr>
              <a:t>5</a:t>
            </a:r>
            <a:endParaRPr sz="1600" b="1" dirty="0">
              <a:solidFill>
                <a:srgbClr val="FFFFFF"/>
              </a:solidFill>
            </a:endParaRPr>
          </a:p>
        </p:txBody>
      </p:sp>
      <p:sp>
        <p:nvSpPr>
          <p:cNvPr id="4" name="TextBox 3"/>
          <p:cNvSpPr txBox="1"/>
          <p:nvPr/>
        </p:nvSpPr>
        <p:spPr>
          <a:xfrm>
            <a:off x="822960" y="201168"/>
            <a:ext cx="4338047" cy="461665"/>
          </a:xfrm>
          <a:prstGeom prst="rect">
            <a:avLst/>
          </a:prstGeom>
          <a:noFill/>
        </p:spPr>
        <p:txBody>
          <a:bodyPr wrap="none">
            <a:spAutoFit/>
          </a:bodyPr>
          <a:lstStyle/>
          <a:p>
            <a:pPr algn="l"/>
            <a:r>
              <a:rPr sz="2400" b="1" dirty="0" err="1">
                <a:solidFill>
                  <a:srgbClr val="FFFFFF"/>
                </a:solidFill>
              </a:rPr>
              <a:t>Použité</a:t>
            </a:r>
            <a:r>
              <a:rPr sz="2400" b="1" dirty="0">
                <a:solidFill>
                  <a:srgbClr val="FFFFFF"/>
                </a:solidFill>
              </a:rPr>
              <a:t> </a:t>
            </a:r>
            <a:r>
              <a:rPr sz="2400" b="1" dirty="0" err="1">
                <a:solidFill>
                  <a:srgbClr val="FFFFFF"/>
                </a:solidFill>
              </a:rPr>
              <a:t>technológie</a:t>
            </a:r>
            <a:r>
              <a:rPr sz="2400" b="1" dirty="0">
                <a:solidFill>
                  <a:srgbClr val="FFFFFF"/>
                </a:solidFill>
              </a:rPr>
              <a:t> a </a:t>
            </a:r>
            <a:r>
              <a:rPr sz="2400" b="1" dirty="0" err="1">
                <a:solidFill>
                  <a:srgbClr val="FFFFFF"/>
                </a:solidFill>
              </a:rPr>
              <a:t>PyTorch</a:t>
            </a:r>
            <a:endParaRPr sz="2400" b="1" dirty="0">
              <a:solidFill>
                <a:srgbClr val="FFFFFF"/>
              </a:solidFill>
            </a:endParaRPr>
          </a:p>
        </p:txBody>
      </p:sp>
      <p:sp>
        <p:nvSpPr>
          <p:cNvPr id="5" name="TextBox 4"/>
          <p:cNvSpPr txBox="1"/>
          <p:nvPr/>
        </p:nvSpPr>
        <p:spPr>
          <a:xfrm>
            <a:off x="10607040" y="320040"/>
            <a:ext cx="1463040" cy="365760"/>
          </a:xfrm>
          <a:prstGeom prst="rect">
            <a:avLst/>
          </a:prstGeom>
          <a:noFill/>
        </p:spPr>
        <p:txBody>
          <a:bodyPr wrap="none">
            <a:spAutoFit/>
          </a:bodyPr>
          <a:lstStyle/>
          <a:p>
            <a:pPr algn="r"/>
            <a:r>
              <a:rPr sz="1000">
                <a:solidFill>
                  <a:srgbClr val="C5CAE9"/>
                </a:solidFill>
              </a:rPr>
              <a:t>⏱ 45 s</a:t>
            </a:r>
          </a:p>
        </p:txBody>
      </p:sp>
      <p:sp>
        <p:nvSpPr>
          <p:cNvPr id="6" name="Rectangle 5"/>
          <p:cNvSpPr/>
          <p:nvPr/>
        </p:nvSpPr>
        <p:spPr>
          <a:xfrm>
            <a:off x="320040" y="1143000"/>
            <a:ext cx="5684367" cy="4937760"/>
          </a:xfrm>
          <a:prstGeom prst="rect">
            <a:avLst/>
          </a:prstGeom>
          <a:solidFill>
            <a:srgbClr val="F8F9FF"/>
          </a:solidFill>
          <a:ln w="6350">
            <a:solidFill>
              <a:srgbClr val="E0E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1234440"/>
            <a:ext cx="5410047" cy="492443"/>
          </a:xfrm>
          <a:prstGeom prst="rect">
            <a:avLst/>
          </a:prstGeom>
          <a:noFill/>
        </p:spPr>
        <p:txBody>
          <a:bodyPr wrap="square">
            <a:spAutoFit/>
          </a:bodyPr>
          <a:lstStyle/>
          <a:p>
            <a:pPr algn="l"/>
            <a:r>
              <a:rPr lang="sk-SK" sz="2600" b="1" i="0" dirty="0">
                <a:solidFill>
                  <a:srgbClr val="3949AB"/>
                </a:solidFill>
              </a:rPr>
              <a:t>Knižnice</a:t>
            </a:r>
            <a:endParaRPr sz="2600" b="1" i="0" dirty="0">
              <a:solidFill>
                <a:srgbClr val="3949AB"/>
              </a:solidFill>
            </a:endParaRPr>
          </a:p>
        </p:txBody>
      </p:sp>
      <p:sp>
        <p:nvSpPr>
          <p:cNvPr id="8" name="TextBox 7"/>
          <p:cNvSpPr txBox="1"/>
          <p:nvPr/>
        </p:nvSpPr>
        <p:spPr>
          <a:xfrm>
            <a:off x="457200" y="1792224"/>
            <a:ext cx="5410047" cy="3908762"/>
          </a:xfrm>
          <a:prstGeom prst="rect">
            <a:avLst/>
          </a:prstGeom>
          <a:noFill/>
        </p:spPr>
        <p:txBody>
          <a:bodyPr wrap="square">
            <a:spAutoFit/>
          </a:bodyPr>
          <a:lstStyle/>
          <a:p>
            <a:pPr>
              <a:spcAft>
                <a:spcPts val="400"/>
              </a:spcAft>
            </a:pPr>
            <a:r>
              <a:rPr sz="1600" dirty="0">
                <a:solidFill>
                  <a:srgbClr val="222222"/>
                </a:solidFill>
              </a:rPr>
              <a:t>• pandas </a:t>
            </a:r>
            <a:r>
              <a:rPr lang="sk-SK" sz="1600" dirty="0">
                <a:solidFill>
                  <a:srgbClr val="222222"/>
                </a:solidFill>
              </a:rPr>
              <a:t>-</a:t>
            </a:r>
            <a:r>
              <a:rPr sz="1600" dirty="0">
                <a:solidFill>
                  <a:srgbClr val="222222"/>
                </a:solidFill>
              </a:rPr>
              <a:t> </a:t>
            </a:r>
            <a:r>
              <a:rPr sz="1600" dirty="0" err="1">
                <a:solidFill>
                  <a:srgbClr val="222222"/>
                </a:solidFill>
              </a:rPr>
              <a:t>DataFrame</a:t>
            </a:r>
            <a:r>
              <a:rPr sz="1600" dirty="0">
                <a:solidFill>
                  <a:srgbClr val="222222"/>
                </a:solidFill>
              </a:rPr>
              <a:t>, </a:t>
            </a:r>
            <a:r>
              <a:rPr sz="1600" dirty="0" err="1">
                <a:solidFill>
                  <a:srgbClr val="222222"/>
                </a:solidFill>
              </a:rPr>
              <a:t>groupby</a:t>
            </a:r>
            <a:r>
              <a:rPr sz="1600" dirty="0">
                <a:solidFill>
                  <a:srgbClr val="222222"/>
                </a:solidFill>
              </a:rPr>
              <a:t>, </a:t>
            </a:r>
            <a:r>
              <a:rPr sz="1600" dirty="0" err="1">
                <a:solidFill>
                  <a:srgbClr val="222222"/>
                </a:solidFill>
              </a:rPr>
              <a:t>corr</a:t>
            </a:r>
            <a:r>
              <a:rPr sz="1600" dirty="0">
                <a:solidFill>
                  <a:srgbClr val="222222"/>
                </a:solidFill>
              </a:rPr>
              <a:t>()</a:t>
            </a:r>
            <a:endParaRPr lang="en-US" sz="1600" dirty="0">
              <a:solidFill>
                <a:srgbClr val="222222"/>
              </a:solidFill>
            </a:endParaRPr>
          </a:p>
          <a:p>
            <a:pPr>
              <a:spcAft>
                <a:spcPts val="400"/>
              </a:spcAft>
            </a:pPr>
            <a:endParaRPr sz="1600" dirty="0">
              <a:solidFill>
                <a:srgbClr val="222222"/>
              </a:solidFill>
            </a:endParaRPr>
          </a:p>
          <a:p>
            <a:pPr>
              <a:spcAft>
                <a:spcPts val="400"/>
              </a:spcAft>
            </a:pPr>
            <a:r>
              <a:rPr sz="1600" dirty="0">
                <a:solidFill>
                  <a:srgbClr val="222222"/>
                </a:solidFill>
              </a:rPr>
              <a:t>• matplotlib </a:t>
            </a:r>
            <a:r>
              <a:rPr lang="sk-SK" sz="1600" dirty="0">
                <a:solidFill>
                  <a:srgbClr val="222222"/>
                </a:solidFill>
              </a:rPr>
              <a:t>-</a:t>
            </a:r>
            <a:r>
              <a:rPr sz="1600" dirty="0">
                <a:solidFill>
                  <a:srgbClr val="222222"/>
                </a:solidFill>
              </a:rPr>
              <a:t> </a:t>
            </a:r>
            <a:r>
              <a:rPr sz="1600" dirty="0" err="1">
                <a:solidFill>
                  <a:srgbClr val="222222"/>
                </a:solidFill>
              </a:rPr>
              <a:t>grafy</a:t>
            </a:r>
            <a:r>
              <a:rPr sz="1600" dirty="0">
                <a:solidFill>
                  <a:srgbClr val="222222"/>
                </a:solidFill>
              </a:rPr>
              <a:t> (line, hist, scatter)</a:t>
            </a:r>
            <a:endParaRPr lang="en-US" sz="1600" dirty="0">
              <a:solidFill>
                <a:srgbClr val="222222"/>
              </a:solidFill>
            </a:endParaRPr>
          </a:p>
          <a:p>
            <a:pPr>
              <a:spcAft>
                <a:spcPts val="400"/>
              </a:spcAft>
            </a:pPr>
            <a:endParaRPr sz="1600" dirty="0">
              <a:solidFill>
                <a:srgbClr val="222222"/>
              </a:solidFill>
            </a:endParaRPr>
          </a:p>
          <a:p>
            <a:pPr>
              <a:spcAft>
                <a:spcPts val="400"/>
              </a:spcAft>
            </a:pPr>
            <a:r>
              <a:rPr sz="1600" dirty="0">
                <a:solidFill>
                  <a:srgbClr val="222222"/>
                </a:solidFill>
              </a:rPr>
              <a:t>• seaborn </a:t>
            </a:r>
            <a:r>
              <a:rPr lang="sk-SK" sz="1600" dirty="0">
                <a:solidFill>
                  <a:srgbClr val="222222"/>
                </a:solidFill>
              </a:rPr>
              <a:t>-</a:t>
            </a:r>
            <a:r>
              <a:rPr sz="1600" dirty="0">
                <a:solidFill>
                  <a:srgbClr val="222222"/>
                </a:solidFill>
              </a:rPr>
              <a:t> </a:t>
            </a:r>
            <a:r>
              <a:rPr sz="1600" dirty="0" err="1">
                <a:solidFill>
                  <a:srgbClr val="222222"/>
                </a:solidFill>
              </a:rPr>
              <a:t>heatmapa</a:t>
            </a:r>
            <a:r>
              <a:rPr sz="1600" dirty="0">
                <a:solidFill>
                  <a:srgbClr val="222222"/>
                </a:solidFill>
              </a:rPr>
              <a:t> </a:t>
            </a:r>
            <a:r>
              <a:rPr sz="1600" dirty="0" err="1">
                <a:solidFill>
                  <a:srgbClr val="222222"/>
                </a:solidFill>
              </a:rPr>
              <a:t>korelácií</a:t>
            </a:r>
            <a:endParaRPr lang="en-US" sz="1600" dirty="0">
              <a:solidFill>
                <a:srgbClr val="222222"/>
              </a:solidFill>
            </a:endParaRPr>
          </a:p>
          <a:p>
            <a:pPr>
              <a:spcAft>
                <a:spcPts val="400"/>
              </a:spcAft>
            </a:pPr>
            <a:endParaRPr sz="1600" dirty="0">
              <a:solidFill>
                <a:srgbClr val="222222"/>
              </a:solidFill>
            </a:endParaRPr>
          </a:p>
          <a:p>
            <a:pPr>
              <a:spcAft>
                <a:spcPts val="400"/>
              </a:spcAft>
            </a:pPr>
            <a:r>
              <a:rPr sz="1600" dirty="0">
                <a:solidFill>
                  <a:srgbClr val="222222"/>
                </a:solidFill>
              </a:rPr>
              <a:t>• </a:t>
            </a:r>
            <a:r>
              <a:rPr sz="1600" dirty="0" err="1">
                <a:solidFill>
                  <a:srgbClr val="222222"/>
                </a:solidFill>
              </a:rPr>
              <a:t>numpy</a:t>
            </a:r>
            <a:r>
              <a:rPr sz="1600" dirty="0">
                <a:solidFill>
                  <a:srgbClr val="222222"/>
                </a:solidFill>
              </a:rPr>
              <a:t> </a:t>
            </a:r>
            <a:r>
              <a:rPr lang="sk-SK" sz="1600" dirty="0">
                <a:solidFill>
                  <a:srgbClr val="222222"/>
                </a:solidFill>
              </a:rPr>
              <a:t>-</a:t>
            </a:r>
            <a:r>
              <a:rPr sz="1600" dirty="0">
                <a:solidFill>
                  <a:srgbClr val="222222"/>
                </a:solidFill>
              </a:rPr>
              <a:t> </a:t>
            </a:r>
            <a:r>
              <a:rPr sz="1600" dirty="0" err="1">
                <a:solidFill>
                  <a:srgbClr val="222222"/>
                </a:solidFill>
              </a:rPr>
              <a:t>priemer</a:t>
            </a:r>
            <a:r>
              <a:rPr sz="1600" dirty="0">
                <a:solidFill>
                  <a:srgbClr val="222222"/>
                </a:solidFill>
              </a:rPr>
              <a:t> </a:t>
            </a:r>
            <a:r>
              <a:rPr sz="1600" dirty="0" err="1">
                <a:solidFill>
                  <a:srgbClr val="222222"/>
                </a:solidFill>
              </a:rPr>
              <a:t>dĺžok</a:t>
            </a:r>
            <a:r>
              <a:rPr sz="1600" dirty="0">
                <a:solidFill>
                  <a:srgbClr val="222222"/>
                </a:solidFill>
              </a:rPr>
              <a:t> </a:t>
            </a:r>
            <a:r>
              <a:rPr sz="1600" dirty="0" err="1">
                <a:solidFill>
                  <a:srgbClr val="222222"/>
                </a:solidFill>
              </a:rPr>
              <a:t>skupín</a:t>
            </a:r>
            <a:r>
              <a:rPr sz="1600" dirty="0">
                <a:solidFill>
                  <a:srgbClr val="222222"/>
                </a:solidFill>
              </a:rPr>
              <a:t> </a:t>
            </a:r>
            <a:r>
              <a:rPr sz="1600" dirty="0" err="1">
                <a:solidFill>
                  <a:srgbClr val="222222"/>
                </a:solidFill>
              </a:rPr>
              <a:t>chýb</a:t>
            </a:r>
            <a:endParaRPr lang="en-US" sz="1600" dirty="0">
              <a:solidFill>
                <a:srgbClr val="222222"/>
              </a:solidFill>
            </a:endParaRPr>
          </a:p>
          <a:p>
            <a:pPr>
              <a:spcAft>
                <a:spcPts val="400"/>
              </a:spcAft>
            </a:pPr>
            <a:endParaRPr sz="1600" dirty="0">
              <a:solidFill>
                <a:srgbClr val="222222"/>
              </a:solidFill>
            </a:endParaRPr>
          </a:p>
          <a:p>
            <a:pPr>
              <a:spcAft>
                <a:spcPts val="400"/>
              </a:spcAft>
            </a:pPr>
            <a:r>
              <a:rPr sz="1600" dirty="0">
                <a:solidFill>
                  <a:srgbClr val="222222"/>
                </a:solidFill>
              </a:rPr>
              <a:t>• torch (</a:t>
            </a:r>
            <a:r>
              <a:rPr sz="1600" dirty="0" err="1">
                <a:solidFill>
                  <a:srgbClr val="222222"/>
                </a:solidFill>
              </a:rPr>
              <a:t>PyTorch</a:t>
            </a:r>
            <a:r>
              <a:rPr sz="1600" dirty="0">
                <a:solidFill>
                  <a:srgbClr val="222222"/>
                </a:solidFill>
              </a:rPr>
              <a:t>)</a:t>
            </a:r>
            <a:r>
              <a:rPr lang="sk-SK" sz="1600" dirty="0">
                <a:solidFill>
                  <a:srgbClr val="222222"/>
                </a:solidFill>
              </a:rPr>
              <a:t> - </a:t>
            </a:r>
            <a:r>
              <a:rPr sz="1600" dirty="0" err="1">
                <a:solidFill>
                  <a:srgbClr val="222222"/>
                </a:solidFill>
              </a:rPr>
              <a:t>overenie</a:t>
            </a:r>
            <a:r>
              <a:rPr sz="1600" dirty="0">
                <a:solidFill>
                  <a:srgbClr val="222222"/>
                </a:solidFill>
              </a:rPr>
              <a:t> </a:t>
            </a:r>
            <a:r>
              <a:rPr sz="1600" dirty="0" err="1">
                <a:solidFill>
                  <a:srgbClr val="222222"/>
                </a:solidFill>
              </a:rPr>
              <a:t>štatistík</a:t>
            </a:r>
            <a:endParaRPr sz="1600" dirty="0">
              <a:solidFill>
                <a:srgbClr val="222222"/>
              </a:solidFill>
            </a:endParaRPr>
          </a:p>
          <a:p>
            <a:pPr>
              <a:spcAft>
                <a:spcPts val="400"/>
              </a:spcAft>
            </a:pPr>
            <a:endParaRPr lang="en-US" sz="1600" dirty="0">
              <a:solidFill>
                <a:srgbClr val="222222"/>
              </a:solidFill>
            </a:endParaRPr>
          </a:p>
          <a:p>
            <a:pPr>
              <a:spcAft>
                <a:spcPts val="400"/>
              </a:spcAft>
            </a:pPr>
            <a:r>
              <a:rPr sz="1600" dirty="0">
                <a:solidFill>
                  <a:srgbClr val="222222"/>
                </a:solidFill>
              </a:rPr>
              <a:t>• </a:t>
            </a:r>
            <a:r>
              <a:rPr sz="1600" dirty="0" err="1">
                <a:solidFill>
                  <a:srgbClr val="222222"/>
                </a:solidFill>
              </a:rPr>
              <a:t>io.StringIO</a:t>
            </a:r>
            <a:r>
              <a:rPr sz="1600" dirty="0">
                <a:solidFill>
                  <a:srgbClr val="222222"/>
                </a:solidFill>
              </a:rPr>
              <a:t> + </a:t>
            </a:r>
            <a:r>
              <a:rPr sz="1600" dirty="0" err="1">
                <a:solidFill>
                  <a:srgbClr val="222222"/>
                </a:solidFill>
              </a:rPr>
              <a:t>contextlib</a:t>
            </a:r>
            <a:r>
              <a:rPr sz="1600" dirty="0">
                <a:solidFill>
                  <a:srgbClr val="222222"/>
                </a:solidFill>
              </a:rPr>
              <a:t> </a:t>
            </a:r>
            <a:r>
              <a:rPr lang="sk-SK" sz="1600" dirty="0">
                <a:solidFill>
                  <a:srgbClr val="222222"/>
                </a:solidFill>
              </a:rPr>
              <a:t>-</a:t>
            </a:r>
            <a:r>
              <a:rPr sz="1600" dirty="0">
                <a:solidFill>
                  <a:srgbClr val="222222"/>
                </a:solidFill>
              </a:rPr>
              <a:t> </a:t>
            </a:r>
            <a:r>
              <a:rPr sz="1600" dirty="0" err="1">
                <a:solidFill>
                  <a:srgbClr val="222222"/>
                </a:solidFill>
              </a:rPr>
              <a:t>zachytenie</a:t>
            </a:r>
            <a:r>
              <a:rPr sz="1600" dirty="0">
                <a:solidFill>
                  <a:srgbClr val="222222"/>
                </a:solidFill>
              </a:rPr>
              <a:t> </a:t>
            </a:r>
            <a:r>
              <a:rPr sz="1600" dirty="0" err="1">
                <a:solidFill>
                  <a:srgbClr val="222222"/>
                </a:solidFill>
              </a:rPr>
              <a:t>stdout</a:t>
            </a:r>
            <a:endParaRPr sz="1600" dirty="0">
              <a:solidFill>
                <a:srgbClr val="222222"/>
              </a:solidFill>
            </a:endParaRPr>
          </a:p>
          <a:p>
            <a:pPr>
              <a:spcAft>
                <a:spcPts val="400"/>
              </a:spcAft>
            </a:pPr>
            <a:endParaRPr lang="en-US" sz="1600" dirty="0">
              <a:solidFill>
                <a:srgbClr val="222222"/>
              </a:solidFill>
            </a:endParaRPr>
          </a:p>
          <a:p>
            <a:pPr>
              <a:spcAft>
                <a:spcPts val="400"/>
              </a:spcAft>
            </a:pPr>
            <a:r>
              <a:rPr sz="1600" dirty="0">
                <a:solidFill>
                  <a:srgbClr val="222222"/>
                </a:solidFill>
              </a:rPr>
              <a:t>• base64 </a:t>
            </a:r>
            <a:r>
              <a:rPr lang="sk-SK" sz="1600" dirty="0">
                <a:solidFill>
                  <a:srgbClr val="222222"/>
                </a:solidFill>
              </a:rPr>
              <a:t>-</a:t>
            </a:r>
            <a:r>
              <a:rPr sz="1600" dirty="0">
                <a:solidFill>
                  <a:srgbClr val="222222"/>
                </a:solidFill>
              </a:rPr>
              <a:t> PNG → HTML embedding</a:t>
            </a:r>
          </a:p>
        </p:txBody>
      </p:sp>
      <p:sp>
        <p:nvSpPr>
          <p:cNvPr id="9" name="Rectangle 8"/>
          <p:cNvSpPr/>
          <p:nvPr/>
        </p:nvSpPr>
        <p:spPr>
          <a:xfrm>
            <a:off x="6187287" y="1143000"/>
            <a:ext cx="5684367" cy="4937760"/>
          </a:xfrm>
          <a:prstGeom prst="rect">
            <a:avLst/>
          </a:prstGeom>
          <a:solidFill>
            <a:srgbClr val="F8F9FF"/>
          </a:solidFill>
          <a:ln w="6350">
            <a:solidFill>
              <a:srgbClr val="E0E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324447" y="1234440"/>
            <a:ext cx="5410047" cy="492443"/>
          </a:xfrm>
          <a:prstGeom prst="rect">
            <a:avLst/>
          </a:prstGeom>
          <a:noFill/>
        </p:spPr>
        <p:txBody>
          <a:bodyPr wrap="square">
            <a:spAutoFit/>
          </a:bodyPr>
          <a:lstStyle/>
          <a:p>
            <a:pPr algn="l"/>
            <a:r>
              <a:rPr sz="2600" b="1" i="0" dirty="0" err="1">
                <a:solidFill>
                  <a:srgbClr val="3949AB"/>
                </a:solidFill>
              </a:rPr>
              <a:t>PyTorch</a:t>
            </a:r>
            <a:endParaRPr sz="2600" b="1" i="0" dirty="0">
              <a:solidFill>
                <a:srgbClr val="3949AB"/>
              </a:solidFill>
            </a:endParaRPr>
          </a:p>
        </p:txBody>
      </p:sp>
      <mc:AlternateContent xmlns:mc="http://schemas.openxmlformats.org/markup-compatibility/2006" xmlns:a14="http://schemas.microsoft.com/office/drawing/2010/main">
        <mc:Choice Requires="a14">
          <p:sp>
            <p:nvSpPr>
              <p:cNvPr id="11" name="TextBox 10"/>
              <p:cNvSpPr txBox="1"/>
              <p:nvPr/>
            </p:nvSpPr>
            <p:spPr>
              <a:xfrm>
                <a:off x="6324447" y="1792044"/>
                <a:ext cx="5410047" cy="2421176"/>
              </a:xfrm>
              <a:prstGeom prst="rect">
                <a:avLst/>
              </a:prstGeom>
              <a:noFill/>
            </p:spPr>
            <p:txBody>
              <a:bodyPr wrap="square">
                <a:spAutoFit/>
              </a:bodyPr>
              <a:lstStyle/>
              <a:p>
                <a:pPr>
                  <a:spcAft>
                    <a:spcPts val="400"/>
                  </a:spcAft>
                </a:pPr>
                <a:r>
                  <a:rPr lang="sk-SK" sz="1600" dirty="0">
                    <a:solidFill>
                      <a:srgbClr val="222222"/>
                    </a:solidFill>
                  </a:rPr>
                  <a:t>• </a:t>
                </a:r>
                <a:r>
                  <a:rPr lang="sk-SK" sz="1600" dirty="0" err="1">
                    <a:solidFill>
                      <a:srgbClr val="222222"/>
                    </a:solidFill>
                  </a:rPr>
                  <a:t>Nezávislé</a:t>
                </a:r>
                <a:r>
                  <a:rPr lang="sk-SK" sz="1600" dirty="0">
                    <a:solidFill>
                      <a:srgbClr val="222222"/>
                    </a:solidFill>
                  </a:rPr>
                  <a:t> </a:t>
                </a:r>
                <a:r>
                  <a:rPr lang="sk-SK" sz="1600" dirty="0" err="1">
                    <a:solidFill>
                      <a:srgbClr val="222222"/>
                    </a:solidFill>
                  </a:rPr>
                  <a:t>overenie</a:t>
                </a:r>
                <a:r>
                  <a:rPr lang="sk-SK" sz="1600" dirty="0">
                    <a:solidFill>
                      <a:srgbClr val="222222"/>
                    </a:solidFill>
                  </a:rPr>
                  <a:t> </a:t>
                </a:r>
                <a:r>
                  <a:rPr lang="sk-SK" sz="1600" dirty="0" err="1">
                    <a:solidFill>
                      <a:srgbClr val="222222"/>
                    </a:solidFill>
                  </a:rPr>
                  <a:t>štatistík</a:t>
                </a:r>
                <a:r>
                  <a:rPr lang="sk-SK" sz="1600" dirty="0">
                    <a:solidFill>
                      <a:srgbClr val="222222"/>
                    </a:solidFill>
                  </a:rPr>
                  <a:t> z pandas</a:t>
                </a:r>
              </a:p>
              <a:p>
                <a:pPr>
                  <a:spcAft>
                    <a:spcPts val="400"/>
                  </a:spcAft>
                </a:pPr>
                <a:endParaRPr lang="en-US" sz="1600" dirty="0">
                  <a:solidFill>
                    <a:srgbClr val="222222"/>
                  </a:solidFill>
                </a:endParaRPr>
              </a:p>
              <a:p>
                <a:pPr>
                  <a:spcAft>
                    <a:spcPts val="400"/>
                  </a:spcAft>
                </a:pPr>
                <a:r>
                  <a:rPr lang="sk-SK" sz="1600" dirty="0">
                    <a:solidFill>
                      <a:srgbClr val="222222"/>
                    </a:solidFill>
                  </a:rPr>
                  <a:t>• Výpočty nad </a:t>
                </a:r>
                <a:r>
                  <a:rPr lang="sk-SK" sz="1600" dirty="0" err="1">
                    <a:solidFill>
                      <a:srgbClr val="222222"/>
                    </a:solidFill>
                  </a:rPr>
                  <a:t>tenzormi</a:t>
                </a:r>
                <a:r>
                  <a:rPr lang="sk-SK" sz="1600" dirty="0">
                    <a:solidFill>
                      <a:srgbClr val="222222"/>
                    </a:solidFill>
                  </a:rPr>
                  <a:t> (N-</a:t>
                </a:r>
                <a:r>
                  <a:rPr lang="sk-SK" sz="1600" dirty="0" err="1">
                    <a:solidFill>
                      <a:srgbClr val="222222"/>
                    </a:solidFill>
                  </a:rPr>
                  <a:t>dimenzionálne</a:t>
                </a:r>
                <a:r>
                  <a:rPr lang="sk-SK" sz="1600" dirty="0">
                    <a:solidFill>
                      <a:srgbClr val="222222"/>
                    </a:solidFill>
                  </a:rPr>
                  <a:t> </a:t>
                </a:r>
                <a:r>
                  <a:rPr lang="sk-SK" sz="1600" dirty="0" err="1">
                    <a:solidFill>
                      <a:srgbClr val="222222"/>
                    </a:solidFill>
                  </a:rPr>
                  <a:t>polia</a:t>
                </a:r>
                <a:r>
                  <a:rPr lang="sk-SK" sz="1600" dirty="0">
                    <a:solidFill>
                      <a:srgbClr val="222222"/>
                    </a:solidFill>
                  </a:rPr>
                  <a:t>)</a:t>
                </a:r>
              </a:p>
              <a:p>
                <a:pPr>
                  <a:spcAft>
                    <a:spcPts val="400"/>
                  </a:spcAft>
                </a:pPr>
                <a:endParaRPr lang="en-US" sz="1600" dirty="0">
                  <a:solidFill>
                    <a:srgbClr val="222222"/>
                  </a:solidFill>
                </a:endParaRPr>
              </a:p>
              <a:p>
                <a:pPr>
                  <a:spcAft>
                    <a:spcPts val="400"/>
                  </a:spcAft>
                </a:pPr>
                <a:r>
                  <a:rPr lang="sk-SK" sz="1600" dirty="0">
                    <a:solidFill>
                      <a:srgbClr val="222222"/>
                    </a:solidFill>
                  </a:rPr>
                  <a:t>• Ručná </a:t>
                </a:r>
                <a:r>
                  <a:rPr lang="sk-SK" sz="1600" dirty="0" err="1">
                    <a:solidFill>
                      <a:srgbClr val="222222"/>
                    </a:solidFill>
                  </a:rPr>
                  <a:t>Pearsonova</a:t>
                </a:r>
                <a:r>
                  <a:rPr lang="sk-SK" sz="1600" dirty="0">
                    <a:solidFill>
                      <a:srgbClr val="222222"/>
                    </a:solidFill>
                  </a:rPr>
                  <a:t> </a:t>
                </a:r>
                <a:r>
                  <a:rPr lang="sk-SK" sz="1600" dirty="0" err="1">
                    <a:solidFill>
                      <a:srgbClr val="222222"/>
                    </a:solidFill>
                  </a:rPr>
                  <a:t>korelácia</a:t>
                </a:r>
                <a:r>
                  <a:rPr lang="sk-SK" sz="1600" dirty="0">
                    <a:solidFill>
                      <a:srgbClr val="222222"/>
                    </a:solidFill>
                  </a:rPr>
                  <a:t>:</a:t>
                </a:r>
              </a:p>
              <a:p>
                <a:pPr>
                  <a:spcAft>
                    <a:spcPts val="400"/>
                  </a:spcAft>
                </a:pPr>
                <a14:m>
                  <m:oMathPara xmlns:m="http://schemas.openxmlformats.org/officeDocument/2006/math">
                    <m:oMathParaPr>
                      <m:jc m:val="centerGroup"/>
                    </m:oMathParaPr>
                    <m:oMath xmlns:m="http://schemas.openxmlformats.org/officeDocument/2006/math">
                      <m:r>
                        <a:rPr lang="sk-SK" sz="1600" b="0" i="1" smtClean="0">
                          <a:solidFill>
                            <a:srgbClr val="222222"/>
                          </a:solidFill>
                          <a:latin typeface="Cambria Math" panose="02040503050406030204" pitchFamily="18" charset="0"/>
                        </a:rPr>
                        <m:t>𝑟</m:t>
                      </m:r>
                      <m:r>
                        <a:rPr lang="sk-SK" sz="1600" b="0" i="1" smtClean="0">
                          <a:solidFill>
                            <a:srgbClr val="222222"/>
                          </a:solidFill>
                          <a:latin typeface="Cambria Math" panose="02040503050406030204" pitchFamily="18" charset="0"/>
                        </a:rPr>
                        <m:t>=</m:t>
                      </m:r>
                      <m:d>
                        <m:dPr>
                          <m:ctrlPr>
                            <a:rPr lang="sk-SK" sz="1600" b="0" i="1" smtClean="0">
                              <a:solidFill>
                                <a:srgbClr val="222222"/>
                              </a:solidFill>
                              <a:latin typeface="Cambria Math" panose="02040503050406030204" pitchFamily="18" charset="0"/>
                            </a:rPr>
                          </m:ctrlPr>
                        </m:dPr>
                        <m:e>
                          <m:r>
                            <a:rPr lang="sk-SK" sz="1600" b="0" i="1" smtClean="0">
                              <a:solidFill>
                                <a:srgbClr val="222222"/>
                              </a:solidFill>
                              <a:latin typeface="Cambria Math" panose="02040503050406030204" pitchFamily="18" charset="0"/>
                            </a:rPr>
                            <m:t>𝑎</m:t>
                          </m:r>
                          <m:r>
                            <a:rPr lang="sk-SK" sz="1600" b="0" i="1" smtClean="0">
                              <a:solidFill>
                                <a:srgbClr val="222222"/>
                              </a:solidFill>
                              <a:latin typeface="Cambria Math" panose="02040503050406030204" pitchFamily="18" charset="0"/>
                            </a:rPr>
                            <m:t>∗</m:t>
                          </m:r>
                          <m:r>
                            <a:rPr lang="sk-SK" sz="1600" b="0" i="1" smtClean="0">
                              <a:solidFill>
                                <a:srgbClr val="222222"/>
                              </a:solidFill>
                              <a:latin typeface="Cambria Math" panose="02040503050406030204" pitchFamily="18" charset="0"/>
                            </a:rPr>
                            <m:t>𝑏</m:t>
                          </m:r>
                        </m:e>
                      </m:d>
                      <m:r>
                        <a:rPr lang="sk-SK" sz="1600" b="0" i="1" smtClean="0">
                          <a:solidFill>
                            <a:srgbClr val="222222"/>
                          </a:solidFill>
                          <a:latin typeface="Cambria Math" panose="02040503050406030204" pitchFamily="18" charset="0"/>
                        </a:rPr>
                        <m:t>∗</m:t>
                      </m:r>
                      <m:r>
                        <a:rPr lang="sk-SK" sz="1600" b="0" i="1" smtClean="0">
                          <a:solidFill>
                            <a:srgbClr val="222222"/>
                          </a:solidFill>
                          <a:latin typeface="Cambria Math" panose="02040503050406030204" pitchFamily="18" charset="0"/>
                        </a:rPr>
                        <m:t>𝑠𝑢𝑚</m:t>
                      </m:r>
                      <m:r>
                        <a:rPr lang="sk-SK" sz="1600" b="0" i="1" smtClean="0">
                          <a:solidFill>
                            <a:srgbClr val="222222"/>
                          </a:solidFill>
                          <a:latin typeface="Cambria Math" panose="02040503050406030204" pitchFamily="18" charset="0"/>
                        </a:rPr>
                        <m:t>()/(||</m:t>
                      </m:r>
                      <m:r>
                        <a:rPr lang="sk-SK" sz="1600" b="0" i="1" smtClean="0">
                          <a:solidFill>
                            <a:srgbClr val="222222"/>
                          </a:solidFill>
                          <a:latin typeface="Cambria Math" panose="02040503050406030204" pitchFamily="18" charset="0"/>
                        </a:rPr>
                        <m:t>𝑎</m:t>
                      </m:r>
                      <m:r>
                        <a:rPr lang="en-US" sz="1600" b="0" i="1" smtClean="0">
                          <a:solidFill>
                            <a:srgbClr val="222222"/>
                          </a:solidFill>
                          <a:latin typeface="Cambria Math" panose="02040503050406030204" pitchFamily="18" charset="0"/>
                        </a:rPr>
                        <m:t>||</m:t>
                      </m:r>
                      <m:r>
                        <a:rPr lang="sk-SK" sz="1600" b="0" i="1" smtClean="0">
                          <a:solidFill>
                            <a:srgbClr val="222222"/>
                          </a:solidFill>
                          <a:latin typeface="Cambria Math" panose="02040503050406030204" pitchFamily="18" charset="0"/>
                        </a:rPr>
                        <m:t>∗</m:t>
                      </m:r>
                      <m:r>
                        <a:rPr lang="en-US" sz="1600" b="0" i="1" smtClean="0">
                          <a:solidFill>
                            <a:srgbClr val="222222"/>
                          </a:solidFill>
                          <a:latin typeface="Cambria Math" panose="02040503050406030204" pitchFamily="18" charset="0"/>
                        </a:rPr>
                        <m:t>||</m:t>
                      </m:r>
                      <m:r>
                        <a:rPr lang="sk-SK" sz="1600" b="0" i="1" smtClean="0">
                          <a:solidFill>
                            <a:srgbClr val="222222"/>
                          </a:solidFill>
                          <a:latin typeface="Cambria Math" panose="02040503050406030204" pitchFamily="18" charset="0"/>
                        </a:rPr>
                        <m:t>𝑏</m:t>
                      </m:r>
                      <m:r>
                        <a:rPr lang="en-US" sz="1600" b="0" i="1" smtClean="0">
                          <a:solidFill>
                            <a:srgbClr val="222222"/>
                          </a:solidFill>
                          <a:latin typeface="Cambria Math" panose="02040503050406030204" pitchFamily="18" charset="0"/>
                        </a:rPr>
                        <m:t>||</m:t>
                      </m:r>
                      <m:r>
                        <a:rPr lang="sk-SK" sz="1600" b="0" i="1" smtClean="0">
                          <a:solidFill>
                            <a:srgbClr val="222222"/>
                          </a:solidFill>
                          <a:latin typeface="Cambria Math" panose="02040503050406030204" pitchFamily="18" charset="0"/>
                        </a:rPr>
                        <m:t>)</m:t>
                      </m:r>
                    </m:oMath>
                  </m:oMathPara>
                </a14:m>
                <a:endParaRPr lang="sk-SK" sz="1600" dirty="0">
                  <a:solidFill>
                    <a:srgbClr val="222222"/>
                  </a:solidFill>
                </a:endParaRPr>
              </a:p>
              <a:p>
                <a:pPr>
                  <a:spcAft>
                    <a:spcPts val="400"/>
                  </a:spcAft>
                </a:pPr>
                <a:endParaRPr lang="en-US" sz="1600" dirty="0">
                  <a:solidFill>
                    <a:srgbClr val="222222"/>
                  </a:solidFill>
                </a:endParaRPr>
              </a:p>
              <a:p>
                <a:pPr>
                  <a:spcAft>
                    <a:spcPts val="400"/>
                  </a:spcAft>
                </a:pPr>
                <a:r>
                  <a:rPr lang="sk-SK" sz="1600" dirty="0">
                    <a:solidFill>
                      <a:srgbClr val="222222"/>
                    </a:solidFill>
                  </a:rPr>
                  <a:t>• Typická knižnica ML/DS prostredia</a:t>
                </a:r>
                <a:endParaRPr sz="1600" dirty="0">
                  <a:solidFill>
                    <a:srgbClr val="222222"/>
                  </a:solidFill>
                </a:endParaRPr>
              </a:p>
            </p:txBody>
          </p:sp>
        </mc:Choice>
        <mc:Fallback xmlns="">
          <p:sp>
            <p:nvSpPr>
              <p:cNvPr id="11" name="TextBox 10"/>
              <p:cNvSpPr txBox="1">
                <a:spLocks noRot="1" noChangeAspect="1" noMove="1" noResize="1" noEditPoints="1" noAdjustHandles="1" noChangeArrowheads="1" noChangeShapeType="1" noTextEdit="1"/>
              </p:cNvSpPr>
              <p:nvPr/>
            </p:nvSpPr>
            <p:spPr>
              <a:xfrm>
                <a:off x="6324447" y="1792044"/>
                <a:ext cx="5410047" cy="2421176"/>
              </a:xfrm>
              <a:prstGeom prst="rect">
                <a:avLst/>
              </a:prstGeom>
              <a:blipFill>
                <a:blip r:embed="rId3"/>
                <a:stretch>
                  <a:fillRect l="-563" t="-756" b="-2267"/>
                </a:stretch>
              </a:blipFill>
            </p:spPr>
            <p:txBody>
              <a:bodyPr/>
              <a:lstStyle/>
              <a:p>
                <a:r>
                  <a:rPr lang="sk-SK">
                    <a:noFill/>
                  </a:rPr>
                  <a:t> </a:t>
                </a:r>
              </a:p>
            </p:txBody>
          </p:sp>
        </mc:Fallback>
      </mc:AlternateContent>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201167"/>
            <a:ext cx="349775" cy="461665"/>
          </a:xfrm>
          <a:prstGeom prst="rect">
            <a:avLst/>
          </a:prstGeom>
          <a:noFill/>
        </p:spPr>
        <p:txBody>
          <a:bodyPr wrap="none">
            <a:spAutoFit/>
          </a:bodyPr>
          <a:lstStyle/>
          <a:p>
            <a:pPr algn="ctr"/>
            <a:r>
              <a:rPr sz="2400" b="1" dirty="0">
                <a:solidFill>
                  <a:srgbClr val="FFFFFF"/>
                </a:solidFill>
              </a:rPr>
              <a:t>6</a:t>
            </a:r>
            <a:endParaRPr sz="1600" b="1" dirty="0">
              <a:solidFill>
                <a:srgbClr val="FFFFFF"/>
              </a:solidFill>
            </a:endParaRPr>
          </a:p>
        </p:txBody>
      </p:sp>
      <p:sp>
        <p:nvSpPr>
          <p:cNvPr id="4" name="TextBox 3"/>
          <p:cNvSpPr txBox="1"/>
          <p:nvPr/>
        </p:nvSpPr>
        <p:spPr>
          <a:xfrm>
            <a:off x="822960" y="201168"/>
            <a:ext cx="5875198" cy="461665"/>
          </a:xfrm>
          <a:prstGeom prst="rect">
            <a:avLst/>
          </a:prstGeom>
          <a:noFill/>
        </p:spPr>
        <p:txBody>
          <a:bodyPr wrap="none">
            <a:spAutoFit/>
          </a:bodyPr>
          <a:lstStyle/>
          <a:p>
            <a:pPr algn="l"/>
            <a:r>
              <a:rPr sz="2400" b="1" dirty="0" err="1">
                <a:solidFill>
                  <a:srgbClr val="FFFFFF"/>
                </a:solidFill>
              </a:rPr>
              <a:t>Analýza</a:t>
            </a:r>
            <a:r>
              <a:rPr sz="2400" b="1" dirty="0">
                <a:solidFill>
                  <a:srgbClr val="FFFFFF"/>
                </a:solidFill>
              </a:rPr>
              <a:t> </a:t>
            </a:r>
            <a:r>
              <a:rPr sz="2400" b="1" dirty="0" err="1">
                <a:solidFill>
                  <a:srgbClr val="FFFFFF"/>
                </a:solidFill>
              </a:rPr>
              <a:t>kvality</a:t>
            </a:r>
            <a:r>
              <a:rPr sz="2400" b="1" dirty="0">
                <a:solidFill>
                  <a:srgbClr val="FFFFFF"/>
                </a:solidFill>
              </a:rPr>
              <a:t> </a:t>
            </a:r>
            <a:r>
              <a:rPr sz="2400" b="1" dirty="0" err="1">
                <a:solidFill>
                  <a:srgbClr val="FFFFFF"/>
                </a:solidFill>
              </a:rPr>
              <a:t>dát</a:t>
            </a:r>
            <a:r>
              <a:rPr sz="2400" b="1" dirty="0">
                <a:solidFill>
                  <a:srgbClr val="FFFFFF"/>
                </a:solidFill>
              </a:rPr>
              <a:t> </a:t>
            </a:r>
            <a:r>
              <a:rPr lang="sk-SK" sz="2400" b="1" dirty="0">
                <a:solidFill>
                  <a:srgbClr val="FFFFFF"/>
                </a:solidFill>
              </a:rPr>
              <a:t>-</a:t>
            </a:r>
            <a:r>
              <a:rPr sz="2400" b="1" dirty="0">
                <a:solidFill>
                  <a:srgbClr val="FFFFFF"/>
                </a:solidFill>
              </a:rPr>
              <a:t> </a:t>
            </a:r>
            <a:r>
              <a:rPr sz="2400" b="1" dirty="0" err="1">
                <a:solidFill>
                  <a:srgbClr val="FFFFFF"/>
                </a:solidFill>
              </a:rPr>
              <a:t>NaN</a:t>
            </a:r>
            <a:r>
              <a:rPr sz="2400" b="1" dirty="0">
                <a:solidFill>
                  <a:srgbClr val="FFFFFF"/>
                </a:solidFill>
              </a:rPr>
              <a:t> a </a:t>
            </a:r>
            <a:r>
              <a:rPr sz="2400" b="1" dirty="0" err="1">
                <a:solidFill>
                  <a:srgbClr val="FFFFFF"/>
                </a:solidFill>
              </a:rPr>
              <a:t>chýbajúce</a:t>
            </a:r>
            <a:r>
              <a:rPr sz="2400" b="1" dirty="0">
                <a:solidFill>
                  <a:srgbClr val="FFFFFF"/>
                </a:solidFill>
              </a:rPr>
              <a:t> </a:t>
            </a:r>
            <a:r>
              <a:rPr sz="2400" b="1" dirty="0" err="1">
                <a:solidFill>
                  <a:srgbClr val="FFFFFF"/>
                </a:solidFill>
              </a:rPr>
              <a:t>dni</a:t>
            </a:r>
            <a:endParaRPr sz="2400" b="1" dirty="0">
              <a:solidFill>
                <a:srgbClr val="FFFFFF"/>
              </a:solidFill>
            </a:endParaRPr>
          </a:p>
        </p:txBody>
      </p:sp>
      <p:sp>
        <p:nvSpPr>
          <p:cNvPr id="6" name="Rectangle 5"/>
          <p:cNvSpPr/>
          <p:nvPr/>
        </p:nvSpPr>
        <p:spPr>
          <a:xfrm>
            <a:off x="320040" y="1234440"/>
            <a:ext cx="3728618" cy="1005840"/>
          </a:xfrm>
          <a:prstGeom prst="rect">
            <a:avLst/>
          </a:prstGeom>
          <a:solidFill>
            <a:srgbClr val="F0F4FF"/>
          </a:solidFill>
          <a:ln w="6350">
            <a:solidFill>
              <a:srgbClr val="C5CA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11480" y="1280160"/>
            <a:ext cx="3545738" cy="246221"/>
          </a:xfrm>
          <a:prstGeom prst="rect">
            <a:avLst/>
          </a:prstGeom>
          <a:noFill/>
        </p:spPr>
        <p:txBody>
          <a:bodyPr wrap="square">
            <a:spAutoFit/>
          </a:bodyPr>
          <a:lstStyle/>
          <a:p>
            <a:pPr algn="ctr"/>
            <a:r>
              <a:rPr sz="1000" b="0" i="0" dirty="0"/>
              <a:t>NAN HODNÔT</a:t>
            </a:r>
          </a:p>
        </p:txBody>
      </p:sp>
      <p:sp>
        <p:nvSpPr>
          <p:cNvPr id="8" name="TextBox 7"/>
          <p:cNvSpPr txBox="1"/>
          <p:nvPr/>
        </p:nvSpPr>
        <p:spPr>
          <a:xfrm>
            <a:off x="411480" y="1514276"/>
            <a:ext cx="3545738" cy="438912"/>
          </a:xfrm>
          <a:prstGeom prst="rect">
            <a:avLst/>
          </a:prstGeom>
          <a:noFill/>
        </p:spPr>
        <p:txBody>
          <a:bodyPr wrap="square">
            <a:spAutoFit/>
          </a:bodyPr>
          <a:lstStyle/>
          <a:p>
            <a:pPr algn="ctr"/>
            <a:r>
              <a:rPr sz="2200" b="1" i="0">
                <a:solidFill>
                  <a:srgbClr val="2E7D32"/>
                </a:solidFill>
              </a:rPr>
              <a:t>0</a:t>
            </a:r>
          </a:p>
        </p:txBody>
      </p:sp>
      <p:sp>
        <p:nvSpPr>
          <p:cNvPr id="9" name="TextBox 8"/>
          <p:cNvSpPr txBox="1"/>
          <p:nvPr/>
        </p:nvSpPr>
        <p:spPr>
          <a:xfrm>
            <a:off x="411480" y="1929384"/>
            <a:ext cx="3545738" cy="246221"/>
          </a:xfrm>
          <a:prstGeom prst="rect">
            <a:avLst/>
          </a:prstGeom>
          <a:noFill/>
        </p:spPr>
        <p:txBody>
          <a:bodyPr wrap="square">
            <a:spAutoFit/>
          </a:bodyPr>
          <a:lstStyle/>
          <a:p>
            <a:pPr algn="ctr"/>
            <a:r>
              <a:rPr sz="1000" b="0" i="0" dirty="0"/>
              <a:t>dataset je </a:t>
            </a:r>
            <a:r>
              <a:rPr sz="1000" b="0" i="0" dirty="0" err="1"/>
              <a:t>kompletný</a:t>
            </a:r>
            <a:endParaRPr sz="1000" b="0" i="0" dirty="0"/>
          </a:p>
        </p:txBody>
      </p:sp>
      <p:sp>
        <p:nvSpPr>
          <p:cNvPr id="10" name="Rectangle 9"/>
          <p:cNvSpPr/>
          <p:nvPr/>
        </p:nvSpPr>
        <p:spPr>
          <a:xfrm>
            <a:off x="4231538" y="1234440"/>
            <a:ext cx="3728618" cy="1005840"/>
          </a:xfrm>
          <a:prstGeom prst="rect">
            <a:avLst/>
          </a:prstGeom>
          <a:solidFill>
            <a:srgbClr val="F0F4FF"/>
          </a:solidFill>
          <a:ln w="6350">
            <a:solidFill>
              <a:srgbClr val="C5CA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322978" y="1280160"/>
            <a:ext cx="3545738" cy="246221"/>
          </a:xfrm>
          <a:prstGeom prst="rect">
            <a:avLst/>
          </a:prstGeom>
          <a:noFill/>
        </p:spPr>
        <p:txBody>
          <a:bodyPr wrap="square">
            <a:spAutoFit/>
          </a:bodyPr>
          <a:lstStyle/>
          <a:p>
            <a:pPr algn="ctr"/>
            <a:r>
              <a:rPr sz="1000" b="0" i="0" dirty="0"/>
              <a:t>CHÝBAJÚCE DNI</a:t>
            </a:r>
          </a:p>
        </p:txBody>
      </p:sp>
      <p:sp>
        <p:nvSpPr>
          <p:cNvPr id="12" name="TextBox 11"/>
          <p:cNvSpPr txBox="1"/>
          <p:nvPr/>
        </p:nvSpPr>
        <p:spPr>
          <a:xfrm>
            <a:off x="4322978" y="1497224"/>
            <a:ext cx="3545738" cy="438912"/>
          </a:xfrm>
          <a:prstGeom prst="rect">
            <a:avLst/>
          </a:prstGeom>
          <a:noFill/>
        </p:spPr>
        <p:txBody>
          <a:bodyPr wrap="square">
            <a:spAutoFit/>
          </a:bodyPr>
          <a:lstStyle/>
          <a:p>
            <a:pPr algn="ctr"/>
            <a:r>
              <a:rPr sz="2200" b="1" i="0" dirty="0">
                <a:solidFill>
                  <a:srgbClr val="C62828"/>
                </a:solidFill>
              </a:rPr>
              <a:t>8</a:t>
            </a:r>
          </a:p>
        </p:txBody>
      </p:sp>
      <p:sp>
        <p:nvSpPr>
          <p:cNvPr id="13" name="TextBox 12"/>
          <p:cNvSpPr txBox="1"/>
          <p:nvPr/>
        </p:nvSpPr>
        <p:spPr>
          <a:xfrm>
            <a:off x="4322978" y="1929384"/>
            <a:ext cx="3545738" cy="246221"/>
          </a:xfrm>
          <a:prstGeom prst="rect">
            <a:avLst/>
          </a:prstGeom>
          <a:noFill/>
        </p:spPr>
        <p:txBody>
          <a:bodyPr wrap="square">
            <a:spAutoFit/>
          </a:bodyPr>
          <a:lstStyle/>
          <a:p>
            <a:pPr algn="ctr"/>
            <a:r>
              <a:rPr sz="1000" b="0" i="0" dirty="0"/>
              <a:t>zo 365 </a:t>
            </a:r>
            <a:r>
              <a:rPr sz="1000" b="0" i="0" dirty="0" err="1"/>
              <a:t>dní</a:t>
            </a:r>
            <a:endParaRPr sz="1000" b="0" i="0" dirty="0"/>
          </a:p>
        </p:txBody>
      </p:sp>
      <p:sp>
        <p:nvSpPr>
          <p:cNvPr id="14" name="Rectangle 13"/>
          <p:cNvSpPr/>
          <p:nvPr/>
        </p:nvSpPr>
        <p:spPr>
          <a:xfrm>
            <a:off x="8143036" y="1234440"/>
            <a:ext cx="3728618" cy="1005840"/>
          </a:xfrm>
          <a:prstGeom prst="rect">
            <a:avLst/>
          </a:prstGeom>
          <a:solidFill>
            <a:srgbClr val="F0F4FF"/>
          </a:solidFill>
          <a:ln w="6350">
            <a:solidFill>
              <a:srgbClr val="C5CA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234476" y="1280160"/>
            <a:ext cx="3545738" cy="246221"/>
          </a:xfrm>
          <a:prstGeom prst="rect">
            <a:avLst/>
          </a:prstGeom>
          <a:noFill/>
        </p:spPr>
        <p:txBody>
          <a:bodyPr wrap="square">
            <a:spAutoFit/>
          </a:bodyPr>
          <a:lstStyle/>
          <a:p>
            <a:pPr algn="ctr"/>
            <a:r>
              <a:rPr sz="1000" b="0" i="0" dirty="0"/>
              <a:t>DNÍ S MERAÍNM</a:t>
            </a:r>
          </a:p>
        </p:txBody>
      </p:sp>
      <p:sp>
        <p:nvSpPr>
          <p:cNvPr id="16" name="TextBox 15"/>
          <p:cNvSpPr txBox="1"/>
          <p:nvPr/>
        </p:nvSpPr>
        <p:spPr>
          <a:xfrm>
            <a:off x="8234476" y="1497224"/>
            <a:ext cx="3545738" cy="438912"/>
          </a:xfrm>
          <a:prstGeom prst="rect">
            <a:avLst/>
          </a:prstGeom>
          <a:noFill/>
        </p:spPr>
        <p:txBody>
          <a:bodyPr wrap="square">
            <a:spAutoFit/>
          </a:bodyPr>
          <a:lstStyle/>
          <a:p>
            <a:pPr algn="ctr"/>
            <a:r>
              <a:rPr sz="2200" b="1" i="0" dirty="0">
                <a:solidFill>
                  <a:srgbClr val="1A237E"/>
                </a:solidFill>
              </a:rPr>
              <a:t>357</a:t>
            </a:r>
          </a:p>
        </p:txBody>
      </p:sp>
      <p:sp>
        <p:nvSpPr>
          <p:cNvPr id="17" name="TextBox 16"/>
          <p:cNvSpPr txBox="1"/>
          <p:nvPr/>
        </p:nvSpPr>
        <p:spPr>
          <a:xfrm>
            <a:off x="8234476" y="1929384"/>
            <a:ext cx="3545738" cy="246221"/>
          </a:xfrm>
          <a:prstGeom prst="rect">
            <a:avLst/>
          </a:prstGeom>
          <a:noFill/>
        </p:spPr>
        <p:txBody>
          <a:bodyPr wrap="square">
            <a:spAutoFit/>
          </a:bodyPr>
          <a:lstStyle/>
          <a:p>
            <a:pPr algn="ctr"/>
            <a:r>
              <a:rPr sz="1000" b="0" i="0" dirty="0"/>
              <a:t>97.8 % </a:t>
            </a:r>
            <a:r>
              <a:rPr sz="1000" b="0" i="0" dirty="0" err="1"/>
              <a:t>pokrytie</a:t>
            </a:r>
            <a:endParaRPr sz="1000" b="0" i="0" dirty="0"/>
          </a:p>
        </p:txBody>
      </p:sp>
      <p:sp>
        <p:nvSpPr>
          <p:cNvPr id="18" name="Rectangle 17"/>
          <p:cNvSpPr/>
          <p:nvPr/>
        </p:nvSpPr>
        <p:spPr>
          <a:xfrm>
            <a:off x="320039" y="5902528"/>
            <a:ext cx="11551615" cy="667100"/>
          </a:xfrm>
          <a:prstGeom prst="rect">
            <a:avLst/>
          </a:prstGeom>
          <a:solidFill>
            <a:srgbClr val="FFF8E1"/>
          </a:solidFill>
          <a:ln w="6350">
            <a:solidFill>
              <a:srgbClr val="FBC02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2" name="Obrázok 21">
            <a:extLst>
              <a:ext uri="{FF2B5EF4-FFF2-40B4-BE49-F238E27FC236}">
                <a16:creationId xmlns:a16="http://schemas.microsoft.com/office/drawing/2014/main" id="{CABE311F-9D99-3BC5-5526-484EBBEFBCF3}"/>
              </a:ext>
            </a:extLst>
          </p:cNvPr>
          <p:cNvPicPr>
            <a:picLocks noChangeAspect="1"/>
          </p:cNvPicPr>
          <p:nvPr/>
        </p:nvPicPr>
        <p:blipFill>
          <a:blip r:embed="rId3"/>
          <a:stretch>
            <a:fillRect/>
          </a:stretch>
        </p:blipFill>
        <p:spPr>
          <a:xfrm>
            <a:off x="5712701" y="3293370"/>
            <a:ext cx="6265377" cy="2609158"/>
          </a:xfrm>
          <a:prstGeom prst="rect">
            <a:avLst/>
          </a:prstGeom>
        </p:spPr>
      </p:pic>
      <p:sp>
        <p:nvSpPr>
          <p:cNvPr id="20" name="TextBox 19"/>
          <p:cNvSpPr txBox="1"/>
          <p:nvPr/>
        </p:nvSpPr>
        <p:spPr>
          <a:xfrm>
            <a:off x="320039" y="2432304"/>
            <a:ext cx="11551615" cy="1836400"/>
          </a:xfrm>
          <a:prstGeom prst="rect">
            <a:avLst/>
          </a:prstGeom>
          <a:noFill/>
        </p:spPr>
        <p:txBody>
          <a:bodyPr wrap="square">
            <a:spAutoFit/>
          </a:bodyPr>
          <a:lstStyle/>
          <a:p>
            <a:pPr>
              <a:spcAft>
                <a:spcPts val="700"/>
              </a:spcAft>
            </a:pPr>
            <a:r>
              <a:rPr dirty="0">
                <a:solidFill>
                  <a:srgbClr val="222222"/>
                </a:solidFill>
              </a:rPr>
              <a:t>• </a:t>
            </a:r>
            <a:r>
              <a:rPr dirty="0" err="1">
                <a:solidFill>
                  <a:srgbClr val="222222"/>
                </a:solidFill>
              </a:rPr>
              <a:t>Dva</a:t>
            </a:r>
            <a:r>
              <a:rPr dirty="0">
                <a:solidFill>
                  <a:srgbClr val="222222"/>
                </a:solidFill>
              </a:rPr>
              <a:t> </a:t>
            </a:r>
            <a:r>
              <a:rPr dirty="0" err="1">
                <a:solidFill>
                  <a:srgbClr val="222222"/>
                </a:solidFill>
              </a:rPr>
              <a:t>výpadky</a:t>
            </a:r>
            <a:r>
              <a:rPr dirty="0">
                <a:solidFill>
                  <a:srgbClr val="222222"/>
                </a:solidFill>
              </a:rPr>
              <a:t>: 1 </a:t>
            </a:r>
            <a:r>
              <a:rPr dirty="0" err="1">
                <a:solidFill>
                  <a:srgbClr val="222222"/>
                </a:solidFill>
              </a:rPr>
              <a:t>deň</a:t>
            </a:r>
            <a:r>
              <a:rPr dirty="0">
                <a:solidFill>
                  <a:srgbClr val="222222"/>
                </a:solidFill>
              </a:rPr>
              <a:t> (</a:t>
            </a:r>
            <a:r>
              <a:rPr dirty="0" err="1">
                <a:solidFill>
                  <a:srgbClr val="222222"/>
                </a:solidFill>
              </a:rPr>
              <a:t>koniec</a:t>
            </a:r>
            <a:r>
              <a:rPr dirty="0">
                <a:solidFill>
                  <a:srgbClr val="222222"/>
                </a:solidFill>
              </a:rPr>
              <a:t> </a:t>
            </a:r>
            <a:r>
              <a:rPr dirty="0" err="1">
                <a:solidFill>
                  <a:srgbClr val="222222"/>
                </a:solidFill>
              </a:rPr>
              <a:t>marca</a:t>
            </a:r>
            <a:r>
              <a:rPr dirty="0">
                <a:solidFill>
                  <a:srgbClr val="222222"/>
                </a:solidFill>
              </a:rPr>
              <a:t>) + 7 </a:t>
            </a:r>
            <a:r>
              <a:rPr dirty="0" err="1">
                <a:solidFill>
                  <a:srgbClr val="222222"/>
                </a:solidFill>
              </a:rPr>
              <a:t>dní</a:t>
            </a:r>
            <a:r>
              <a:rPr dirty="0">
                <a:solidFill>
                  <a:srgbClr val="222222"/>
                </a:solidFill>
              </a:rPr>
              <a:t> (</a:t>
            </a:r>
            <a:r>
              <a:rPr dirty="0" err="1">
                <a:solidFill>
                  <a:srgbClr val="222222"/>
                </a:solidFill>
              </a:rPr>
              <a:t>koniec</a:t>
            </a:r>
            <a:r>
              <a:rPr dirty="0">
                <a:solidFill>
                  <a:srgbClr val="222222"/>
                </a:solidFill>
              </a:rPr>
              <a:t> </a:t>
            </a:r>
            <a:r>
              <a:rPr dirty="0" err="1">
                <a:solidFill>
                  <a:srgbClr val="222222"/>
                </a:solidFill>
              </a:rPr>
              <a:t>augusta</a:t>
            </a:r>
            <a:r>
              <a:rPr dirty="0">
                <a:solidFill>
                  <a:srgbClr val="222222"/>
                </a:solidFill>
              </a:rPr>
              <a:t> / </a:t>
            </a:r>
            <a:r>
              <a:rPr dirty="0" err="1">
                <a:solidFill>
                  <a:srgbClr val="222222"/>
                </a:solidFill>
              </a:rPr>
              <a:t>začiatok</a:t>
            </a:r>
            <a:r>
              <a:rPr dirty="0">
                <a:solidFill>
                  <a:srgbClr val="222222"/>
                </a:solidFill>
              </a:rPr>
              <a:t> </a:t>
            </a:r>
            <a:r>
              <a:rPr dirty="0" err="1">
                <a:solidFill>
                  <a:srgbClr val="222222"/>
                </a:solidFill>
              </a:rPr>
              <a:t>septembra</a:t>
            </a:r>
            <a:r>
              <a:rPr dirty="0">
                <a:solidFill>
                  <a:srgbClr val="222222"/>
                </a:solidFill>
              </a:rPr>
              <a:t>)</a:t>
            </a:r>
          </a:p>
          <a:p>
            <a:pPr>
              <a:spcAft>
                <a:spcPts val="700"/>
              </a:spcAft>
            </a:pPr>
            <a:endParaRPr lang="en-US" dirty="0">
              <a:solidFill>
                <a:srgbClr val="222222"/>
              </a:solidFill>
            </a:endParaRPr>
          </a:p>
          <a:p>
            <a:pPr>
              <a:spcAft>
                <a:spcPts val="700"/>
              </a:spcAft>
            </a:pPr>
            <a:r>
              <a:rPr dirty="0">
                <a:solidFill>
                  <a:srgbClr val="222222"/>
                </a:solidFill>
              </a:rPr>
              <a:t>• </a:t>
            </a:r>
            <a:r>
              <a:rPr dirty="0" err="1">
                <a:solidFill>
                  <a:srgbClr val="222222"/>
                </a:solidFill>
              </a:rPr>
              <a:t>Pravdepodobná</a:t>
            </a:r>
            <a:r>
              <a:rPr dirty="0">
                <a:solidFill>
                  <a:srgbClr val="222222"/>
                </a:solidFill>
              </a:rPr>
              <a:t> </a:t>
            </a:r>
            <a:r>
              <a:rPr dirty="0" err="1">
                <a:solidFill>
                  <a:srgbClr val="222222"/>
                </a:solidFill>
              </a:rPr>
              <a:t>príčina</a:t>
            </a:r>
            <a:r>
              <a:rPr dirty="0">
                <a:solidFill>
                  <a:srgbClr val="222222"/>
                </a:solidFill>
              </a:rPr>
              <a:t>: </a:t>
            </a:r>
            <a:r>
              <a:rPr dirty="0" err="1">
                <a:solidFill>
                  <a:srgbClr val="222222"/>
                </a:solidFill>
              </a:rPr>
              <a:t>výpadok</a:t>
            </a:r>
            <a:r>
              <a:rPr dirty="0">
                <a:solidFill>
                  <a:srgbClr val="222222"/>
                </a:solidFill>
              </a:rPr>
              <a:t> </a:t>
            </a:r>
            <a:r>
              <a:rPr dirty="0" err="1">
                <a:solidFill>
                  <a:srgbClr val="222222"/>
                </a:solidFill>
              </a:rPr>
              <a:t>zariadenia</a:t>
            </a:r>
            <a:r>
              <a:rPr dirty="0">
                <a:solidFill>
                  <a:srgbClr val="222222"/>
                </a:solidFill>
              </a:rPr>
              <a:t> </a:t>
            </a:r>
            <a:r>
              <a:rPr dirty="0" err="1">
                <a:solidFill>
                  <a:srgbClr val="222222"/>
                </a:solidFill>
              </a:rPr>
              <a:t>alebo</a:t>
            </a:r>
            <a:r>
              <a:rPr dirty="0">
                <a:solidFill>
                  <a:srgbClr val="222222"/>
                </a:solidFill>
              </a:rPr>
              <a:t> </a:t>
            </a:r>
            <a:r>
              <a:rPr dirty="0" err="1">
                <a:solidFill>
                  <a:srgbClr val="222222"/>
                </a:solidFill>
              </a:rPr>
              <a:t>prenosu</a:t>
            </a:r>
            <a:r>
              <a:rPr dirty="0">
                <a:solidFill>
                  <a:srgbClr val="222222"/>
                </a:solidFill>
              </a:rPr>
              <a:t> </a:t>
            </a:r>
            <a:r>
              <a:rPr dirty="0" err="1">
                <a:solidFill>
                  <a:srgbClr val="222222"/>
                </a:solidFill>
              </a:rPr>
              <a:t>dát</a:t>
            </a:r>
            <a:endParaRPr dirty="0">
              <a:solidFill>
                <a:srgbClr val="222222"/>
              </a:solidFill>
            </a:endParaRPr>
          </a:p>
          <a:p>
            <a:pPr>
              <a:spcAft>
                <a:spcPts val="700"/>
              </a:spcAft>
            </a:pPr>
            <a:endParaRPr lang="en-US" dirty="0">
              <a:solidFill>
                <a:srgbClr val="222222"/>
              </a:solidFill>
            </a:endParaRPr>
          </a:p>
          <a:p>
            <a:pPr>
              <a:spcAft>
                <a:spcPts val="700"/>
              </a:spcAft>
            </a:pPr>
            <a:r>
              <a:rPr dirty="0">
                <a:solidFill>
                  <a:srgbClr val="222222"/>
                </a:solidFill>
              </a:rPr>
              <a:t>• </a:t>
            </a:r>
            <a:r>
              <a:rPr dirty="0" err="1">
                <a:solidFill>
                  <a:srgbClr val="222222"/>
                </a:solidFill>
              </a:rPr>
              <a:t>Výstup</a:t>
            </a:r>
            <a:r>
              <a:rPr dirty="0">
                <a:solidFill>
                  <a:srgbClr val="222222"/>
                </a:solidFill>
              </a:rPr>
              <a:t>: histogram_chybajucich_dni.png</a:t>
            </a:r>
          </a:p>
        </p:txBody>
      </p:sp>
      <p:sp>
        <p:nvSpPr>
          <p:cNvPr id="19" name="TextBox 18"/>
          <p:cNvSpPr txBox="1"/>
          <p:nvPr/>
        </p:nvSpPr>
        <p:spPr>
          <a:xfrm>
            <a:off x="390646" y="6051412"/>
            <a:ext cx="7544053" cy="369332"/>
          </a:xfrm>
          <a:prstGeom prst="rect">
            <a:avLst/>
          </a:prstGeom>
          <a:noFill/>
        </p:spPr>
        <p:txBody>
          <a:bodyPr wrap="none">
            <a:spAutoFit/>
          </a:bodyPr>
          <a:lstStyle/>
          <a:p>
            <a:r>
              <a:rPr b="1" dirty="0" err="1">
                <a:solidFill>
                  <a:srgbClr val="222222"/>
                </a:solidFill>
              </a:rPr>
              <a:t>Chýbajúce</a:t>
            </a:r>
            <a:r>
              <a:rPr b="1" dirty="0">
                <a:solidFill>
                  <a:srgbClr val="222222"/>
                </a:solidFill>
              </a:rPr>
              <a:t> </a:t>
            </a:r>
            <a:r>
              <a:rPr b="1" dirty="0" err="1">
                <a:solidFill>
                  <a:srgbClr val="222222"/>
                </a:solidFill>
              </a:rPr>
              <a:t>dni</a:t>
            </a:r>
            <a:r>
              <a:rPr b="1" dirty="0">
                <a:solidFill>
                  <a:srgbClr val="222222"/>
                </a:solidFill>
              </a:rPr>
              <a:t> (8):  </a:t>
            </a:r>
            <a:r>
              <a:rPr b="0" dirty="0">
                <a:solidFill>
                  <a:srgbClr val="222222"/>
                </a:solidFill>
              </a:rPr>
              <a:t>2018-03-31  |  2018-08-31  |  2018-09-01 </a:t>
            </a:r>
            <a:r>
              <a:rPr b="0" dirty="0" err="1">
                <a:solidFill>
                  <a:srgbClr val="222222"/>
                </a:solidFill>
              </a:rPr>
              <a:t>až</a:t>
            </a:r>
            <a:r>
              <a:rPr b="0" dirty="0">
                <a:solidFill>
                  <a:srgbClr val="222222"/>
                </a:solidFill>
              </a:rPr>
              <a:t> 2018-09-06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201167"/>
            <a:ext cx="349776" cy="461665"/>
          </a:xfrm>
          <a:prstGeom prst="rect">
            <a:avLst/>
          </a:prstGeom>
          <a:noFill/>
        </p:spPr>
        <p:txBody>
          <a:bodyPr wrap="none">
            <a:spAutoFit/>
          </a:bodyPr>
          <a:lstStyle/>
          <a:p>
            <a:pPr algn="ctr"/>
            <a:r>
              <a:rPr sz="2400" b="1" dirty="0">
                <a:solidFill>
                  <a:srgbClr val="FFFFFF"/>
                </a:solidFill>
              </a:rPr>
              <a:t>7</a:t>
            </a:r>
            <a:endParaRPr sz="1600" b="1" dirty="0">
              <a:solidFill>
                <a:srgbClr val="FFFFFF"/>
              </a:solidFill>
            </a:endParaRPr>
          </a:p>
        </p:txBody>
      </p:sp>
      <p:sp>
        <p:nvSpPr>
          <p:cNvPr id="4" name="TextBox 3"/>
          <p:cNvSpPr txBox="1"/>
          <p:nvPr/>
        </p:nvSpPr>
        <p:spPr>
          <a:xfrm>
            <a:off x="822960" y="201168"/>
            <a:ext cx="6912277" cy="461665"/>
          </a:xfrm>
          <a:prstGeom prst="rect">
            <a:avLst/>
          </a:prstGeom>
          <a:noFill/>
        </p:spPr>
        <p:txBody>
          <a:bodyPr wrap="none">
            <a:spAutoFit/>
          </a:bodyPr>
          <a:lstStyle/>
          <a:p>
            <a:pPr algn="l"/>
            <a:r>
              <a:rPr sz="2400" b="1" dirty="0" err="1">
                <a:solidFill>
                  <a:srgbClr val="FFFFFF"/>
                </a:solidFill>
              </a:rPr>
              <a:t>Detekcia</a:t>
            </a:r>
            <a:r>
              <a:rPr sz="2400" b="1" dirty="0">
                <a:solidFill>
                  <a:srgbClr val="FFFFFF"/>
                </a:solidFill>
              </a:rPr>
              <a:t> </a:t>
            </a:r>
            <a:r>
              <a:rPr sz="2400" b="1" dirty="0" err="1">
                <a:solidFill>
                  <a:srgbClr val="FFFFFF"/>
                </a:solidFill>
              </a:rPr>
              <a:t>poškodených</a:t>
            </a:r>
            <a:r>
              <a:rPr sz="2400" b="1" dirty="0">
                <a:solidFill>
                  <a:srgbClr val="FFFFFF"/>
                </a:solidFill>
              </a:rPr>
              <a:t> </a:t>
            </a:r>
            <a:r>
              <a:rPr sz="2400" b="1" dirty="0" err="1">
                <a:solidFill>
                  <a:srgbClr val="FFFFFF"/>
                </a:solidFill>
              </a:rPr>
              <a:t>vzoriek</a:t>
            </a:r>
            <a:r>
              <a:rPr sz="2400" b="1" dirty="0">
                <a:solidFill>
                  <a:srgbClr val="FFFFFF"/>
                </a:solidFill>
              </a:rPr>
              <a:t> </a:t>
            </a:r>
            <a:r>
              <a:rPr lang="sk-SK" sz="2400" b="1" dirty="0">
                <a:solidFill>
                  <a:srgbClr val="FFFFFF"/>
                </a:solidFill>
              </a:rPr>
              <a:t>-</a:t>
            </a:r>
            <a:r>
              <a:rPr sz="2400" b="1" dirty="0">
                <a:solidFill>
                  <a:srgbClr val="FFFFFF"/>
                </a:solidFill>
              </a:rPr>
              <a:t> </a:t>
            </a:r>
            <a:r>
              <a:rPr sz="2400" b="1" dirty="0" err="1">
                <a:solidFill>
                  <a:srgbClr val="FFFFFF"/>
                </a:solidFill>
              </a:rPr>
              <a:t>fyzikálne</a:t>
            </a:r>
            <a:r>
              <a:rPr sz="2400" b="1" dirty="0">
                <a:solidFill>
                  <a:srgbClr val="FFFFFF"/>
                </a:solidFill>
              </a:rPr>
              <a:t> </a:t>
            </a:r>
            <a:r>
              <a:rPr sz="2400" b="1" dirty="0" err="1">
                <a:solidFill>
                  <a:srgbClr val="FFFFFF"/>
                </a:solidFill>
              </a:rPr>
              <a:t>medze</a:t>
            </a:r>
            <a:endParaRPr sz="2400" b="1" dirty="0">
              <a:solidFill>
                <a:srgbClr val="FFFFFF"/>
              </a:solidFill>
            </a:endParaRPr>
          </a:p>
        </p:txBody>
      </p:sp>
      <p:sp>
        <p:nvSpPr>
          <p:cNvPr id="7" name="Rectangle 6"/>
          <p:cNvSpPr/>
          <p:nvPr/>
        </p:nvSpPr>
        <p:spPr>
          <a:xfrm>
            <a:off x="320040" y="1124712"/>
            <a:ext cx="5684367" cy="4700016"/>
          </a:xfrm>
          <a:prstGeom prst="rect">
            <a:avLst/>
          </a:prstGeom>
          <a:solidFill>
            <a:srgbClr val="F8F9FF"/>
          </a:solidFill>
          <a:ln w="6350">
            <a:solidFill>
              <a:srgbClr val="E0E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1217485"/>
            <a:ext cx="5410047" cy="492443"/>
          </a:xfrm>
          <a:prstGeom prst="rect">
            <a:avLst/>
          </a:prstGeom>
          <a:noFill/>
        </p:spPr>
        <p:txBody>
          <a:bodyPr wrap="square">
            <a:spAutoFit/>
          </a:bodyPr>
          <a:lstStyle/>
          <a:p>
            <a:pPr algn="l"/>
            <a:r>
              <a:rPr sz="2600" b="1" i="0" dirty="0">
                <a:solidFill>
                  <a:srgbClr val="3949AB"/>
                </a:solidFill>
              </a:rPr>
              <a:t>Príklady </a:t>
            </a:r>
            <a:r>
              <a:rPr sz="2600" b="1" i="0" dirty="0" err="1">
                <a:solidFill>
                  <a:srgbClr val="3949AB"/>
                </a:solidFill>
              </a:rPr>
              <a:t>fyzikálnych</a:t>
            </a:r>
            <a:r>
              <a:rPr sz="2600" b="1" i="0" dirty="0">
                <a:solidFill>
                  <a:srgbClr val="3949AB"/>
                </a:solidFill>
              </a:rPr>
              <a:t> </a:t>
            </a:r>
            <a:r>
              <a:rPr sz="2600" b="1" i="0" dirty="0" err="1">
                <a:solidFill>
                  <a:srgbClr val="3949AB"/>
                </a:solidFill>
              </a:rPr>
              <a:t>medzí</a:t>
            </a:r>
            <a:endParaRPr sz="2600" b="1" i="0" dirty="0">
              <a:solidFill>
                <a:srgbClr val="3949AB"/>
              </a:solidFill>
            </a:endParaRPr>
          </a:p>
        </p:txBody>
      </p:sp>
      <p:sp>
        <p:nvSpPr>
          <p:cNvPr id="9" name="TextBox 8"/>
          <p:cNvSpPr txBox="1"/>
          <p:nvPr/>
        </p:nvSpPr>
        <p:spPr>
          <a:xfrm>
            <a:off x="457200" y="1774116"/>
            <a:ext cx="5410047" cy="3860031"/>
          </a:xfrm>
          <a:prstGeom prst="rect">
            <a:avLst/>
          </a:prstGeom>
          <a:noFill/>
        </p:spPr>
        <p:txBody>
          <a:bodyPr wrap="square">
            <a:spAutoFit/>
          </a:bodyPr>
          <a:lstStyle/>
          <a:p>
            <a:pPr>
              <a:spcAft>
                <a:spcPts val="100"/>
              </a:spcAft>
            </a:pPr>
            <a:r>
              <a:rPr sz="1600" b="1" dirty="0">
                <a:solidFill>
                  <a:srgbClr val="222222"/>
                </a:solidFill>
              </a:rPr>
              <a:t>• Irradiance: (0, 1 500) W/m²</a:t>
            </a:r>
          </a:p>
          <a:p>
            <a:pPr>
              <a:spcAft>
                <a:spcPts val="400"/>
              </a:spcAft>
            </a:pPr>
            <a:r>
              <a:rPr sz="1600" i="1" dirty="0">
                <a:solidFill>
                  <a:srgbClr val="555555"/>
                </a:solidFill>
              </a:rPr>
              <a:t>   </a:t>
            </a:r>
            <a:r>
              <a:rPr sz="1600" i="1" dirty="0" err="1">
                <a:solidFill>
                  <a:srgbClr val="555555"/>
                </a:solidFill>
              </a:rPr>
              <a:t>záporné</a:t>
            </a:r>
            <a:r>
              <a:rPr sz="1600" i="1" dirty="0">
                <a:solidFill>
                  <a:srgbClr val="555555"/>
                </a:solidFill>
              </a:rPr>
              <a:t> </a:t>
            </a:r>
            <a:r>
              <a:rPr sz="1600" i="1" dirty="0" err="1">
                <a:solidFill>
                  <a:srgbClr val="555555"/>
                </a:solidFill>
              </a:rPr>
              <a:t>žiarenie</a:t>
            </a:r>
            <a:r>
              <a:rPr sz="1600" i="1" dirty="0">
                <a:solidFill>
                  <a:srgbClr val="555555"/>
                </a:solidFill>
              </a:rPr>
              <a:t> </a:t>
            </a:r>
            <a:r>
              <a:rPr sz="1600" i="1" dirty="0" err="1">
                <a:solidFill>
                  <a:srgbClr val="555555"/>
                </a:solidFill>
              </a:rPr>
              <a:t>fyzikálne</a:t>
            </a:r>
            <a:r>
              <a:rPr sz="1600" i="1" dirty="0">
                <a:solidFill>
                  <a:srgbClr val="555555"/>
                </a:solidFill>
              </a:rPr>
              <a:t> </a:t>
            </a:r>
            <a:r>
              <a:rPr sz="1600" i="1" dirty="0" err="1">
                <a:solidFill>
                  <a:srgbClr val="555555"/>
                </a:solidFill>
              </a:rPr>
              <a:t>nemožné</a:t>
            </a:r>
            <a:endParaRPr sz="1600" i="1" dirty="0">
              <a:solidFill>
                <a:srgbClr val="555555"/>
              </a:solidFill>
            </a:endParaRPr>
          </a:p>
          <a:p>
            <a:pPr>
              <a:spcAft>
                <a:spcPts val="100"/>
              </a:spcAft>
            </a:pPr>
            <a:endParaRPr lang="en-US" sz="1600" b="1" dirty="0">
              <a:solidFill>
                <a:srgbClr val="222222"/>
              </a:solidFill>
            </a:endParaRPr>
          </a:p>
          <a:p>
            <a:pPr>
              <a:spcAft>
                <a:spcPts val="100"/>
              </a:spcAft>
            </a:pPr>
            <a:r>
              <a:rPr sz="1600" b="1" dirty="0">
                <a:solidFill>
                  <a:srgbClr val="222222"/>
                </a:solidFill>
              </a:rPr>
              <a:t>• Pressure: (870, 1 085) </a:t>
            </a:r>
            <a:r>
              <a:rPr sz="1600" b="1" dirty="0" err="1">
                <a:solidFill>
                  <a:srgbClr val="222222"/>
                </a:solidFill>
              </a:rPr>
              <a:t>hPa</a:t>
            </a:r>
            <a:endParaRPr sz="1600" b="1" dirty="0">
              <a:solidFill>
                <a:srgbClr val="222222"/>
              </a:solidFill>
            </a:endParaRPr>
          </a:p>
          <a:p>
            <a:pPr>
              <a:spcAft>
                <a:spcPts val="400"/>
              </a:spcAft>
            </a:pPr>
            <a:r>
              <a:rPr sz="1600" i="1" dirty="0">
                <a:solidFill>
                  <a:srgbClr val="555555"/>
                </a:solidFill>
              </a:rPr>
              <a:t>   </a:t>
            </a:r>
            <a:r>
              <a:rPr sz="1600" i="1" dirty="0" err="1">
                <a:solidFill>
                  <a:srgbClr val="555555"/>
                </a:solidFill>
              </a:rPr>
              <a:t>pozemné</a:t>
            </a:r>
            <a:r>
              <a:rPr sz="1600" i="1" dirty="0">
                <a:solidFill>
                  <a:srgbClr val="555555"/>
                </a:solidFill>
              </a:rPr>
              <a:t> </a:t>
            </a:r>
            <a:r>
              <a:rPr sz="1600" i="1" dirty="0" err="1">
                <a:solidFill>
                  <a:srgbClr val="555555"/>
                </a:solidFill>
              </a:rPr>
              <a:t>extrémy</a:t>
            </a:r>
            <a:r>
              <a:rPr sz="1600" i="1" dirty="0">
                <a:solidFill>
                  <a:srgbClr val="555555"/>
                </a:solidFill>
              </a:rPr>
              <a:t> (</a:t>
            </a:r>
            <a:r>
              <a:rPr sz="1600" i="1" dirty="0" err="1">
                <a:solidFill>
                  <a:srgbClr val="555555"/>
                </a:solidFill>
              </a:rPr>
              <a:t>cyklón</a:t>
            </a:r>
            <a:r>
              <a:rPr sz="1600" i="1" dirty="0">
                <a:solidFill>
                  <a:srgbClr val="555555"/>
                </a:solidFill>
              </a:rPr>
              <a:t> / </a:t>
            </a:r>
            <a:r>
              <a:rPr sz="1600" i="1" dirty="0" err="1">
                <a:solidFill>
                  <a:srgbClr val="555555"/>
                </a:solidFill>
              </a:rPr>
              <a:t>Mongolsko</a:t>
            </a:r>
            <a:r>
              <a:rPr sz="1600" i="1" dirty="0">
                <a:solidFill>
                  <a:srgbClr val="555555"/>
                </a:solidFill>
              </a:rPr>
              <a:t>)</a:t>
            </a:r>
          </a:p>
          <a:p>
            <a:pPr>
              <a:spcAft>
                <a:spcPts val="100"/>
              </a:spcAft>
            </a:pPr>
            <a:endParaRPr lang="en-US" sz="1600" b="1" dirty="0">
              <a:solidFill>
                <a:srgbClr val="222222"/>
              </a:solidFill>
            </a:endParaRPr>
          </a:p>
          <a:p>
            <a:pPr>
              <a:spcAft>
                <a:spcPts val="100"/>
              </a:spcAft>
            </a:pPr>
            <a:r>
              <a:rPr sz="1600" b="1" dirty="0">
                <a:solidFill>
                  <a:srgbClr val="222222"/>
                </a:solidFill>
              </a:rPr>
              <a:t>• </a:t>
            </a:r>
            <a:r>
              <a:rPr sz="1600" b="1" dirty="0" err="1">
                <a:solidFill>
                  <a:srgbClr val="222222"/>
                </a:solidFill>
              </a:rPr>
              <a:t>SunZenith</a:t>
            </a:r>
            <a:r>
              <a:rPr sz="1600" b="1" dirty="0">
                <a:solidFill>
                  <a:srgbClr val="222222"/>
                </a:solidFill>
              </a:rPr>
              <a:t>: (0, 90)°</a:t>
            </a:r>
          </a:p>
          <a:p>
            <a:pPr>
              <a:spcAft>
                <a:spcPts val="400"/>
              </a:spcAft>
            </a:pPr>
            <a:r>
              <a:rPr sz="1600" i="1" dirty="0">
                <a:solidFill>
                  <a:srgbClr val="555555"/>
                </a:solidFill>
              </a:rPr>
              <a:t>   </a:t>
            </a:r>
            <a:r>
              <a:rPr sz="1600" i="1" dirty="0" err="1">
                <a:solidFill>
                  <a:srgbClr val="555555"/>
                </a:solidFill>
              </a:rPr>
              <a:t>záporný</a:t>
            </a:r>
            <a:r>
              <a:rPr sz="1600" i="1" dirty="0">
                <a:solidFill>
                  <a:srgbClr val="555555"/>
                </a:solidFill>
              </a:rPr>
              <a:t> </a:t>
            </a:r>
            <a:r>
              <a:rPr sz="1600" i="1" dirty="0" err="1">
                <a:solidFill>
                  <a:srgbClr val="555555"/>
                </a:solidFill>
              </a:rPr>
              <a:t>elevačný</a:t>
            </a:r>
            <a:r>
              <a:rPr sz="1600" i="1" dirty="0">
                <a:solidFill>
                  <a:srgbClr val="555555"/>
                </a:solidFill>
              </a:rPr>
              <a:t> </a:t>
            </a:r>
            <a:r>
              <a:rPr sz="1600" i="1" dirty="0" err="1">
                <a:solidFill>
                  <a:srgbClr val="555555"/>
                </a:solidFill>
              </a:rPr>
              <a:t>uhol</a:t>
            </a:r>
            <a:r>
              <a:rPr sz="1600" i="1" dirty="0">
                <a:solidFill>
                  <a:srgbClr val="555555"/>
                </a:solidFill>
              </a:rPr>
              <a:t> </a:t>
            </a:r>
            <a:r>
              <a:rPr sz="1600" i="1" dirty="0" err="1">
                <a:solidFill>
                  <a:srgbClr val="555555"/>
                </a:solidFill>
              </a:rPr>
              <a:t>neexistuje</a:t>
            </a:r>
            <a:endParaRPr sz="1600" i="1" dirty="0">
              <a:solidFill>
                <a:srgbClr val="555555"/>
              </a:solidFill>
            </a:endParaRPr>
          </a:p>
          <a:p>
            <a:pPr>
              <a:spcAft>
                <a:spcPts val="100"/>
              </a:spcAft>
            </a:pPr>
            <a:endParaRPr lang="en-US" sz="1600" b="1" dirty="0">
              <a:solidFill>
                <a:srgbClr val="222222"/>
              </a:solidFill>
            </a:endParaRPr>
          </a:p>
          <a:p>
            <a:pPr>
              <a:spcAft>
                <a:spcPts val="100"/>
              </a:spcAft>
            </a:pPr>
            <a:r>
              <a:rPr sz="1600" b="1" dirty="0">
                <a:solidFill>
                  <a:srgbClr val="222222"/>
                </a:solidFill>
              </a:rPr>
              <a:t>• </a:t>
            </a:r>
            <a:r>
              <a:rPr sz="1600" b="1" dirty="0" err="1">
                <a:solidFill>
                  <a:srgbClr val="222222"/>
                </a:solidFill>
              </a:rPr>
              <a:t>BodyTemperature</a:t>
            </a:r>
            <a:r>
              <a:rPr sz="1600" b="1" dirty="0">
                <a:solidFill>
                  <a:srgbClr val="222222"/>
                </a:solidFill>
              </a:rPr>
              <a:t>: (−40, 80) °C</a:t>
            </a:r>
          </a:p>
          <a:p>
            <a:pPr>
              <a:spcAft>
                <a:spcPts val="400"/>
              </a:spcAft>
            </a:pPr>
            <a:r>
              <a:rPr sz="1600" i="1" dirty="0">
                <a:solidFill>
                  <a:srgbClr val="555555"/>
                </a:solidFill>
              </a:rPr>
              <a:t>   </a:t>
            </a:r>
            <a:r>
              <a:rPr sz="1600" i="1" dirty="0" err="1">
                <a:solidFill>
                  <a:srgbClr val="555555"/>
                </a:solidFill>
              </a:rPr>
              <a:t>operačný</a:t>
            </a:r>
            <a:r>
              <a:rPr sz="1600" i="1" dirty="0">
                <a:solidFill>
                  <a:srgbClr val="555555"/>
                </a:solidFill>
              </a:rPr>
              <a:t> </a:t>
            </a:r>
            <a:r>
              <a:rPr sz="1600" i="1" dirty="0" err="1">
                <a:solidFill>
                  <a:srgbClr val="555555"/>
                </a:solidFill>
              </a:rPr>
              <a:t>rozsah</a:t>
            </a:r>
            <a:r>
              <a:rPr sz="1600" i="1" dirty="0">
                <a:solidFill>
                  <a:srgbClr val="555555"/>
                </a:solidFill>
              </a:rPr>
              <a:t> Kipp &amp; </a:t>
            </a:r>
            <a:r>
              <a:rPr sz="1600" i="1" dirty="0" err="1">
                <a:solidFill>
                  <a:srgbClr val="555555"/>
                </a:solidFill>
              </a:rPr>
              <a:t>Zonen</a:t>
            </a:r>
            <a:r>
              <a:rPr sz="1600" i="1" dirty="0">
                <a:solidFill>
                  <a:srgbClr val="555555"/>
                </a:solidFill>
              </a:rPr>
              <a:t> SMP10</a:t>
            </a:r>
          </a:p>
          <a:p>
            <a:pPr>
              <a:spcAft>
                <a:spcPts val="100"/>
              </a:spcAft>
            </a:pPr>
            <a:endParaRPr lang="en-US" sz="1600" b="1" dirty="0">
              <a:solidFill>
                <a:srgbClr val="222222"/>
              </a:solidFill>
            </a:endParaRPr>
          </a:p>
          <a:p>
            <a:pPr>
              <a:spcAft>
                <a:spcPts val="100"/>
              </a:spcAft>
            </a:pPr>
            <a:r>
              <a:rPr sz="1600" b="1" dirty="0">
                <a:solidFill>
                  <a:srgbClr val="222222"/>
                </a:solidFill>
              </a:rPr>
              <a:t>• </a:t>
            </a:r>
            <a:r>
              <a:rPr sz="1600" b="1" dirty="0" err="1">
                <a:solidFill>
                  <a:srgbClr val="222222"/>
                </a:solidFill>
              </a:rPr>
              <a:t>RelativeHumidity</a:t>
            </a:r>
            <a:r>
              <a:rPr sz="1600" b="1" dirty="0">
                <a:solidFill>
                  <a:srgbClr val="222222"/>
                </a:solidFill>
              </a:rPr>
              <a:t>: (0, 100) %</a:t>
            </a:r>
          </a:p>
          <a:p>
            <a:pPr>
              <a:spcAft>
                <a:spcPts val="400"/>
              </a:spcAft>
            </a:pPr>
            <a:r>
              <a:rPr sz="1600" i="1" dirty="0">
                <a:solidFill>
                  <a:srgbClr val="555555"/>
                </a:solidFill>
              </a:rPr>
              <a:t>   </a:t>
            </a:r>
            <a:r>
              <a:rPr sz="1600" i="1" dirty="0" err="1">
                <a:solidFill>
                  <a:srgbClr val="555555"/>
                </a:solidFill>
              </a:rPr>
              <a:t>fyzikálna</a:t>
            </a:r>
            <a:r>
              <a:rPr sz="1600" i="1" dirty="0">
                <a:solidFill>
                  <a:srgbClr val="555555"/>
                </a:solidFill>
              </a:rPr>
              <a:t> </a:t>
            </a:r>
            <a:r>
              <a:rPr sz="1600" i="1" dirty="0" err="1">
                <a:solidFill>
                  <a:srgbClr val="555555"/>
                </a:solidFill>
              </a:rPr>
              <a:t>definícia</a:t>
            </a:r>
            <a:r>
              <a:rPr sz="1600" i="1" dirty="0">
                <a:solidFill>
                  <a:srgbClr val="555555"/>
                </a:solidFill>
              </a:rPr>
              <a:t> </a:t>
            </a:r>
            <a:r>
              <a:rPr sz="1600" i="1" dirty="0" err="1">
                <a:solidFill>
                  <a:srgbClr val="555555"/>
                </a:solidFill>
              </a:rPr>
              <a:t>vlhkosti</a:t>
            </a:r>
            <a:endParaRPr sz="1600" i="1" dirty="0">
              <a:solidFill>
                <a:srgbClr val="555555"/>
              </a:solidFill>
            </a:endParaRPr>
          </a:p>
        </p:txBody>
      </p:sp>
      <p:sp>
        <p:nvSpPr>
          <p:cNvPr id="10" name="Rectangle 9"/>
          <p:cNvSpPr/>
          <p:nvPr/>
        </p:nvSpPr>
        <p:spPr>
          <a:xfrm>
            <a:off x="6187287" y="1124712"/>
            <a:ext cx="5684367" cy="4700016"/>
          </a:xfrm>
          <a:prstGeom prst="rect">
            <a:avLst/>
          </a:prstGeom>
          <a:solidFill>
            <a:srgbClr val="F8F9FF"/>
          </a:solidFill>
          <a:ln w="6350">
            <a:solidFill>
              <a:srgbClr val="E0E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324446" y="1217484"/>
            <a:ext cx="5410047" cy="492443"/>
          </a:xfrm>
          <a:prstGeom prst="rect">
            <a:avLst/>
          </a:prstGeom>
          <a:noFill/>
        </p:spPr>
        <p:txBody>
          <a:bodyPr wrap="square">
            <a:spAutoFit/>
          </a:bodyPr>
          <a:lstStyle/>
          <a:p>
            <a:pPr algn="l"/>
            <a:r>
              <a:rPr sz="2600" b="1" i="0" dirty="0">
                <a:solidFill>
                  <a:srgbClr val="3949AB"/>
                </a:solidFill>
              </a:rPr>
              <a:t>Výsledky </a:t>
            </a:r>
            <a:r>
              <a:rPr sz="2600" b="1" i="0" dirty="0" err="1">
                <a:solidFill>
                  <a:srgbClr val="3949AB"/>
                </a:solidFill>
              </a:rPr>
              <a:t>detekcie</a:t>
            </a:r>
            <a:endParaRPr sz="2600" b="1" i="0" dirty="0">
              <a:solidFill>
                <a:srgbClr val="3949AB"/>
              </a:solidFill>
            </a:endParaRPr>
          </a:p>
        </p:txBody>
      </p:sp>
      <p:sp>
        <p:nvSpPr>
          <p:cNvPr id="12" name="TextBox 11"/>
          <p:cNvSpPr txBox="1"/>
          <p:nvPr/>
        </p:nvSpPr>
        <p:spPr>
          <a:xfrm>
            <a:off x="6324445" y="1774116"/>
            <a:ext cx="5410047" cy="3860031"/>
          </a:xfrm>
          <a:prstGeom prst="rect">
            <a:avLst/>
          </a:prstGeom>
          <a:noFill/>
        </p:spPr>
        <p:txBody>
          <a:bodyPr wrap="square">
            <a:spAutoFit/>
          </a:bodyPr>
          <a:lstStyle/>
          <a:p>
            <a:pPr>
              <a:spcAft>
                <a:spcPts val="100"/>
              </a:spcAft>
            </a:pPr>
            <a:r>
              <a:rPr sz="1600" b="1" dirty="0">
                <a:solidFill>
                  <a:srgbClr val="222222"/>
                </a:solidFill>
              </a:rPr>
              <a:t>• Poškodených </a:t>
            </a:r>
            <a:r>
              <a:rPr sz="1600" b="1" dirty="0" err="1">
                <a:solidFill>
                  <a:srgbClr val="222222"/>
                </a:solidFill>
              </a:rPr>
              <a:t>riadkov</a:t>
            </a:r>
            <a:r>
              <a:rPr sz="1600" b="1" dirty="0">
                <a:solidFill>
                  <a:srgbClr val="222222"/>
                </a:solidFill>
              </a:rPr>
              <a:t>:</a:t>
            </a:r>
          </a:p>
          <a:p>
            <a:pPr>
              <a:spcAft>
                <a:spcPts val="400"/>
              </a:spcAft>
            </a:pPr>
            <a:r>
              <a:rPr sz="1600" i="1" dirty="0">
                <a:solidFill>
                  <a:srgbClr val="555555"/>
                </a:solidFill>
              </a:rPr>
              <a:t>   189 (0.74 %)</a:t>
            </a:r>
          </a:p>
          <a:p>
            <a:pPr>
              <a:spcAft>
                <a:spcPts val="100"/>
              </a:spcAft>
            </a:pPr>
            <a:endParaRPr lang="en-US" sz="1600" b="1" dirty="0">
              <a:solidFill>
                <a:srgbClr val="222222"/>
              </a:solidFill>
            </a:endParaRPr>
          </a:p>
          <a:p>
            <a:pPr>
              <a:spcAft>
                <a:spcPts val="100"/>
              </a:spcAft>
            </a:pPr>
            <a:r>
              <a:rPr sz="1600" b="1" dirty="0">
                <a:solidFill>
                  <a:srgbClr val="222222"/>
                </a:solidFill>
              </a:rPr>
              <a:t>• </a:t>
            </a:r>
            <a:r>
              <a:rPr sz="1600" b="1" dirty="0" err="1">
                <a:solidFill>
                  <a:srgbClr val="222222"/>
                </a:solidFill>
              </a:rPr>
              <a:t>Skupín</a:t>
            </a:r>
            <a:r>
              <a:rPr sz="1600" b="1" dirty="0">
                <a:solidFill>
                  <a:srgbClr val="222222"/>
                </a:solidFill>
              </a:rPr>
              <a:t> za </a:t>
            </a:r>
            <a:r>
              <a:rPr sz="1600" b="1" dirty="0" err="1">
                <a:solidFill>
                  <a:srgbClr val="222222"/>
                </a:solidFill>
              </a:rPr>
              <a:t>sebou</a:t>
            </a:r>
            <a:r>
              <a:rPr sz="1600" b="1" dirty="0">
                <a:solidFill>
                  <a:srgbClr val="222222"/>
                </a:solidFill>
              </a:rPr>
              <a:t>:</a:t>
            </a:r>
          </a:p>
          <a:p>
            <a:pPr>
              <a:spcAft>
                <a:spcPts val="400"/>
              </a:spcAft>
            </a:pPr>
            <a:r>
              <a:rPr sz="1600" i="1" dirty="0">
                <a:solidFill>
                  <a:srgbClr val="555555"/>
                </a:solidFill>
              </a:rPr>
              <a:t>   151</a:t>
            </a:r>
          </a:p>
          <a:p>
            <a:pPr>
              <a:spcAft>
                <a:spcPts val="100"/>
              </a:spcAft>
            </a:pPr>
            <a:endParaRPr lang="en-US" sz="1600" b="1" dirty="0">
              <a:solidFill>
                <a:srgbClr val="222222"/>
              </a:solidFill>
            </a:endParaRPr>
          </a:p>
          <a:p>
            <a:pPr>
              <a:spcAft>
                <a:spcPts val="100"/>
              </a:spcAft>
            </a:pPr>
            <a:r>
              <a:rPr sz="1600" b="1" dirty="0">
                <a:solidFill>
                  <a:srgbClr val="222222"/>
                </a:solidFill>
              </a:rPr>
              <a:t>• Max. </a:t>
            </a:r>
            <a:r>
              <a:rPr sz="1600" b="1" dirty="0" err="1">
                <a:solidFill>
                  <a:srgbClr val="222222"/>
                </a:solidFill>
              </a:rPr>
              <a:t>dĺžka</a:t>
            </a:r>
            <a:r>
              <a:rPr sz="1600" b="1" dirty="0">
                <a:solidFill>
                  <a:srgbClr val="222222"/>
                </a:solidFill>
              </a:rPr>
              <a:t> </a:t>
            </a:r>
            <a:r>
              <a:rPr sz="1600" b="1" dirty="0" err="1">
                <a:solidFill>
                  <a:srgbClr val="222222"/>
                </a:solidFill>
              </a:rPr>
              <a:t>skupiny</a:t>
            </a:r>
            <a:r>
              <a:rPr sz="1600" b="1" dirty="0">
                <a:solidFill>
                  <a:srgbClr val="222222"/>
                </a:solidFill>
              </a:rPr>
              <a:t>:</a:t>
            </a:r>
          </a:p>
          <a:p>
            <a:pPr>
              <a:spcAft>
                <a:spcPts val="400"/>
              </a:spcAft>
            </a:pPr>
            <a:r>
              <a:rPr sz="1600" i="1" dirty="0">
                <a:solidFill>
                  <a:srgbClr val="555555"/>
                </a:solidFill>
              </a:rPr>
              <a:t>   12 </a:t>
            </a:r>
            <a:r>
              <a:rPr sz="1600" i="1" dirty="0" err="1">
                <a:solidFill>
                  <a:srgbClr val="555555"/>
                </a:solidFill>
              </a:rPr>
              <a:t>vzoriek</a:t>
            </a:r>
            <a:endParaRPr sz="1600" i="1" dirty="0">
              <a:solidFill>
                <a:srgbClr val="555555"/>
              </a:solidFill>
            </a:endParaRPr>
          </a:p>
          <a:p>
            <a:pPr>
              <a:spcAft>
                <a:spcPts val="100"/>
              </a:spcAft>
            </a:pPr>
            <a:endParaRPr lang="en-US" sz="1600" b="1" dirty="0">
              <a:solidFill>
                <a:srgbClr val="222222"/>
              </a:solidFill>
            </a:endParaRPr>
          </a:p>
          <a:p>
            <a:pPr>
              <a:spcAft>
                <a:spcPts val="100"/>
              </a:spcAft>
            </a:pPr>
            <a:r>
              <a:rPr sz="1600" b="1" dirty="0">
                <a:solidFill>
                  <a:srgbClr val="222222"/>
                </a:solidFill>
              </a:rPr>
              <a:t>• </a:t>
            </a:r>
            <a:r>
              <a:rPr sz="1600" b="1" dirty="0" err="1">
                <a:solidFill>
                  <a:srgbClr val="222222"/>
                </a:solidFill>
              </a:rPr>
              <a:t>Distribúcia</a:t>
            </a:r>
            <a:r>
              <a:rPr sz="1600" b="1" dirty="0">
                <a:solidFill>
                  <a:srgbClr val="222222"/>
                </a:solidFill>
              </a:rPr>
              <a:t>:</a:t>
            </a:r>
          </a:p>
          <a:p>
            <a:pPr>
              <a:spcAft>
                <a:spcPts val="400"/>
              </a:spcAft>
            </a:pPr>
            <a:r>
              <a:rPr sz="1600" i="1" dirty="0">
                <a:solidFill>
                  <a:srgbClr val="555555"/>
                </a:solidFill>
              </a:rPr>
              <a:t>   137×1, 7×2, 3×3, 1×4, 1×5, 1×8, 1×12</a:t>
            </a:r>
          </a:p>
          <a:p>
            <a:pPr>
              <a:spcAft>
                <a:spcPts val="100"/>
              </a:spcAft>
            </a:pPr>
            <a:endParaRPr lang="en-US" sz="1600" b="1" dirty="0">
              <a:solidFill>
                <a:srgbClr val="222222"/>
              </a:solidFill>
            </a:endParaRPr>
          </a:p>
          <a:p>
            <a:pPr>
              <a:spcAft>
                <a:spcPts val="100"/>
              </a:spcAft>
            </a:pPr>
            <a:r>
              <a:rPr sz="1600" b="1" dirty="0">
                <a:solidFill>
                  <a:srgbClr val="222222"/>
                </a:solidFill>
              </a:rPr>
              <a:t>• 91 % </a:t>
            </a:r>
            <a:r>
              <a:rPr sz="1600" b="1" dirty="0" err="1">
                <a:solidFill>
                  <a:srgbClr val="222222"/>
                </a:solidFill>
              </a:rPr>
              <a:t>skupín</a:t>
            </a:r>
            <a:r>
              <a:rPr sz="1600" b="1" dirty="0">
                <a:solidFill>
                  <a:srgbClr val="222222"/>
                </a:solidFill>
              </a:rPr>
              <a:t> = </a:t>
            </a:r>
            <a:r>
              <a:rPr sz="1600" b="1" dirty="0" err="1">
                <a:solidFill>
                  <a:srgbClr val="222222"/>
                </a:solidFill>
              </a:rPr>
              <a:t>dĺžka</a:t>
            </a:r>
            <a:r>
              <a:rPr sz="1600" b="1" dirty="0">
                <a:solidFill>
                  <a:srgbClr val="222222"/>
                </a:solidFill>
              </a:rPr>
              <a:t> 1</a:t>
            </a:r>
          </a:p>
          <a:p>
            <a:pPr>
              <a:spcAft>
                <a:spcPts val="400"/>
              </a:spcAft>
            </a:pPr>
            <a:r>
              <a:rPr sz="1600" i="1" dirty="0">
                <a:solidFill>
                  <a:srgbClr val="555555"/>
                </a:solidFill>
              </a:rPr>
              <a:t>   </a:t>
            </a:r>
            <a:r>
              <a:rPr sz="1600" i="1" dirty="0" err="1">
                <a:solidFill>
                  <a:srgbClr val="555555"/>
                </a:solidFill>
              </a:rPr>
              <a:t>izolované</a:t>
            </a:r>
            <a:r>
              <a:rPr sz="1600" i="1" dirty="0">
                <a:solidFill>
                  <a:srgbClr val="555555"/>
                </a:solidFill>
              </a:rPr>
              <a:t> </a:t>
            </a:r>
            <a:r>
              <a:rPr sz="1600" i="1" dirty="0" err="1">
                <a:solidFill>
                  <a:srgbClr val="555555"/>
                </a:solidFill>
              </a:rPr>
              <a:t>jednotlivé</a:t>
            </a:r>
            <a:r>
              <a:rPr sz="1600" i="1" dirty="0">
                <a:solidFill>
                  <a:srgbClr val="555555"/>
                </a:solidFill>
              </a:rPr>
              <a:t> </a:t>
            </a:r>
            <a:r>
              <a:rPr sz="1600" i="1" dirty="0" err="1">
                <a:solidFill>
                  <a:srgbClr val="555555"/>
                </a:solidFill>
              </a:rPr>
              <a:t>chyby</a:t>
            </a:r>
            <a:endParaRPr sz="1600" i="1" dirty="0">
              <a:solidFill>
                <a:srgbClr val="555555"/>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36592" y="201168"/>
            <a:ext cx="349776" cy="461665"/>
          </a:xfrm>
          <a:prstGeom prst="rect">
            <a:avLst/>
          </a:prstGeom>
          <a:noFill/>
        </p:spPr>
        <p:txBody>
          <a:bodyPr wrap="none">
            <a:spAutoFit/>
          </a:bodyPr>
          <a:lstStyle/>
          <a:p>
            <a:pPr algn="ctr"/>
            <a:r>
              <a:rPr sz="2400" b="1" dirty="0">
                <a:solidFill>
                  <a:srgbClr val="FFFFFF"/>
                </a:solidFill>
              </a:rPr>
              <a:t>8</a:t>
            </a:r>
            <a:endParaRPr sz="1600" b="1" dirty="0">
              <a:solidFill>
                <a:srgbClr val="FFFFFF"/>
              </a:solidFill>
            </a:endParaRPr>
          </a:p>
        </p:txBody>
      </p:sp>
      <p:sp>
        <p:nvSpPr>
          <p:cNvPr id="4" name="TextBox 3"/>
          <p:cNvSpPr txBox="1"/>
          <p:nvPr/>
        </p:nvSpPr>
        <p:spPr>
          <a:xfrm>
            <a:off x="822960" y="201168"/>
            <a:ext cx="3161956" cy="461665"/>
          </a:xfrm>
          <a:prstGeom prst="rect">
            <a:avLst/>
          </a:prstGeom>
          <a:noFill/>
        </p:spPr>
        <p:txBody>
          <a:bodyPr wrap="none">
            <a:spAutoFit/>
          </a:bodyPr>
          <a:lstStyle/>
          <a:p>
            <a:pPr algn="l"/>
            <a:r>
              <a:rPr sz="2400" b="1" dirty="0" err="1">
                <a:solidFill>
                  <a:srgbClr val="FFFFFF"/>
                </a:solidFill>
              </a:rPr>
              <a:t>Výsledok</a:t>
            </a:r>
            <a:r>
              <a:rPr sz="2400" b="1" dirty="0">
                <a:solidFill>
                  <a:srgbClr val="FFFFFF"/>
                </a:solidFill>
              </a:rPr>
              <a:t> </a:t>
            </a:r>
            <a:r>
              <a:rPr sz="2400" b="1" dirty="0" err="1">
                <a:solidFill>
                  <a:srgbClr val="FFFFFF"/>
                </a:solidFill>
              </a:rPr>
              <a:t>čistenia</a:t>
            </a:r>
            <a:r>
              <a:rPr sz="2400" b="1" dirty="0">
                <a:solidFill>
                  <a:srgbClr val="FFFFFF"/>
                </a:solidFill>
              </a:rPr>
              <a:t> </a:t>
            </a:r>
            <a:r>
              <a:rPr sz="2400" b="1" dirty="0" err="1">
                <a:solidFill>
                  <a:srgbClr val="FFFFFF"/>
                </a:solidFill>
              </a:rPr>
              <a:t>dát</a:t>
            </a:r>
            <a:endParaRPr sz="2400" b="1" dirty="0">
              <a:solidFill>
                <a:srgbClr val="FFFFFF"/>
              </a:solidFill>
            </a:endParaRPr>
          </a:p>
        </p:txBody>
      </p:sp>
      <p:sp>
        <p:nvSpPr>
          <p:cNvPr id="6" name="Rectangle 5"/>
          <p:cNvSpPr/>
          <p:nvPr/>
        </p:nvSpPr>
        <p:spPr>
          <a:xfrm>
            <a:off x="320040" y="1234440"/>
            <a:ext cx="3728618" cy="1005840"/>
          </a:xfrm>
          <a:prstGeom prst="rect">
            <a:avLst/>
          </a:prstGeom>
          <a:solidFill>
            <a:srgbClr val="F0F4FF"/>
          </a:solidFill>
          <a:ln w="6350">
            <a:solidFill>
              <a:srgbClr val="C5CA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11480" y="1280160"/>
            <a:ext cx="3545738" cy="246221"/>
          </a:xfrm>
          <a:prstGeom prst="rect">
            <a:avLst/>
          </a:prstGeom>
          <a:noFill/>
        </p:spPr>
        <p:txBody>
          <a:bodyPr wrap="square">
            <a:spAutoFit/>
          </a:bodyPr>
          <a:lstStyle/>
          <a:p>
            <a:pPr algn="ctr"/>
            <a:r>
              <a:rPr sz="1000" b="0" i="0" dirty="0"/>
              <a:t>PRED ČISTENÍM</a:t>
            </a:r>
          </a:p>
        </p:txBody>
      </p:sp>
      <p:sp>
        <p:nvSpPr>
          <p:cNvPr id="8" name="TextBox 7"/>
          <p:cNvSpPr txBox="1"/>
          <p:nvPr/>
        </p:nvSpPr>
        <p:spPr>
          <a:xfrm>
            <a:off x="411480" y="1523992"/>
            <a:ext cx="3545738" cy="438912"/>
          </a:xfrm>
          <a:prstGeom prst="rect">
            <a:avLst/>
          </a:prstGeom>
          <a:noFill/>
        </p:spPr>
        <p:txBody>
          <a:bodyPr wrap="square">
            <a:spAutoFit/>
          </a:bodyPr>
          <a:lstStyle/>
          <a:p>
            <a:pPr algn="ctr"/>
            <a:r>
              <a:rPr sz="2200" b="1" i="0" dirty="0">
                <a:solidFill>
                  <a:srgbClr val="1A237E"/>
                </a:solidFill>
              </a:rPr>
              <a:t>25 600</a:t>
            </a:r>
          </a:p>
        </p:txBody>
      </p:sp>
      <p:sp>
        <p:nvSpPr>
          <p:cNvPr id="9" name="TextBox 8"/>
          <p:cNvSpPr txBox="1"/>
          <p:nvPr/>
        </p:nvSpPr>
        <p:spPr>
          <a:xfrm>
            <a:off x="411480" y="1929384"/>
            <a:ext cx="3545738" cy="246221"/>
          </a:xfrm>
          <a:prstGeom prst="rect">
            <a:avLst/>
          </a:prstGeom>
          <a:noFill/>
        </p:spPr>
        <p:txBody>
          <a:bodyPr wrap="square">
            <a:spAutoFit/>
          </a:bodyPr>
          <a:lstStyle/>
          <a:p>
            <a:pPr algn="ctr"/>
            <a:r>
              <a:rPr sz="1000" b="0" i="0" dirty="0"/>
              <a:t>raw </a:t>
            </a:r>
            <a:r>
              <a:rPr sz="1000" b="0" i="0" dirty="0" err="1"/>
              <a:t>vzoriek</a:t>
            </a:r>
            <a:endParaRPr sz="1000" b="0" i="0" dirty="0"/>
          </a:p>
        </p:txBody>
      </p:sp>
      <p:sp>
        <p:nvSpPr>
          <p:cNvPr id="10" name="Rectangle 9"/>
          <p:cNvSpPr/>
          <p:nvPr/>
        </p:nvSpPr>
        <p:spPr>
          <a:xfrm>
            <a:off x="4231538" y="1234440"/>
            <a:ext cx="3728618" cy="1005840"/>
          </a:xfrm>
          <a:prstGeom prst="rect">
            <a:avLst/>
          </a:prstGeom>
          <a:solidFill>
            <a:srgbClr val="F0F4FF"/>
          </a:solidFill>
          <a:ln w="6350">
            <a:solidFill>
              <a:srgbClr val="C5CA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322978" y="1280160"/>
            <a:ext cx="3545738" cy="246221"/>
          </a:xfrm>
          <a:prstGeom prst="rect">
            <a:avLst/>
          </a:prstGeom>
          <a:noFill/>
        </p:spPr>
        <p:txBody>
          <a:bodyPr wrap="square">
            <a:spAutoFit/>
          </a:bodyPr>
          <a:lstStyle/>
          <a:p>
            <a:pPr algn="ctr"/>
            <a:r>
              <a:rPr sz="1000" dirty="0"/>
              <a:t>ODSTRÁNENÝCH</a:t>
            </a:r>
          </a:p>
        </p:txBody>
      </p:sp>
      <p:sp>
        <p:nvSpPr>
          <p:cNvPr id="12" name="TextBox 11"/>
          <p:cNvSpPr txBox="1"/>
          <p:nvPr/>
        </p:nvSpPr>
        <p:spPr>
          <a:xfrm>
            <a:off x="4322978" y="1490472"/>
            <a:ext cx="3545738" cy="438912"/>
          </a:xfrm>
          <a:prstGeom prst="rect">
            <a:avLst/>
          </a:prstGeom>
          <a:noFill/>
        </p:spPr>
        <p:txBody>
          <a:bodyPr wrap="square">
            <a:spAutoFit/>
          </a:bodyPr>
          <a:lstStyle/>
          <a:p>
            <a:pPr algn="ctr"/>
            <a:r>
              <a:rPr sz="2200" b="1" i="0">
                <a:solidFill>
                  <a:srgbClr val="C62828"/>
                </a:solidFill>
              </a:rPr>
              <a:t>189</a:t>
            </a:r>
          </a:p>
        </p:txBody>
      </p:sp>
      <p:sp>
        <p:nvSpPr>
          <p:cNvPr id="13" name="TextBox 12"/>
          <p:cNvSpPr txBox="1"/>
          <p:nvPr/>
        </p:nvSpPr>
        <p:spPr>
          <a:xfrm>
            <a:off x="4322978" y="1929384"/>
            <a:ext cx="3545738" cy="256032"/>
          </a:xfrm>
          <a:prstGeom prst="rect">
            <a:avLst/>
          </a:prstGeom>
          <a:noFill/>
        </p:spPr>
        <p:txBody>
          <a:bodyPr wrap="square">
            <a:spAutoFit/>
          </a:bodyPr>
          <a:lstStyle>
            <a:defPPr>
              <a:defRPr lang="sk-SK"/>
            </a:defPPr>
            <a:lvl1pPr algn="ctr">
              <a:defRPr sz="1000"/>
            </a:lvl1pPr>
          </a:lstStyle>
          <a:p>
            <a:r>
              <a:rPr dirty="0" err="1"/>
              <a:t>poškodených</a:t>
            </a:r>
            <a:r>
              <a:rPr dirty="0"/>
              <a:t> (0.74 %)</a:t>
            </a:r>
          </a:p>
        </p:txBody>
      </p:sp>
      <p:sp>
        <p:nvSpPr>
          <p:cNvPr id="14" name="Rectangle 13"/>
          <p:cNvSpPr/>
          <p:nvPr/>
        </p:nvSpPr>
        <p:spPr>
          <a:xfrm>
            <a:off x="8143036" y="1234440"/>
            <a:ext cx="3728618" cy="1005840"/>
          </a:xfrm>
          <a:prstGeom prst="rect">
            <a:avLst/>
          </a:prstGeom>
          <a:solidFill>
            <a:srgbClr val="F0F4FF"/>
          </a:solidFill>
          <a:ln w="6350">
            <a:solidFill>
              <a:srgbClr val="C5CA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234476" y="1280160"/>
            <a:ext cx="3545738" cy="246221"/>
          </a:xfrm>
          <a:prstGeom prst="rect">
            <a:avLst/>
          </a:prstGeom>
          <a:noFill/>
        </p:spPr>
        <p:txBody>
          <a:bodyPr wrap="square">
            <a:spAutoFit/>
          </a:bodyPr>
          <a:lstStyle/>
          <a:p>
            <a:pPr algn="ctr"/>
            <a:r>
              <a:rPr sz="1000" dirty="0"/>
              <a:t>PO ČISTENÍ</a:t>
            </a:r>
          </a:p>
        </p:txBody>
      </p:sp>
      <p:sp>
        <p:nvSpPr>
          <p:cNvPr id="16" name="TextBox 15"/>
          <p:cNvSpPr txBox="1"/>
          <p:nvPr/>
        </p:nvSpPr>
        <p:spPr>
          <a:xfrm>
            <a:off x="8234476" y="1517904"/>
            <a:ext cx="3545738" cy="438912"/>
          </a:xfrm>
          <a:prstGeom prst="rect">
            <a:avLst/>
          </a:prstGeom>
          <a:noFill/>
        </p:spPr>
        <p:txBody>
          <a:bodyPr wrap="square">
            <a:spAutoFit/>
          </a:bodyPr>
          <a:lstStyle/>
          <a:p>
            <a:pPr algn="ctr"/>
            <a:r>
              <a:rPr sz="2200" b="1" i="0" dirty="0">
                <a:solidFill>
                  <a:srgbClr val="2E7D32"/>
                </a:solidFill>
              </a:rPr>
              <a:t>25 411</a:t>
            </a:r>
          </a:p>
        </p:txBody>
      </p:sp>
      <p:sp>
        <p:nvSpPr>
          <p:cNvPr id="17" name="TextBox 16"/>
          <p:cNvSpPr txBox="1"/>
          <p:nvPr/>
        </p:nvSpPr>
        <p:spPr>
          <a:xfrm>
            <a:off x="8234476" y="1929384"/>
            <a:ext cx="3545738" cy="256032"/>
          </a:xfrm>
          <a:prstGeom prst="rect">
            <a:avLst/>
          </a:prstGeom>
          <a:noFill/>
        </p:spPr>
        <p:txBody>
          <a:bodyPr wrap="square">
            <a:spAutoFit/>
          </a:bodyPr>
          <a:lstStyle/>
          <a:p>
            <a:pPr algn="ctr"/>
            <a:r>
              <a:rPr sz="1000" dirty="0" err="1"/>
              <a:t>čistých</a:t>
            </a:r>
            <a:r>
              <a:rPr sz="850" b="0" i="0" dirty="0">
                <a:solidFill>
                  <a:srgbClr val="888888"/>
                </a:solidFill>
              </a:rPr>
              <a:t> </a:t>
            </a:r>
            <a:r>
              <a:rPr sz="1000" dirty="0" err="1"/>
              <a:t>vzoriek</a:t>
            </a:r>
            <a:endParaRPr sz="1000" dirty="0"/>
          </a:p>
        </p:txBody>
      </p:sp>
      <p:sp>
        <p:nvSpPr>
          <p:cNvPr id="18" name="TextBox 17"/>
          <p:cNvSpPr txBox="1"/>
          <p:nvPr/>
        </p:nvSpPr>
        <p:spPr>
          <a:xfrm>
            <a:off x="320039" y="3223349"/>
            <a:ext cx="11551615" cy="2354491"/>
          </a:xfrm>
          <a:prstGeom prst="rect">
            <a:avLst/>
          </a:prstGeom>
          <a:noFill/>
        </p:spPr>
        <p:txBody>
          <a:bodyPr wrap="square">
            <a:spAutoFit/>
          </a:bodyPr>
          <a:lstStyle/>
          <a:p>
            <a:pPr>
              <a:spcAft>
                <a:spcPts val="700"/>
              </a:spcAft>
            </a:pPr>
            <a:r>
              <a:rPr sz="1600" b="1" dirty="0">
                <a:solidFill>
                  <a:srgbClr val="1A237E"/>
                </a:solidFill>
              </a:rPr>
              <a:t>• </a:t>
            </a:r>
            <a:r>
              <a:rPr sz="1600" b="1" dirty="0" err="1">
                <a:solidFill>
                  <a:srgbClr val="1A237E"/>
                </a:solidFill>
              </a:rPr>
              <a:t>Kritérium</a:t>
            </a:r>
            <a:r>
              <a:rPr sz="1600" b="1" dirty="0">
                <a:solidFill>
                  <a:srgbClr val="1A237E"/>
                </a:solidFill>
              </a:rPr>
              <a:t>: </a:t>
            </a:r>
            <a:r>
              <a:rPr sz="1600" dirty="0">
                <a:solidFill>
                  <a:srgbClr val="222222"/>
                </a:solidFill>
              </a:rPr>
              <a:t> </a:t>
            </a:r>
            <a:r>
              <a:rPr sz="1600" dirty="0" err="1">
                <a:solidFill>
                  <a:srgbClr val="222222"/>
                </a:solidFill>
              </a:rPr>
              <a:t>stačí</a:t>
            </a:r>
            <a:r>
              <a:rPr sz="1600" dirty="0">
                <a:solidFill>
                  <a:srgbClr val="222222"/>
                </a:solidFill>
              </a:rPr>
              <a:t> </a:t>
            </a:r>
            <a:r>
              <a:rPr sz="1600" dirty="0" err="1">
                <a:solidFill>
                  <a:srgbClr val="222222"/>
                </a:solidFill>
              </a:rPr>
              <a:t>jedna</a:t>
            </a:r>
            <a:r>
              <a:rPr sz="1600" dirty="0">
                <a:solidFill>
                  <a:srgbClr val="222222"/>
                </a:solidFill>
              </a:rPr>
              <a:t> </a:t>
            </a:r>
            <a:r>
              <a:rPr sz="1600" dirty="0" err="1">
                <a:solidFill>
                  <a:srgbClr val="222222"/>
                </a:solidFill>
              </a:rPr>
              <a:t>poškodená</a:t>
            </a:r>
            <a:r>
              <a:rPr sz="1600" dirty="0">
                <a:solidFill>
                  <a:srgbClr val="222222"/>
                </a:solidFill>
              </a:rPr>
              <a:t> </a:t>
            </a:r>
            <a:r>
              <a:rPr sz="1600" dirty="0" err="1">
                <a:solidFill>
                  <a:srgbClr val="222222"/>
                </a:solidFill>
              </a:rPr>
              <a:t>hodnota</a:t>
            </a:r>
            <a:r>
              <a:rPr sz="1600" dirty="0">
                <a:solidFill>
                  <a:srgbClr val="222222"/>
                </a:solidFill>
              </a:rPr>
              <a:t> v </a:t>
            </a:r>
            <a:r>
              <a:rPr sz="1600" dirty="0" err="1">
                <a:solidFill>
                  <a:srgbClr val="222222"/>
                </a:solidFill>
              </a:rPr>
              <a:t>riadku</a:t>
            </a:r>
            <a:endParaRPr sz="1600" dirty="0">
              <a:solidFill>
                <a:srgbClr val="222222"/>
              </a:solidFill>
            </a:endParaRPr>
          </a:p>
          <a:p>
            <a:pPr>
              <a:spcAft>
                <a:spcPts val="700"/>
              </a:spcAft>
            </a:pPr>
            <a:endParaRPr lang="en-US" sz="1600" b="1" dirty="0">
              <a:solidFill>
                <a:srgbClr val="1A237E"/>
              </a:solidFill>
            </a:endParaRPr>
          </a:p>
          <a:p>
            <a:pPr>
              <a:spcAft>
                <a:spcPts val="700"/>
              </a:spcAft>
            </a:pPr>
            <a:r>
              <a:rPr sz="1600" b="1" dirty="0">
                <a:solidFill>
                  <a:srgbClr val="1A237E"/>
                </a:solidFill>
              </a:rPr>
              <a:t>• </a:t>
            </a:r>
            <a:r>
              <a:rPr sz="1600" b="1" dirty="0" err="1">
                <a:solidFill>
                  <a:srgbClr val="1A237E"/>
                </a:solidFill>
              </a:rPr>
              <a:t>NaN</a:t>
            </a:r>
            <a:r>
              <a:rPr sz="1600" b="1" dirty="0">
                <a:solidFill>
                  <a:srgbClr val="1A237E"/>
                </a:solidFill>
              </a:rPr>
              <a:t> = 0:  </a:t>
            </a:r>
            <a:r>
              <a:rPr sz="1600" dirty="0" err="1">
                <a:solidFill>
                  <a:srgbClr val="222222"/>
                </a:solidFill>
              </a:rPr>
              <a:t>masku</a:t>
            </a:r>
            <a:r>
              <a:rPr sz="1600" dirty="0">
                <a:solidFill>
                  <a:srgbClr val="222222"/>
                </a:solidFill>
              </a:rPr>
              <a:t> </a:t>
            </a:r>
            <a:r>
              <a:rPr sz="1600" dirty="0" err="1">
                <a:solidFill>
                  <a:srgbClr val="222222"/>
                </a:solidFill>
              </a:rPr>
              <a:t>tvoria</a:t>
            </a:r>
            <a:r>
              <a:rPr sz="1600" dirty="0">
                <a:solidFill>
                  <a:srgbClr val="222222"/>
                </a:solidFill>
              </a:rPr>
              <a:t> </a:t>
            </a:r>
            <a:r>
              <a:rPr sz="1600" dirty="0" err="1">
                <a:solidFill>
                  <a:srgbClr val="222222"/>
                </a:solidFill>
              </a:rPr>
              <a:t>výhradne</a:t>
            </a:r>
            <a:r>
              <a:rPr sz="1600" dirty="0">
                <a:solidFill>
                  <a:srgbClr val="222222"/>
                </a:solidFill>
              </a:rPr>
              <a:t> </a:t>
            </a:r>
            <a:r>
              <a:rPr sz="1600" dirty="0" err="1">
                <a:solidFill>
                  <a:srgbClr val="222222"/>
                </a:solidFill>
              </a:rPr>
              <a:t>fyzikálne</a:t>
            </a:r>
            <a:r>
              <a:rPr sz="1600" dirty="0">
                <a:solidFill>
                  <a:srgbClr val="222222"/>
                </a:solidFill>
              </a:rPr>
              <a:t> </a:t>
            </a:r>
            <a:r>
              <a:rPr sz="1600" dirty="0" err="1">
                <a:solidFill>
                  <a:srgbClr val="222222"/>
                </a:solidFill>
              </a:rPr>
              <a:t>poškodené</a:t>
            </a:r>
            <a:r>
              <a:rPr sz="1600" dirty="0">
                <a:solidFill>
                  <a:srgbClr val="222222"/>
                </a:solidFill>
              </a:rPr>
              <a:t> </a:t>
            </a:r>
            <a:r>
              <a:rPr sz="1600" dirty="0" err="1">
                <a:solidFill>
                  <a:srgbClr val="222222"/>
                </a:solidFill>
              </a:rPr>
              <a:t>vzorky</a:t>
            </a:r>
            <a:endParaRPr sz="1600" dirty="0">
              <a:solidFill>
                <a:srgbClr val="222222"/>
              </a:solidFill>
            </a:endParaRPr>
          </a:p>
          <a:p>
            <a:pPr>
              <a:spcAft>
                <a:spcPts val="700"/>
              </a:spcAft>
            </a:pPr>
            <a:endParaRPr lang="en-US" sz="1600" b="1" dirty="0">
              <a:solidFill>
                <a:srgbClr val="1A237E"/>
              </a:solidFill>
            </a:endParaRPr>
          </a:p>
          <a:p>
            <a:pPr>
              <a:spcAft>
                <a:spcPts val="700"/>
              </a:spcAft>
            </a:pPr>
            <a:r>
              <a:rPr sz="1600" b="1" dirty="0">
                <a:solidFill>
                  <a:srgbClr val="1A237E"/>
                </a:solidFill>
              </a:rPr>
              <a:t>• </a:t>
            </a:r>
            <a:r>
              <a:rPr sz="1600" b="1" dirty="0" err="1">
                <a:solidFill>
                  <a:srgbClr val="1A237E"/>
                </a:solidFill>
              </a:rPr>
              <a:t>Výstup</a:t>
            </a:r>
            <a:r>
              <a:rPr sz="1600" b="1" dirty="0">
                <a:solidFill>
                  <a:srgbClr val="1A237E"/>
                </a:solidFill>
              </a:rPr>
              <a:t>:  </a:t>
            </a:r>
            <a:r>
              <a:rPr sz="1600" dirty="0">
                <a:solidFill>
                  <a:srgbClr val="222222"/>
                </a:solidFill>
              </a:rPr>
              <a:t>cleaned.csv — 25 411 </a:t>
            </a:r>
            <a:r>
              <a:rPr sz="1600" dirty="0" err="1">
                <a:solidFill>
                  <a:srgbClr val="222222"/>
                </a:solidFill>
              </a:rPr>
              <a:t>riadkov</a:t>
            </a:r>
            <a:r>
              <a:rPr sz="1600" dirty="0">
                <a:solidFill>
                  <a:srgbClr val="222222"/>
                </a:solidFill>
              </a:rPr>
              <a:t>, </a:t>
            </a:r>
            <a:r>
              <a:rPr sz="1600" dirty="0" err="1">
                <a:solidFill>
                  <a:srgbClr val="222222"/>
                </a:solidFill>
              </a:rPr>
              <a:t>len</a:t>
            </a:r>
            <a:r>
              <a:rPr sz="1600" dirty="0">
                <a:solidFill>
                  <a:srgbClr val="222222"/>
                </a:solidFill>
              </a:rPr>
              <a:t> </a:t>
            </a:r>
            <a:r>
              <a:rPr sz="1600" dirty="0" err="1">
                <a:solidFill>
                  <a:srgbClr val="222222"/>
                </a:solidFill>
              </a:rPr>
              <a:t>pôvodné</a:t>
            </a:r>
            <a:r>
              <a:rPr sz="1600" dirty="0">
                <a:solidFill>
                  <a:srgbClr val="222222"/>
                </a:solidFill>
              </a:rPr>
              <a:t> </a:t>
            </a:r>
            <a:r>
              <a:rPr sz="1600" dirty="0" err="1">
                <a:solidFill>
                  <a:srgbClr val="222222"/>
                </a:solidFill>
              </a:rPr>
              <a:t>merané</a:t>
            </a:r>
            <a:r>
              <a:rPr sz="1600" dirty="0">
                <a:solidFill>
                  <a:srgbClr val="222222"/>
                </a:solidFill>
              </a:rPr>
              <a:t> </a:t>
            </a:r>
            <a:r>
              <a:rPr sz="1600" dirty="0" err="1">
                <a:solidFill>
                  <a:srgbClr val="222222"/>
                </a:solidFill>
              </a:rPr>
              <a:t>stĺpce</a:t>
            </a:r>
            <a:endParaRPr sz="1600" dirty="0">
              <a:solidFill>
                <a:srgbClr val="222222"/>
              </a:solidFill>
            </a:endParaRPr>
          </a:p>
          <a:p>
            <a:pPr>
              <a:spcAft>
                <a:spcPts val="700"/>
              </a:spcAft>
            </a:pPr>
            <a:endParaRPr lang="en-US" sz="1600" b="1" dirty="0">
              <a:solidFill>
                <a:srgbClr val="1A237E"/>
              </a:solidFill>
            </a:endParaRPr>
          </a:p>
          <a:p>
            <a:pPr>
              <a:spcAft>
                <a:spcPts val="700"/>
              </a:spcAft>
            </a:pPr>
            <a:r>
              <a:rPr sz="1600" b="1" dirty="0">
                <a:solidFill>
                  <a:srgbClr val="1A237E"/>
                </a:solidFill>
              </a:rPr>
              <a:t>• Strata </a:t>
            </a:r>
            <a:r>
              <a:rPr sz="1600" b="1" dirty="0" err="1">
                <a:solidFill>
                  <a:srgbClr val="1A237E"/>
                </a:solidFill>
              </a:rPr>
              <a:t>dát</a:t>
            </a:r>
            <a:r>
              <a:rPr sz="1600" b="1" dirty="0">
                <a:solidFill>
                  <a:srgbClr val="1A237E"/>
                </a:solidFill>
              </a:rPr>
              <a:t>:  </a:t>
            </a:r>
            <a:r>
              <a:rPr sz="1600" dirty="0">
                <a:solidFill>
                  <a:srgbClr val="222222"/>
                </a:solidFill>
              </a:rPr>
              <a:t>−0.74 % — </a:t>
            </a:r>
            <a:r>
              <a:rPr sz="1600" dirty="0" err="1">
                <a:solidFill>
                  <a:srgbClr val="222222"/>
                </a:solidFill>
              </a:rPr>
              <a:t>zanedbateľná</a:t>
            </a:r>
            <a:r>
              <a:rPr sz="1600" dirty="0">
                <a:solidFill>
                  <a:srgbClr val="222222"/>
                </a:solidFill>
              </a:rPr>
              <a:t>, dataset </a:t>
            </a:r>
            <a:r>
              <a:rPr sz="1600" dirty="0" err="1">
                <a:solidFill>
                  <a:srgbClr val="222222"/>
                </a:solidFill>
              </a:rPr>
              <a:t>zostáva</a:t>
            </a:r>
            <a:r>
              <a:rPr sz="1600" dirty="0">
                <a:solidFill>
                  <a:srgbClr val="222222"/>
                </a:solidFill>
              </a:rPr>
              <a:t> </a:t>
            </a:r>
            <a:r>
              <a:rPr sz="1600" dirty="0" err="1">
                <a:solidFill>
                  <a:srgbClr val="222222"/>
                </a:solidFill>
              </a:rPr>
              <a:t>plnohodnotný</a:t>
            </a:r>
            <a:endParaRPr sz="1600" dirty="0">
              <a:solidFill>
                <a:srgbClr val="222222"/>
              </a:solidFill>
            </a:endParaRPr>
          </a:p>
        </p:txBody>
      </p:sp>
      <p:pic>
        <p:nvPicPr>
          <p:cNvPr id="20" name="Obrázok 19">
            <a:extLst>
              <a:ext uri="{FF2B5EF4-FFF2-40B4-BE49-F238E27FC236}">
                <a16:creationId xmlns:a16="http://schemas.microsoft.com/office/drawing/2014/main" id="{9AD182BE-135A-DD95-D616-4C8E95E8183F}"/>
              </a:ext>
            </a:extLst>
          </p:cNvPr>
          <p:cNvPicPr>
            <a:picLocks noChangeAspect="1"/>
          </p:cNvPicPr>
          <p:nvPr/>
        </p:nvPicPr>
        <p:blipFill>
          <a:blip r:embed="rId3"/>
          <a:stretch>
            <a:fillRect/>
          </a:stretch>
        </p:blipFill>
        <p:spPr>
          <a:xfrm>
            <a:off x="6604975" y="3153526"/>
            <a:ext cx="5393175" cy="2701572"/>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345" y="201167"/>
            <a:ext cx="349776" cy="461665"/>
          </a:xfrm>
          <a:prstGeom prst="rect">
            <a:avLst/>
          </a:prstGeom>
          <a:noFill/>
        </p:spPr>
        <p:txBody>
          <a:bodyPr wrap="none">
            <a:spAutoFit/>
          </a:bodyPr>
          <a:lstStyle/>
          <a:p>
            <a:pPr algn="ctr"/>
            <a:r>
              <a:rPr sz="2400" b="1" dirty="0">
                <a:solidFill>
                  <a:srgbClr val="FFFFFF"/>
                </a:solidFill>
              </a:rPr>
              <a:t>9</a:t>
            </a:r>
            <a:endParaRPr sz="1600" b="1" dirty="0">
              <a:solidFill>
                <a:srgbClr val="FFFFFF"/>
              </a:solidFill>
            </a:endParaRPr>
          </a:p>
        </p:txBody>
      </p:sp>
      <p:sp>
        <p:nvSpPr>
          <p:cNvPr id="4" name="TextBox 3"/>
          <p:cNvSpPr txBox="1"/>
          <p:nvPr/>
        </p:nvSpPr>
        <p:spPr>
          <a:xfrm>
            <a:off x="822960" y="201168"/>
            <a:ext cx="4600683" cy="461665"/>
          </a:xfrm>
          <a:prstGeom prst="rect">
            <a:avLst/>
          </a:prstGeom>
          <a:noFill/>
        </p:spPr>
        <p:txBody>
          <a:bodyPr wrap="none">
            <a:spAutoFit/>
          </a:bodyPr>
          <a:lstStyle/>
          <a:p>
            <a:pPr algn="l"/>
            <a:r>
              <a:rPr sz="2400" b="1" dirty="0" err="1">
                <a:solidFill>
                  <a:srgbClr val="FFFFFF"/>
                </a:solidFill>
              </a:rPr>
              <a:t>Analýza</a:t>
            </a:r>
            <a:r>
              <a:rPr sz="2400" b="1" dirty="0">
                <a:solidFill>
                  <a:srgbClr val="FFFFFF"/>
                </a:solidFill>
              </a:rPr>
              <a:t> </a:t>
            </a:r>
            <a:r>
              <a:rPr sz="2400" b="1" dirty="0" err="1">
                <a:solidFill>
                  <a:srgbClr val="FFFFFF"/>
                </a:solidFill>
              </a:rPr>
              <a:t>žiarenia</a:t>
            </a:r>
            <a:r>
              <a:rPr sz="2400" b="1" dirty="0">
                <a:solidFill>
                  <a:srgbClr val="FFFFFF"/>
                </a:solidFill>
              </a:rPr>
              <a:t> </a:t>
            </a:r>
            <a:r>
              <a:rPr lang="sk-SK" sz="2400" b="1" dirty="0">
                <a:solidFill>
                  <a:srgbClr val="FFFFFF"/>
                </a:solidFill>
              </a:rPr>
              <a:t>-</a:t>
            </a:r>
            <a:r>
              <a:rPr sz="2400" b="1" dirty="0">
                <a:solidFill>
                  <a:srgbClr val="FFFFFF"/>
                </a:solidFill>
              </a:rPr>
              <a:t> </a:t>
            </a:r>
            <a:r>
              <a:rPr sz="2400" b="1" dirty="0" err="1">
                <a:solidFill>
                  <a:srgbClr val="FFFFFF"/>
                </a:solidFill>
              </a:rPr>
              <a:t>ročný</a:t>
            </a:r>
            <a:r>
              <a:rPr sz="2400" b="1" dirty="0">
                <a:solidFill>
                  <a:srgbClr val="FFFFFF"/>
                </a:solidFill>
              </a:rPr>
              <a:t> </a:t>
            </a:r>
            <a:r>
              <a:rPr sz="2400" b="1" dirty="0" err="1">
                <a:solidFill>
                  <a:srgbClr val="FFFFFF"/>
                </a:solidFill>
              </a:rPr>
              <a:t>priebeh</a:t>
            </a:r>
            <a:endParaRPr sz="2400" b="1" dirty="0">
              <a:solidFill>
                <a:srgbClr val="FFFFFF"/>
              </a:solidFill>
            </a:endParaRPr>
          </a:p>
        </p:txBody>
      </p:sp>
      <p:pic>
        <p:nvPicPr>
          <p:cNvPr id="6" name="Picture 5" descr="rocna_analyza_ziarenia.png"/>
          <p:cNvPicPr>
            <a:picLocks noChangeAspect="1"/>
          </p:cNvPicPr>
          <p:nvPr/>
        </p:nvPicPr>
        <p:blipFill>
          <a:blip r:embed="rId3"/>
          <a:stretch>
            <a:fillRect/>
          </a:stretch>
        </p:blipFill>
        <p:spPr>
          <a:xfrm>
            <a:off x="320345" y="1645919"/>
            <a:ext cx="8046720" cy="4480560"/>
          </a:xfrm>
          <a:prstGeom prst="rect">
            <a:avLst/>
          </a:prstGeom>
        </p:spPr>
      </p:pic>
      <p:sp>
        <p:nvSpPr>
          <p:cNvPr id="7" name="Rectangle 6"/>
          <p:cNvSpPr/>
          <p:nvPr/>
        </p:nvSpPr>
        <p:spPr>
          <a:xfrm>
            <a:off x="8549640" y="2445403"/>
            <a:ext cx="3322015" cy="914400"/>
          </a:xfrm>
          <a:prstGeom prst="rect">
            <a:avLst/>
          </a:prstGeom>
          <a:solidFill>
            <a:srgbClr val="F0F4FF"/>
          </a:solidFill>
          <a:ln w="6350">
            <a:solidFill>
              <a:srgbClr val="C5CA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641080" y="2491123"/>
            <a:ext cx="3139135" cy="246221"/>
          </a:xfrm>
          <a:prstGeom prst="rect">
            <a:avLst/>
          </a:prstGeom>
          <a:noFill/>
        </p:spPr>
        <p:txBody>
          <a:bodyPr wrap="square">
            <a:spAutoFit/>
          </a:bodyPr>
          <a:lstStyle/>
          <a:p>
            <a:pPr algn="ctr"/>
            <a:r>
              <a:rPr sz="1000" i="0" dirty="0"/>
              <a:t>CELKOVÝ PRIEMER</a:t>
            </a:r>
          </a:p>
        </p:txBody>
      </p:sp>
      <p:sp>
        <p:nvSpPr>
          <p:cNvPr id="9" name="TextBox 8"/>
          <p:cNvSpPr txBox="1"/>
          <p:nvPr/>
        </p:nvSpPr>
        <p:spPr>
          <a:xfrm>
            <a:off x="8641080" y="2683147"/>
            <a:ext cx="3139135" cy="438912"/>
          </a:xfrm>
          <a:prstGeom prst="rect">
            <a:avLst/>
          </a:prstGeom>
          <a:noFill/>
        </p:spPr>
        <p:txBody>
          <a:bodyPr wrap="square">
            <a:spAutoFit/>
          </a:bodyPr>
          <a:lstStyle/>
          <a:p>
            <a:pPr algn="ctr"/>
            <a:r>
              <a:rPr sz="2200" b="1" i="0">
                <a:solidFill>
                  <a:srgbClr val="1A237E"/>
                </a:solidFill>
              </a:rPr>
              <a:t>286.6</a:t>
            </a:r>
          </a:p>
        </p:txBody>
      </p:sp>
      <p:sp>
        <p:nvSpPr>
          <p:cNvPr id="10" name="TextBox 9"/>
          <p:cNvSpPr txBox="1"/>
          <p:nvPr/>
        </p:nvSpPr>
        <p:spPr>
          <a:xfrm>
            <a:off x="8641080" y="3140347"/>
            <a:ext cx="3139135" cy="246221"/>
          </a:xfrm>
          <a:prstGeom prst="rect">
            <a:avLst/>
          </a:prstGeom>
          <a:noFill/>
        </p:spPr>
        <p:txBody>
          <a:bodyPr wrap="square">
            <a:spAutoFit/>
          </a:bodyPr>
          <a:lstStyle/>
          <a:p>
            <a:pPr algn="ctr"/>
            <a:r>
              <a:rPr sz="1000" b="0" i="0" dirty="0"/>
              <a:t>W/m²</a:t>
            </a:r>
          </a:p>
        </p:txBody>
      </p:sp>
      <p:sp>
        <p:nvSpPr>
          <p:cNvPr id="11" name="Rectangle 10"/>
          <p:cNvSpPr/>
          <p:nvPr/>
        </p:nvSpPr>
        <p:spPr>
          <a:xfrm>
            <a:off x="8549640" y="3432955"/>
            <a:ext cx="3322015" cy="914400"/>
          </a:xfrm>
          <a:prstGeom prst="rect">
            <a:avLst/>
          </a:prstGeom>
          <a:solidFill>
            <a:srgbClr val="F0F4FF"/>
          </a:solidFill>
          <a:ln w="6350">
            <a:solidFill>
              <a:srgbClr val="C5CA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641080" y="3478675"/>
            <a:ext cx="3139135" cy="246221"/>
          </a:xfrm>
          <a:prstGeom prst="rect">
            <a:avLst/>
          </a:prstGeom>
          <a:noFill/>
        </p:spPr>
        <p:txBody>
          <a:bodyPr wrap="square">
            <a:spAutoFit/>
          </a:bodyPr>
          <a:lstStyle/>
          <a:p>
            <a:pPr algn="ctr"/>
            <a:r>
              <a:rPr sz="1000" dirty="0"/>
              <a:t>ŠTAND</a:t>
            </a:r>
            <a:r>
              <a:rPr sz="800" b="0" i="0" dirty="0">
                <a:solidFill>
                  <a:srgbClr val="888888"/>
                </a:solidFill>
              </a:rPr>
              <a:t>. </a:t>
            </a:r>
            <a:r>
              <a:rPr sz="1000" dirty="0"/>
              <a:t>ODCHÝLKA</a:t>
            </a:r>
          </a:p>
        </p:txBody>
      </p:sp>
      <p:sp>
        <p:nvSpPr>
          <p:cNvPr id="13" name="TextBox 12"/>
          <p:cNvSpPr txBox="1"/>
          <p:nvPr/>
        </p:nvSpPr>
        <p:spPr>
          <a:xfrm>
            <a:off x="8641080" y="3670699"/>
            <a:ext cx="3139135" cy="438912"/>
          </a:xfrm>
          <a:prstGeom prst="rect">
            <a:avLst/>
          </a:prstGeom>
          <a:noFill/>
        </p:spPr>
        <p:txBody>
          <a:bodyPr wrap="square">
            <a:spAutoFit/>
          </a:bodyPr>
          <a:lstStyle/>
          <a:p>
            <a:pPr algn="ctr"/>
            <a:r>
              <a:rPr sz="2200" b="1" i="0">
                <a:solidFill>
                  <a:srgbClr val="C62828"/>
                </a:solidFill>
              </a:rPr>
              <a:t>282.0</a:t>
            </a:r>
          </a:p>
        </p:txBody>
      </p:sp>
      <p:sp>
        <p:nvSpPr>
          <p:cNvPr id="14" name="TextBox 13"/>
          <p:cNvSpPr txBox="1"/>
          <p:nvPr/>
        </p:nvSpPr>
        <p:spPr>
          <a:xfrm>
            <a:off x="8641080" y="4127899"/>
            <a:ext cx="3139135" cy="256032"/>
          </a:xfrm>
          <a:prstGeom prst="rect">
            <a:avLst/>
          </a:prstGeom>
          <a:noFill/>
        </p:spPr>
        <p:txBody>
          <a:bodyPr wrap="square">
            <a:spAutoFit/>
          </a:bodyPr>
          <a:lstStyle/>
          <a:p>
            <a:pPr algn="ctr"/>
            <a:r>
              <a:rPr sz="1000" dirty="0"/>
              <a:t>W/m² (~100 %)</a:t>
            </a:r>
          </a:p>
        </p:txBody>
      </p:sp>
      <p:sp>
        <p:nvSpPr>
          <p:cNvPr id="15" name="Rectangle 14"/>
          <p:cNvSpPr/>
          <p:nvPr/>
        </p:nvSpPr>
        <p:spPr>
          <a:xfrm>
            <a:off x="8549640" y="4420506"/>
            <a:ext cx="3322015" cy="914400"/>
          </a:xfrm>
          <a:prstGeom prst="rect">
            <a:avLst/>
          </a:prstGeom>
          <a:solidFill>
            <a:srgbClr val="F0F4FF"/>
          </a:solidFill>
          <a:ln w="6350">
            <a:solidFill>
              <a:srgbClr val="C5CA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641080" y="4466226"/>
            <a:ext cx="3139135" cy="246221"/>
          </a:xfrm>
          <a:prstGeom prst="rect">
            <a:avLst/>
          </a:prstGeom>
          <a:noFill/>
        </p:spPr>
        <p:txBody>
          <a:bodyPr wrap="square">
            <a:spAutoFit/>
          </a:bodyPr>
          <a:lstStyle/>
          <a:p>
            <a:pPr algn="ctr"/>
            <a:r>
              <a:rPr sz="1000" dirty="0"/>
              <a:t>MAXIMUM</a:t>
            </a:r>
          </a:p>
        </p:txBody>
      </p:sp>
      <p:sp>
        <p:nvSpPr>
          <p:cNvPr id="17" name="TextBox 16"/>
          <p:cNvSpPr txBox="1"/>
          <p:nvPr/>
        </p:nvSpPr>
        <p:spPr>
          <a:xfrm>
            <a:off x="8641080" y="4658250"/>
            <a:ext cx="3139135" cy="438912"/>
          </a:xfrm>
          <a:prstGeom prst="rect">
            <a:avLst/>
          </a:prstGeom>
          <a:noFill/>
        </p:spPr>
        <p:txBody>
          <a:bodyPr wrap="square">
            <a:spAutoFit/>
          </a:bodyPr>
          <a:lstStyle/>
          <a:p>
            <a:pPr algn="ctr"/>
            <a:r>
              <a:rPr sz="2200" b="1" i="0">
                <a:solidFill>
                  <a:srgbClr val="1A237E"/>
                </a:solidFill>
              </a:rPr>
              <a:t>1 440.6</a:t>
            </a:r>
          </a:p>
        </p:txBody>
      </p:sp>
      <p:sp>
        <p:nvSpPr>
          <p:cNvPr id="18" name="TextBox 17"/>
          <p:cNvSpPr txBox="1"/>
          <p:nvPr/>
        </p:nvSpPr>
        <p:spPr>
          <a:xfrm>
            <a:off x="8641080" y="5115450"/>
            <a:ext cx="3139135" cy="246221"/>
          </a:xfrm>
          <a:prstGeom prst="rect">
            <a:avLst/>
          </a:prstGeom>
          <a:noFill/>
        </p:spPr>
        <p:txBody>
          <a:bodyPr wrap="square">
            <a:spAutoFit/>
          </a:bodyPr>
          <a:lstStyle/>
          <a:p>
            <a:pPr algn="ctr"/>
            <a:r>
              <a:rPr sz="1000" b="0" i="0" dirty="0"/>
              <a:t>W/m²</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90837" y="170390"/>
            <a:ext cx="569388" cy="523220"/>
          </a:xfrm>
          <a:prstGeom prst="rect">
            <a:avLst/>
          </a:prstGeom>
          <a:noFill/>
        </p:spPr>
        <p:txBody>
          <a:bodyPr wrap="none">
            <a:spAutoFit/>
          </a:bodyPr>
          <a:lstStyle/>
          <a:p>
            <a:pPr algn="ctr"/>
            <a:r>
              <a:rPr sz="2800" b="1">
                <a:solidFill>
                  <a:srgbClr val="FFFFFF"/>
                </a:solidFill>
              </a:rPr>
              <a:t>10</a:t>
            </a:r>
          </a:p>
        </p:txBody>
      </p:sp>
      <p:sp>
        <p:nvSpPr>
          <p:cNvPr id="4" name="TextBox 3"/>
          <p:cNvSpPr txBox="1"/>
          <p:nvPr/>
        </p:nvSpPr>
        <p:spPr>
          <a:xfrm>
            <a:off x="822960" y="201168"/>
            <a:ext cx="5362430" cy="461665"/>
          </a:xfrm>
          <a:prstGeom prst="rect">
            <a:avLst/>
          </a:prstGeom>
          <a:noFill/>
        </p:spPr>
        <p:txBody>
          <a:bodyPr wrap="none">
            <a:spAutoFit/>
          </a:bodyPr>
          <a:lstStyle/>
          <a:p>
            <a:pPr algn="l"/>
            <a:r>
              <a:rPr sz="2400" b="1" dirty="0" err="1">
                <a:solidFill>
                  <a:srgbClr val="FFFFFF"/>
                </a:solidFill>
              </a:rPr>
              <a:t>Analýza</a:t>
            </a:r>
            <a:r>
              <a:rPr sz="2400" b="1" dirty="0">
                <a:solidFill>
                  <a:srgbClr val="FFFFFF"/>
                </a:solidFill>
              </a:rPr>
              <a:t> </a:t>
            </a:r>
            <a:r>
              <a:rPr sz="2400" b="1" dirty="0" err="1">
                <a:solidFill>
                  <a:srgbClr val="FFFFFF"/>
                </a:solidFill>
              </a:rPr>
              <a:t>žiarenia</a:t>
            </a:r>
            <a:r>
              <a:rPr sz="2400" b="1" dirty="0">
                <a:solidFill>
                  <a:srgbClr val="FFFFFF"/>
                </a:solidFill>
              </a:rPr>
              <a:t> </a:t>
            </a:r>
            <a:r>
              <a:rPr lang="sk-SK" sz="2400" b="1" dirty="0">
                <a:solidFill>
                  <a:srgbClr val="FFFFFF"/>
                </a:solidFill>
              </a:rPr>
              <a:t>–</a:t>
            </a:r>
            <a:r>
              <a:rPr sz="2400" b="1" dirty="0">
                <a:solidFill>
                  <a:srgbClr val="FFFFFF"/>
                </a:solidFill>
              </a:rPr>
              <a:t> </a:t>
            </a:r>
            <a:r>
              <a:rPr lang="sk-SK" sz="2400" b="1" dirty="0">
                <a:solidFill>
                  <a:srgbClr val="FFFFFF"/>
                </a:solidFill>
              </a:rPr>
              <a:t>jednotlivé mesiace</a:t>
            </a:r>
            <a:endParaRPr sz="2400" b="1" dirty="0">
              <a:solidFill>
                <a:srgbClr val="FFFFFF"/>
              </a:solidFill>
            </a:endParaRPr>
          </a:p>
        </p:txBody>
      </p:sp>
      <p:pic>
        <p:nvPicPr>
          <p:cNvPr id="6" name="Picture 5" descr="denna_analyza_mesiacov.png"/>
          <p:cNvPicPr>
            <a:picLocks noChangeAspect="1"/>
          </p:cNvPicPr>
          <p:nvPr/>
        </p:nvPicPr>
        <p:blipFill>
          <a:blip r:embed="rId3"/>
          <a:stretch>
            <a:fillRect/>
          </a:stretch>
        </p:blipFill>
        <p:spPr>
          <a:xfrm>
            <a:off x="320040" y="1188720"/>
            <a:ext cx="8412480" cy="4572000"/>
          </a:xfrm>
          <a:prstGeom prst="rect">
            <a:avLst/>
          </a:prstGeom>
        </p:spPr>
      </p:pic>
      <p:sp>
        <p:nvSpPr>
          <p:cNvPr id="7" name="TextBox 6"/>
          <p:cNvSpPr txBox="1"/>
          <p:nvPr/>
        </p:nvSpPr>
        <p:spPr>
          <a:xfrm>
            <a:off x="8915705" y="1997839"/>
            <a:ext cx="2956255" cy="2862322"/>
          </a:xfrm>
          <a:prstGeom prst="rect">
            <a:avLst/>
          </a:prstGeom>
          <a:noFill/>
        </p:spPr>
        <p:txBody>
          <a:bodyPr wrap="square">
            <a:spAutoFit/>
          </a:bodyPr>
          <a:lstStyle/>
          <a:p>
            <a:r>
              <a:rPr lang="sk-SK" sz="1600" b="1" dirty="0">
                <a:solidFill>
                  <a:srgbClr val="1A237E"/>
                </a:solidFill>
              </a:rPr>
              <a:t>• Leto</a:t>
            </a:r>
            <a:r>
              <a:rPr lang="sk-SK" b="1" dirty="0">
                <a:solidFill>
                  <a:srgbClr val="1A237E"/>
                </a:solidFill>
              </a:rPr>
              <a:t>: </a:t>
            </a:r>
            <a:r>
              <a:rPr lang="sk-SK" dirty="0"/>
              <a:t> </a:t>
            </a:r>
            <a:r>
              <a:rPr lang="sk-SK" sz="1400" dirty="0"/>
              <a:t>Symetrický zvonový profil, maximum ~700–800 W/m² okolo 12:00–13:00, slnko vychádza ~5:00, zapadá ~21:00</a:t>
            </a:r>
          </a:p>
          <a:p>
            <a:endParaRPr lang="sk-SK" sz="1600" b="1" dirty="0">
              <a:solidFill>
                <a:srgbClr val="1A237E"/>
              </a:solidFill>
            </a:endParaRPr>
          </a:p>
          <a:p>
            <a:r>
              <a:rPr lang="sk-SK" sz="1600" b="1" dirty="0">
                <a:solidFill>
                  <a:srgbClr val="1A237E"/>
                </a:solidFill>
              </a:rPr>
              <a:t>• Zima: </a:t>
            </a:r>
            <a:r>
              <a:rPr lang="sk-SK" sz="1400" dirty="0"/>
              <a:t>Plochý profil, maximum ~150–200 W/m², deň kratší (8:00–17:00)</a:t>
            </a:r>
          </a:p>
          <a:p>
            <a:endParaRPr lang="sk-SK" sz="1600" b="1" dirty="0">
              <a:solidFill>
                <a:srgbClr val="1A237E"/>
              </a:solidFill>
            </a:endParaRPr>
          </a:p>
          <a:p>
            <a:r>
              <a:rPr lang="sk-SK" sz="1600" b="1" dirty="0">
                <a:solidFill>
                  <a:srgbClr val="1A237E"/>
                </a:solidFill>
              </a:rPr>
              <a:t>• Jaro/jeseň: </a:t>
            </a:r>
            <a:r>
              <a:rPr lang="sk-SK" sz="1400" dirty="0"/>
              <a:t>Prechodný stav, vysoká disperzia = premenlivé počasie</a:t>
            </a:r>
            <a:endParaRPr lang="sk-SK"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08074" y="201167"/>
            <a:ext cx="514886" cy="461665"/>
          </a:xfrm>
          <a:prstGeom prst="rect">
            <a:avLst/>
          </a:prstGeom>
          <a:noFill/>
        </p:spPr>
        <p:txBody>
          <a:bodyPr wrap="none">
            <a:spAutoFit/>
          </a:bodyPr>
          <a:lstStyle/>
          <a:p>
            <a:pPr algn="ctr"/>
            <a:r>
              <a:rPr sz="2400" b="1" dirty="0">
                <a:solidFill>
                  <a:srgbClr val="FFFFFF"/>
                </a:solidFill>
              </a:rPr>
              <a:t>11</a:t>
            </a:r>
            <a:endParaRPr sz="1600" b="1" dirty="0">
              <a:solidFill>
                <a:srgbClr val="FFFFFF"/>
              </a:solidFill>
            </a:endParaRPr>
          </a:p>
        </p:txBody>
      </p:sp>
      <p:sp>
        <p:nvSpPr>
          <p:cNvPr id="4" name="TextBox 3"/>
          <p:cNvSpPr txBox="1"/>
          <p:nvPr/>
        </p:nvSpPr>
        <p:spPr>
          <a:xfrm>
            <a:off x="822960" y="201168"/>
            <a:ext cx="5353902" cy="461665"/>
          </a:xfrm>
          <a:prstGeom prst="rect">
            <a:avLst/>
          </a:prstGeom>
          <a:noFill/>
        </p:spPr>
        <p:txBody>
          <a:bodyPr wrap="none">
            <a:spAutoFit/>
          </a:bodyPr>
          <a:lstStyle/>
          <a:p>
            <a:pPr algn="l"/>
            <a:r>
              <a:rPr sz="2400" b="1" dirty="0" err="1">
                <a:solidFill>
                  <a:srgbClr val="FFFFFF"/>
                </a:solidFill>
              </a:rPr>
              <a:t>Korelačná</a:t>
            </a:r>
            <a:r>
              <a:rPr sz="2400" b="1" dirty="0">
                <a:solidFill>
                  <a:srgbClr val="FFFFFF"/>
                </a:solidFill>
              </a:rPr>
              <a:t> </a:t>
            </a:r>
            <a:r>
              <a:rPr sz="2400" b="1" dirty="0" err="1">
                <a:solidFill>
                  <a:srgbClr val="FFFFFF"/>
                </a:solidFill>
              </a:rPr>
              <a:t>analýza</a:t>
            </a:r>
            <a:r>
              <a:rPr sz="2400" b="1" dirty="0">
                <a:solidFill>
                  <a:srgbClr val="FFFFFF"/>
                </a:solidFill>
              </a:rPr>
              <a:t> </a:t>
            </a:r>
            <a:r>
              <a:rPr lang="en-US" sz="2400" b="1" dirty="0">
                <a:solidFill>
                  <a:srgbClr val="FFFFFF"/>
                </a:solidFill>
              </a:rPr>
              <a:t>-</a:t>
            </a:r>
            <a:r>
              <a:rPr sz="2400" b="1" dirty="0">
                <a:solidFill>
                  <a:srgbClr val="FFFFFF"/>
                </a:solidFill>
              </a:rPr>
              <a:t> </a:t>
            </a:r>
            <a:r>
              <a:rPr sz="2400" b="1" dirty="0" err="1">
                <a:solidFill>
                  <a:srgbClr val="FFFFFF"/>
                </a:solidFill>
              </a:rPr>
              <a:t>kľúčové</a:t>
            </a:r>
            <a:r>
              <a:rPr sz="2400" b="1" dirty="0">
                <a:solidFill>
                  <a:srgbClr val="FFFFFF"/>
                </a:solidFill>
              </a:rPr>
              <a:t> </a:t>
            </a:r>
            <a:r>
              <a:rPr sz="2400" b="1" dirty="0" err="1">
                <a:solidFill>
                  <a:srgbClr val="FFFFFF"/>
                </a:solidFill>
              </a:rPr>
              <a:t>výsledky</a:t>
            </a:r>
            <a:endParaRPr sz="2400" b="1" dirty="0">
              <a:solidFill>
                <a:srgbClr val="FFFFFF"/>
              </a:solidFill>
            </a:endParaRPr>
          </a:p>
        </p:txBody>
      </p:sp>
      <p:pic>
        <p:nvPicPr>
          <p:cNvPr id="6" name="Picture 5" descr="heatmapa_korelacie.png"/>
          <p:cNvPicPr>
            <a:picLocks noChangeAspect="1"/>
          </p:cNvPicPr>
          <p:nvPr/>
        </p:nvPicPr>
        <p:blipFill>
          <a:blip r:embed="rId3"/>
          <a:stretch>
            <a:fillRect/>
          </a:stretch>
        </p:blipFill>
        <p:spPr>
          <a:xfrm>
            <a:off x="320040" y="1188720"/>
            <a:ext cx="5303520" cy="5029200"/>
          </a:xfrm>
          <a:prstGeom prst="rect">
            <a:avLst/>
          </a:prstGeom>
        </p:spPr>
      </p:pic>
      <p:sp>
        <p:nvSpPr>
          <p:cNvPr id="7" name="Rectangle 6"/>
          <p:cNvSpPr/>
          <p:nvPr/>
        </p:nvSpPr>
        <p:spPr>
          <a:xfrm>
            <a:off x="5760719" y="1591200"/>
            <a:ext cx="6065215" cy="377190"/>
          </a:xfrm>
          <a:prstGeom prst="rect">
            <a:avLst/>
          </a:prstGeom>
          <a:solidFill>
            <a:srgbClr val="3949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833871" y="1636920"/>
            <a:ext cx="5973775" cy="276999"/>
          </a:xfrm>
          <a:prstGeom prst="rect">
            <a:avLst/>
          </a:prstGeom>
          <a:noFill/>
        </p:spPr>
        <p:txBody>
          <a:bodyPr wrap="square">
            <a:spAutoFit/>
          </a:bodyPr>
          <a:lstStyle/>
          <a:p>
            <a:pPr algn="l"/>
            <a:r>
              <a:rPr sz="1200" b="1" i="0" dirty="0" err="1">
                <a:solidFill>
                  <a:srgbClr val="FFFFFF"/>
                </a:solidFill>
              </a:rPr>
              <a:t>Dvojica</a:t>
            </a:r>
            <a:r>
              <a:rPr sz="1200" b="1" i="0" dirty="0">
                <a:solidFill>
                  <a:srgbClr val="FFFFFF"/>
                </a:solidFill>
              </a:rPr>
              <a:t>  |  r  |  </a:t>
            </a:r>
            <a:r>
              <a:rPr sz="1200" b="1" i="0" dirty="0" err="1">
                <a:solidFill>
                  <a:srgbClr val="FFFFFF"/>
                </a:solidFill>
              </a:rPr>
              <a:t>Fyzikálne</a:t>
            </a:r>
            <a:r>
              <a:rPr sz="1200" b="1" i="0" dirty="0">
                <a:solidFill>
                  <a:srgbClr val="FFFFFF"/>
                </a:solidFill>
              </a:rPr>
              <a:t> </a:t>
            </a:r>
            <a:r>
              <a:rPr sz="1200" b="1" i="0" dirty="0" err="1">
                <a:solidFill>
                  <a:srgbClr val="FFFFFF"/>
                </a:solidFill>
              </a:rPr>
              <a:t>vysvetlenie</a:t>
            </a:r>
            <a:endParaRPr sz="1200" b="1" i="0" dirty="0">
              <a:solidFill>
                <a:srgbClr val="FFFFFF"/>
              </a:solidFill>
            </a:endParaRPr>
          </a:p>
        </p:txBody>
      </p:sp>
      <p:sp>
        <p:nvSpPr>
          <p:cNvPr id="9" name="Rectangle 8"/>
          <p:cNvSpPr/>
          <p:nvPr/>
        </p:nvSpPr>
        <p:spPr>
          <a:xfrm>
            <a:off x="5760719" y="1968390"/>
            <a:ext cx="6065215" cy="685800"/>
          </a:xfrm>
          <a:prstGeom prst="rect">
            <a:avLst/>
          </a:prstGeom>
          <a:solidFill>
            <a:srgbClr val="F8F9FF"/>
          </a:solidFill>
          <a:ln w="6350">
            <a:solidFill>
              <a:srgbClr val="E0E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833871" y="2032398"/>
            <a:ext cx="5918911" cy="430887"/>
          </a:xfrm>
          <a:prstGeom prst="rect">
            <a:avLst/>
          </a:prstGeom>
          <a:noFill/>
        </p:spPr>
        <p:txBody>
          <a:bodyPr wrap="square">
            <a:spAutoFit/>
          </a:bodyPr>
          <a:lstStyle/>
          <a:p>
            <a:r>
              <a:rPr sz="1100" b="1" dirty="0" err="1">
                <a:solidFill>
                  <a:srgbClr val="1A237E"/>
                </a:solidFill>
              </a:rPr>
              <a:t>FanSpeed</a:t>
            </a:r>
            <a:r>
              <a:rPr sz="1100" b="1" dirty="0">
                <a:solidFill>
                  <a:srgbClr val="1A237E"/>
                </a:solidFill>
              </a:rPr>
              <a:t> ↔ Pressure  </a:t>
            </a:r>
            <a:r>
              <a:rPr sz="1100" b="1" dirty="0">
                <a:solidFill>
                  <a:srgbClr val="C62828"/>
                </a:solidFill>
              </a:rPr>
              <a:t>−0.998  </a:t>
            </a:r>
            <a:r>
              <a:rPr sz="1100" b="0" dirty="0">
                <a:solidFill>
                  <a:srgbClr val="222222"/>
                </a:solidFill>
              </a:rPr>
              <a:t>Nep</a:t>
            </a:r>
            <a:r>
              <a:rPr lang="sk-SK" sz="1100" b="0" dirty="0" err="1">
                <a:solidFill>
                  <a:srgbClr val="222222"/>
                </a:solidFill>
              </a:rPr>
              <a:t>ria</a:t>
            </a:r>
            <a:r>
              <a:rPr sz="1100" b="0" dirty="0">
                <a:solidFill>
                  <a:srgbClr val="222222"/>
                </a:solidFill>
              </a:rPr>
              <a:t>my </a:t>
            </a:r>
            <a:r>
              <a:rPr sz="1100" b="0" dirty="0" err="1">
                <a:solidFill>
                  <a:srgbClr val="222222"/>
                </a:solidFill>
              </a:rPr>
              <a:t>sezónny</a:t>
            </a:r>
            <a:r>
              <a:rPr sz="1100" b="0" dirty="0">
                <a:solidFill>
                  <a:srgbClr val="222222"/>
                </a:solidFill>
              </a:rPr>
              <a:t> </a:t>
            </a:r>
            <a:r>
              <a:rPr sz="1100" b="0" dirty="0" err="1">
                <a:solidFill>
                  <a:srgbClr val="222222"/>
                </a:solidFill>
              </a:rPr>
              <a:t>efekt</a:t>
            </a:r>
            <a:r>
              <a:rPr sz="1100" b="0" dirty="0">
                <a:solidFill>
                  <a:srgbClr val="222222"/>
                </a:solidFill>
              </a:rPr>
              <a:t>: </a:t>
            </a:r>
            <a:r>
              <a:rPr sz="1100" b="0" dirty="0" err="1">
                <a:solidFill>
                  <a:srgbClr val="222222"/>
                </a:solidFill>
              </a:rPr>
              <a:t>hustý</a:t>
            </a:r>
            <a:r>
              <a:rPr sz="1100" b="0" dirty="0">
                <a:solidFill>
                  <a:srgbClr val="222222"/>
                </a:solidFill>
              </a:rPr>
              <a:t> </a:t>
            </a:r>
            <a:r>
              <a:rPr sz="1100" b="0" dirty="0" err="1">
                <a:solidFill>
                  <a:srgbClr val="222222"/>
                </a:solidFill>
              </a:rPr>
              <a:t>vzduch</a:t>
            </a:r>
            <a:r>
              <a:rPr sz="1100" b="0" dirty="0">
                <a:solidFill>
                  <a:srgbClr val="222222"/>
                </a:solidFill>
              </a:rPr>
              <a:t> v </a:t>
            </a:r>
            <a:r>
              <a:rPr sz="1100" b="0" dirty="0" err="1">
                <a:solidFill>
                  <a:srgbClr val="222222"/>
                </a:solidFill>
              </a:rPr>
              <a:t>zime</a:t>
            </a:r>
            <a:r>
              <a:rPr sz="1100" b="0" dirty="0">
                <a:solidFill>
                  <a:srgbClr val="222222"/>
                </a:solidFill>
              </a:rPr>
              <a:t> → </a:t>
            </a:r>
            <a:r>
              <a:rPr sz="1100" b="0" dirty="0" err="1">
                <a:solidFill>
                  <a:srgbClr val="222222"/>
                </a:solidFill>
              </a:rPr>
              <a:t>vyšší</a:t>
            </a:r>
            <a:r>
              <a:rPr sz="1100" b="0" dirty="0">
                <a:solidFill>
                  <a:srgbClr val="222222"/>
                </a:solidFill>
              </a:rPr>
              <a:t> </a:t>
            </a:r>
            <a:r>
              <a:rPr sz="1100" b="0" dirty="0" err="1">
                <a:solidFill>
                  <a:srgbClr val="222222"/>
                </a:solidFill>
              </a:rPr>
              <a:t>tlak</a:t>
            </a:r>
            <a:r>
              <a:rPr sz="1100" b="0" dirty="0">
                <a:solidFill>
                  <a:srgbClr val="222222"/>
                </a:solidFill>
              </a:rPr>
              <a:t>, </a:t>
            </a:r>
            <a:r>
              <a:rPr sz="1100" b="0" dirty="0" err="1">
                <a:solidFill>
                  <a:srgbClr val="222222"/>
                </a:solidFill>
              </a:rPr>
              <a:t>pomalejší</a:t>
            </a:r>
            <a:r>
              <a:rPr sz="1100" b="0" dirty="0">
                <a:solidFill>
                  <a:srgbClr val="222222"/>
                </a:solidFill>
              </a:rPr>
              <a:t> motor</a:t>
            </a:r>
          </a:p>
        </p:txBody>
      </p:sp>
      <p:sp>
        <p:nvSpPr>
          <p:cNvPr id="11" name="Rectangle 10"/>
          <p:cNvSpPr/>
          <p:nvPr/>
        </p:nvSpPr>
        <p:spPr>
          <a:xfrm>
            <a:off x="5760719" y="2654190"/>
            <a:ext cx="6065215" cy="685800"/>
          </a:xfrm>
          <a:prstGeom prst="rect">
            <a:avLst/>
          </a:prstGeom>
          <a:solidFill>
            <a:srgbClr val="FFFFFF"/>
          </a:solidFill>
          <a:ln w="6350">
            <a:solidFill>
              <a:srgbClr val="E0E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833868" y="2818782"/>
            <a:ext cx="5918911" cy="430887"/>
          </a:xfrm>
          <a:prstGeom prst="rect">
            <a:avLst/>
          </a:prstGeom>
          <a:noFill/>
        </p:spPr>
        <p:txBody>
          <a:bodyPr wrap="square">
            <a:spAutoFit/>
          </a:bodyPr>
          <a:lstStyle/>
          <a:p>
            <a:r>
              <a:rPr sz="1100" b="1" dirty="0" err="1">
                <a:solidFill>
                  <a:srgbClr val="1A237E"/>
                </a:solidFill>
              </a:rPr>
              <a:t>BodyTemp</a:t>
            </a:r>
            <a:r>
              <a:rPr sz="1100" b="1" dirty="0">
                <a:solidFill>
                  <a:srgbClr val="1A237E"/>
                </a:solidFill>
              </a:rPr>
              <a:t> ↔ </a:t>
            </a:r>
            <a:r>
              <a:rPr sz="1100" b="1" dirty="0" err="1">
                <a:solidFill>
                  <a:srgbClr val="1A237E"/>
                </a:solidFill>
              </a:rPr>
              <a:t>HumidityTemp</a:t>
            </a:r>
            <a:r>
              <a:rPr sz="1100" b="1" dirty="0">
                <a:solidFill>
                  <a:srgbClr val="1A237E"/>
                </a:solidFill>
              </a:rPr>
              <a:t> ↔ </a:t>
            </a:r>
            <a:r>
              <a:rPr sz="1100" b="1" dirty="0" err="1">
                <a:solidFill>
                  <a:srgbClr val="1A237E"/>
                </a:solidFill>
              </a:rPr>
              <a:t>PressureTemp</a:t>
            </a:r>
            <a:r>
              <a:rPr sz="1100" b="1" dirty="0">
                <a:solidFill>
                  <a:srgbClr val="1A237E"/>
                </a:solidFill>
              </a:rPr>
              <a:t>  </a:t>
            </a:r>
            <a:r>
              <a:rPr sz="1100" b="1" dirty="0">
                <a:solidFill>
                  <a:srgbClr val="2E7D32"/>
                </a:solidFill>
              </a:rPr>
              <a:t>≈ +0.999  </a:t>
            </a:r>
            <a:r>
              <a:rPr sz="1100" b="0" dirty="0">
                <a:solidFill>
                  <a:srgbClr val="222222"/>
                </a:solidFill>
              </a:rPr>
              <a:t>3 </a:t>
            </a:r>
            <a:r>
              <a:rPr sz="1100" b="0" dirty="0" err="1">
                <a:solidFill>
                  <a:srgbClr val="222222"/>
                </a:solidFill>
              </a:rPr>
              <a:t>nez</a:t>
            </a:r>
            <a:r>
              <a:rPr lang="sk-SK" sz="1100" b="0" dirty="0" err="1">
                <a:solidFill>
                  <a:srgbClr val="222222"/>
                </a:solidFill>
              </a:rPr>
              <a:t>ávisl</a:t>
            </a:r>
            <a:r>
              <a:rPr sz="1100" b="0" dirty="0">
                <a:solidFill>
                  <a:srgbClr val="222222"/>
                </a:solidFill>
              </a:rPr>
              <a:t>é </a:t>
            </a:r>
            <a:r>
              <a:rPr sz="1100" b="0" dirty="0" err="1">
                <a:solidFill>
                  <a:srgbClr val="222222"/>
                </a:solidFill>
              </a:rPr>
              <a:t>snímače</a:t>
            </a:r>
            <a:r>
              <a:rPr sz="1100" b="0" dirty="0">
                <a:solidFill>
                  <a:srgbClr val="222222"/>
                </a:solidFill>
              </a:rPr>
              <a:t>, </a:t>
            </a:r>
            <a:r>
              <a:rPr sz="1100" b="0" dirty="0" err="1">
                <a:solidFill>
                  <a:srgbClr val="222222"/>
                </a:solidFill>
              </a:rPr>
              <a:t>rovnaká</a:t>
            </a:r>
            <a:r>
              <a:rPr sz="1100" b="0" dirty="0">
                <a:solidFill>
                  <a:srgbClr val="222222"/>
                </a:solidFill>
              </a:rPr>
              <a:t> </a:t>
            </a:r>
            <a:r>
              <a:rPr sz="1100" b="0" dirty="0" err="1">
                <a:solidFill>
                  <a:srgbClr val="222222"/>
                </a:solidFill>
              </a:rPr>
              <a:t>fyz</a:t>
            </a:r>
            <a:r>
              <a:rPr sz="1100" b="0" dirty="0">
                <a:solidFill>
                  <a:srgbClr val="222222"/>
                </a:solidFill>
              </a:rPr>
              <a:t>. </a:t>
            </a:r>
            <a:r>
              <a:rPr sz="1100" b="0" dirty="0" err="1">
                <a:solidFill>
                  <a:srgbClr val="222222"/>
                </a:solidFill>
              </a:rPr>
              <a:t>teplota</a:t>
            </a:r>
            <a:r>
              <a:rPr sz="1100" b="0" dirty="0">
                <a:solidFill>
                  <a:srgbClr val="222222"/>
                </a:solidFill>
              </a:rPr>
              <a:t> </a:t>
            </a:r>
            <a:r>
              <a:rPr lang="en-US" sz="1100" dirty="0">
                <a:solidFill>
                  <a:srgbClr val="222222"/>
                </a:solidFill>
              </a:rPr>
              <a:t>-</a:t>
            </a:r>
            <a:r>
              <a:rPr sz="1100" b="0" dirty="0">
                <a:solidFill>
                  <a:srgbClr val="222222"/>
                </a:solidFill>
              </a:rPr>
              <a:t> </a:t>
            </a:r>
            <a:r>
              <a:rPr sz="1100" b="0" dirty="0" err="1">
                <a:solidFill>
                  <a:srgbClr val="222222"/>
                </a:solidFill>
              </a:rPr>
              <a:t>potvrdená</a:t>
            </a:r>
            <a:r>
              <a:rPr sz="1100" b="0" dirty="0">
                <a:solidFill>
                  <a:srgbClr val="222222"/>
                </a:solidFill>
              </a:rPr>
              <a:t> </a:t>
            </a:r>
            <a:r>
              <a:rPr sz="1100" b="0" dirty="0" err="1">
                <a:solidFill>
                  <a:srgbClr val="222222"/>
                </a:solidFill>
              </a:rPr>
              <a:t>kalib</a:t>
            </a:r>
            <a:r>
              <a:rPr lang="sk-SK" sz="1100" b="0" dirty="0">
                <a:solidFill>
                  <a:srgbClr val="222222"/>
                </a:solidFill>
              </a:rPr>
              <a:t>r</a:t>
            </a:r>
            <a:r>
              <a:rPr sz="1100" b="0" dirty="0" err="1">
                <a:solidFill>
                  <a:srgbClr val="222222"/>
                </a:solidFill>
              </a:rPr>
              <a:t>ácia</a:t>
            </a:r>
            <a:endParaRPr sz="1100" b="0" dirty="0">
              <a:solidFill>
                <a:srgbClr val="222222"/>
              </a:solidFill>
            </a:endParaRPr>
          </a:p>
        </p:txBody>
      </p:sp>
      <p:sp>
        <p:nvSpPr>
          <p:cNvPr id="13" name="Rectangle 12"/>
          <p:cNvSpPr/>
          <p:nvPr/>
        </p:nvSpPr>
        <p:spPr>
          <a:xfrm>
            <a:off x="5760719" y="3339990"/>
            <a:ext cx="6065215" cy="685800"/>
          </a:xfrm>
          <a:prstGeom prst="rect">
            <a:avLst/>
          </a:prstGeom>
          <a:solidFill>
            <a:srgbClr val="F8F9FF"/>
          </a:solidFill>
          <a:ln w="6350">
            <a:solidFill>
              <a:srgbClr val="E0E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833869" y="3596799"/>
            <a:ext cx="5918911" cy="261610"/>
          </a:xfrm>
          <a:prstGeom prst="rect">
            <a:avLst/>
          </a:prstGeom>
          <a:noFill/>
        </p:spPr>
        <p:txBody>
          <a:bodyPr wrap="square">
            <a:spAutoFit/>
          </a:bodyPr>
          <a:lstStyle/>
          <a:p>
            <a:r>
              <a:rPr sz="1100" b="1" dirty="0">
                <a:solidFill>
                  <a:srgbClr val="1A237E"/>
                </a:solidFill>
              </a:rPr>
              <a:t>Irradiance ↔ </a:t>
            </a:r>
            <a:r>
              <a:rPr sz="1100" b="1" dirty="0" err="1">
                <a:solidFill>
                  <a:srgbClr val="1A237E"/>
                </a:solidFill>
              </a:rPr>
              <a:t>SunZenith</a:t>
            </a:r>
            <a:r>
              <a:rPr sz="1100" b="1" dirty="0">
                <a:solidFill>
                  <a:srgbClr val="1A237E"/>
                </a:solidFill>
              </a:rPr>
              <a:t>  </a:t>
            </a:r>
            <a:r>
              <a:rPr sz="1100" b="1" dirty="0">
                <a:solidFill>
                  <a:srgbClr val="3949AB"/>
                </a:solidFill>
              </a:rPr>
              <a:t>+0.790  </a:t>
            </a:r>
            <a:r>
              <a:rPr sz="1100" b="0" dirty="0" err="1">
                <a:solidFill>
                  <a:srgbClr val="222222"/>
                </a:solidFill>
              </a:rPr>
              <a:t>Vyššia</a:t>
            </a:r>
            <a:r>
              <a:rPr sz="1100" b="0" dirty="0">
                <a:solidFill>
                  <a:srgbClr val="222222"/>
                </a:solidFill>
              </a:rPr>
              <a:t> </a:t>
            </a:r>
            <a:r>
              <a:rPr sz="1100" b="0" dirty="0" err="1">
                <a:solidFill>
                  <a:srgbClr val="222222"/>
                </a:solidFill>
              </a:rPr>
              <a:t>poloha</a:t>
            </a:r>
            <a:r>
              <a:rPr sz="1100" b="0" dirty="0">
                <a:solidFill>
                  <a:srgbClr val="222222"/>
                </a:solidFill>
              </a:rPr>
              <a:t> </a:t>
            </a:r>
            <a:r>
              <a:rPr sz="1100" b="0" dirty="0" err="1">
                <a:solidFill>
                  <a:srgbClr val="222222"/>
                </a:solidFill>
              </a:rPr>
              <a:t>slnka</a:t>
            </a:r>
            <a:r>
              <a:rPr sz="1100" b="0" dirty="0">
                <a:solidFill>
                  <a:srgbClr val="222222"/>
                </a:solidFill>
              </a:rPr>
              <a:t> → </a:t>
            </a:r>
            <a:r>
              <a:rPr sz="1100" b="0" dirty="0" err="1">
                <a:solidFill>
                  <a:srgbClr val="222222"/>
                </a:solidFill>
              </a:rPr>
              <a:t>kratšia</a:t>
            </a:r>
            <a:r>
              <a:rPr sz="1100" b="0" dirty="0">
                <a:solidFill>
                  <a:srgbClr val="222222"/>
                </a:solidFill>
              </a:rPr>
              <a:t> </a:t>
            </a:r>
            <a:r>
              <a:rPr sz="1100" b="0" dirty="0" err="1">
                <a:solidFill>
                  <a:srgbClr val="222222"/>
                </a:solidFill>
              </a:rPr>
              <a:t>dráha</a:t>
            </a:r>
            <a:r>
              <a:rPr sz="1100" b="0" dirty="0">
                <a:solidFill>
                  <a:srgbClr val="222222"/>
                </a:solidFill>
              </a:rPr>
              <a:t> atm. → </a:t>
            </a:r>
            <a:r>
              <a:rPr sz="1100" b="0" dirty="0" err="1">
                <a:solidFill>
                  <a:srgbClr val="222222"/>
                </a:solidFill>
              </a:rPr>
              <a:t>viac</a:t>
            </a:r>
            <a:r>
              <a:rPr sz="1100" b="0" dirty="0">
                <a:solidFill>
                  <a:srgbClr val="222222"/>
                </a:solidFill>
              </a:rPr>
              <a:t> </a:t>
            </a:r>
            <a:r>
              <a:rPr sz="1100" b="0" dirty="0" err="1">
                <a:solidFill>
                  <a:srgbClr val="222222"/>
                </a:solidFill>
              </a:rPr>
              <a:t>žiarenia</a:t>
            </a:r>
            <a:endParaRPr sz="1100" b="0" dirty="0">
              <a:solidFill>
                <a:srgbClr val="222222"/>
              </a:solidFill>
            </a:endParaRPr>
          </a:p>
        </p:txBody>
      </p:sp>
      <p:sp>
        <p:nvSpPr>
          <p:cNvPr id="15" name="Rectangle 14"/>
          <p:cNvSpPr/>
          <p:nvPr/>
        </p:nvSpPr>
        <p:spPr>
          <a:xfrm>
            <a:off x="5760719" y="4025790"/>
            <a:ext cx="6065215" cy="685800"/>
          </a:xfrm>
          <a:prstGeom prst="rect">
            <a:avLst/>
          </a:prstGeom>
          <a:solidFill>
            <a:srgbClr val="FFFFFF"/>
          </a:solidFill>
          <a:ln w="6350">
            <a:solidFill>
              <a:srgbClr val="E0E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833870" y="4255167"/>
            <a:ext cx="5918911" cy="261610"/>
          </a:xfrm>
          <a:prstGeom prst="rect">
            <a:avLst/>
          </a:prstGeom>
          <a:noFill/>
        </p:spPr>
        <p:txBody>
          <a:bodyPr wrap="square">
            <a:spAutoFit/>
          </a:bodyPr>
          <a:lstStyle/>
          <a:p>
            <a:r>
              <a:rPr sz="1100" b="1" dirty="0">
                <a:solidFill>
                  <a:srgbClr val="1A237E"/>
                </a:solidFill>
              </a:rPr>
              <a:t>Pressure ↔ </a:t>
            </a:r>
            <a:r>
              <a:rPr sz="1100" b="1" dirty="0" err="1">
                <a:solidFill>
                  <a:srgbClr val="1A237E"/>
                </a:solidFill>
              </a:rPr>
              <a:t>BodyTemp</a:t>
            </a:r>
            <a:r>
              <a:rPr sz="1100" b="1" dirty="0">
                <a:solidFill>
                  <a:srgbClr val="1A237E"/>
                </a:solidFill>
              </a:rPr>
              <a:t>  </a:t>
            </a:r>
            <a:r>
              <a:rPr sz="1100" b="1" dirty="0">
                <a:solidFill>
                  <a:srgbClr val="C62828"/>
                </a:solidFill>
              </a:rPr>
              <a:t>≈ −0.82  </a:t>
            </a:r>
            <a:r>
              <a:rPr sz="1100" b="0" dirty="0" err="1">
                <a:solidFill>
                  <a:srgbClr val="222222"/>
                </a:solidFill>
              </a:rPr>
              <a:t>Sezónny</a:t>
            </a:r>
            <a:r>
              <a:rPr sz="1100" b="0" dirty="0">
                <a:solidFill>
                  <a:srgbClr val="222222"/>
                </a:solidFill>
              </a:rPr>
              <a:t> </a:t>
            </a:r>
            <a:r>
              <a:rPr sz="1100" b="0" dirty="0" err="1">
                <a:solidFill>
                  <a:srgbClr val="222222"/>
                </a:solidFill>
              </a:rPr>
              <a:t>efekt</a:t>
            </a:r>
            <a:r>
              <a:rPr sz="1100" b="0" dirty="0">
                <a:solidFill>
                  <a:srgbClr val="222222"/>
                </a:solidFill>
              </a:rPr>
              <a:t>: </a:t>
            </a:r>
            <a:r>
              <a:rPr sz="1100" b="0" dirty="0" err="1">
                <a:solidFill>
                  <a:srgbClr val="222222"/>
                </a:solidFill>
              </a:rPr>
              <a:t>zima</a:t>
            </a:r>
            <a:r>
              <a:rPr sz="1100" b="0" dirty="0">
                <a:solidFill>
                  <a:srgbClr val="222222"/>
                </a:solidFill>
              </a:rPr>
              <a:t> = </a:t>
            </a:r>
            <a:r>
              <a:rPr sz="1100" b="0" dirty="0" err="1">
                <a:solidFill>
                  <a:srgbClr val="222222"/>
                </a:solidFill>
              </a:rPr>
              <a:t>vysoký</a:t>
            </a:r>
            <a:r>
              <a:rPr sz="1100" b="0" dirty="0">
                <a:solidFill>
                  <a:srgbClr val="222222"/>
                </a:solidFill>
              </a:rPr>
              <a:t> </a:t>
            </a:r>
            <a:r>
              <a:rPr sz="1100" b="0" dirty="0" err="1">
                <a:solidFill>
                  <a:srgbClr val="222222"/>
                </a:solidFill>
              </a:rPr>
              <a:t>tlak</a:t>
            </a:r>
            <a:r>
              <a:rPr sz="1100" b="0" dirty="0">
                <a:solidFill>
                  <a:srgbClr val="222222"/>
                </a:solidFill>
              </a:rPr>
              <a:t>, </a:t>
            </a:r>
            <a:r>
              <a:rPr sz="1100" b="0" dirty="0" err="1">
                <a:solidFill>
                  <a:srgbClr val="222222"/>
                </a:solidFill>
              </a:rPr>
              <a:t>nízka</a:t>
            </a:r>
            <a:r>
              <a:rPr sz="1100" b="0" dirty="0">
                <a:solidFill>
                  <a:srgbClr val="222222"/>
                </a:solidFill>
              </a:rPr>
              <a:t> </a:t>
            </a:r>
            <a:r>
              <a:rPr sz="1100" b="0" dirty="0" err="1">
                <a:solidFill>
                  <a:srgbClr val="222222"/>
                </a:solidFill>
              </a:rPr>
              <a:t>teplota</a:t>
            </a:r>
            <a:endParaRPr sz="1100" b="0" dirty="0">
              <a:solidFill>
                <a:srgbClr val="222222"/>
              </a:solidFill>
            </a:endParaRPr>
          </a:p>
        </p:txBody>
      </p:sp>
      <p:sp>
        <p:nvSpPr>
          <p:cNvPr id="17" name="TextBox 16"/>
          <p:cNvSpPr txBox="1"/>
          <p:nvPr/>
        </p:nvSpPr>
        <p:spPr>
          <a:xfrm>
            <a:off x="5788152" y="4997250"/>
            <a:ext cx="6065215" cy="230832"/>
          </a:xfrm>
          <a:prstGeom prst="rect">
            <a:avLst/>
          </a:prstGeom>
          <a:noFill/>
        </p:spPr>
        <p:txBody>
          <a:bodyPr wrap="square">
            <a:spAutoFit/>
          </a:bodyPr>
          <a:lstStyle/>
          <a:p>
            <a:pPr algn="l"/>
            <a:r>
              <a:rPr sz="900" b="1" dirty="0"/>
              <a:t>16 </a:t>
            </a:r>
            <a:r>
              <a:rPr sz="900" b="1" dirty="0" err="1"/>
              <a:t>parametrov</a:t>
            </a:r>
            <a:r>
              <a:rPr sz="900" b="1" dirty="0"/>
              <a:t> v </a:t>
            </a:r>
            <a:r>
              <a:rPr sz="900" b="1" dirty="0" err="1"/>
              <a:t>matici</a:t>
            </a:r>
            <a:r>
              <a:rPr sz="900" b="1" dirty="0"/>
              <a:t> (</a:t>
            </a:r>
            <a:r>
              <a:rPr sz="900" b="1" dirty="0" err="1"/>
              <a:t>SunLatitude</a:t>
            </a:r>
            <a:r>
              <a:rPr sz="900" b="1" dirty="0"/>
              <a:t>, </a:t>
            </a:r>
            <a:r>
              <a:rPr sz="900" b="1" dirty="0" err="1"/>
              <a:t>SunLongitude</a:t>
            </a:r>
            <a:r>
              <a:rPr sz="900" b="1" dirty="0"/>
              <a:t> </a:t>
            </a:r>
            <a:r>
              <a:rPr sz="900" b="1" dirty="0" err="1"/>
              <a:t>vylučené</a:t>
            </a:r>
            <a:r>
              <a:rPr sz="900" b="1" dirty="0"/>
              <a:t> — </a:t>
            </a:r>
            <a:r>
              <a:rPr sz="900" b="1" dirty="0" err="1"/>
              <a:t>kontštanty</a:t>
            </a:r>
            <a:r>
              <a:rPr sz="900" b="1" dirty="0"/>
              <a:t>, std = 0, </a:t>
            </a:r>
            <a:r>
              <a:rPr sz="900" b="1" dirty="0" err="1"/>
              <a:t>korelácia</a:t>
            </a:r>
            <a:r>
              <a:rPr sz="900" b="1" dirty="0"/>
              <a:t> </a:t>
            </a:r>
            <a:r>
              <a:rPr sz="900" b="1" dirty="0" err="1"/>
              <a:t>nedefinovaná</a:t>
            </a:r>
            <a:r>
              <a:rPr sz="900" b="1" dirty="0"/>
              <a: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45477" y="201168"/>
            <a:ext cx="514886" cy="461665"/>
          </a:xfrm>
          <a:prstGeom prst="rect">
            <a:avLst/>
          </a:prstGeom>
          <a:noFill/>
        </p:spPr>
        <p:txBody>
          <a:bodyPr wrap="none">
            <a:spAutoFit/>
          </a:bodyPr>
          <a:lstStyle/>
          <a:p>
            <a:pPr algn="ctr"/>
            <a:r>
              <a:rPr sz="2400" b="1" dirty="0">
                <a:solidFill>
                  <a:srgbClr val="FFFFFF"/>
                </a:solidFill>
              </a:rPr>
              <a:t>12</a:t>
            </a:r>
            <a:endParaRPr sz="1600" b="1" dirty="0">
              <a:solidFill>
                <a:srgbClr val="FFFFFF"/>
              </a:solidFill>
            </a:endParaRPr>
          </a:p>
        </p:txBody>
      </p:sp>
      <p:sp>
        <p:nvSpPr>
          <p:cNvPr id="4" name="TextBox 3"/>
          <p:cNvSpPr txBox="1"/>
          <p:nvPr/>
        </p:nvSpPr>
        <p:spPr>
          <a:xfrm>
            <a:off x="822960" y="201168"/>
            <a:ext cx="3380413" cy="461665"/>
          </a:xfrm>
          <a:prstGeom prst="rect">
            <a:avLst/>
          </a:prstGeom>
          <a:noFill/>
        </p:spPr>
        <p:txBody>
          <a:bodyPr wrap="none">
            <a:spAutoFit/>
          </a:bodyPr>
          <a:lstStyle/>
          <a:p>
            <a:pPr algn="l"/>
            <a:r>
              <a:rPr sz="2400" b="1" dirty="0" err="1">
                <a:solidFill>
                  <a:srgbClr val="FFFFFF"/>
                </a:solidFill>
              </a:rPr>
              <a:t>Záver</a:t>
            </a:r>
            <a:r>
              <a:rPr sz="2400" b="1" dirty="0">
                <a:solidFill>
                  <a:srgbClr val="FFFFFF"/>
                </a:solidFill>
              </a:rPr>
              <a:t> </a:t>
            </a:r>
            <a:r>
              <a:rPr lang="sk-SK" sz="2400" b="1" dirty="0">
                <a:solidFill>
                  <a:srgbClr val="FFFFFF"/>
                </a:solidFill>
              </a:rPr>
              <a:t>- </a:t>
            </a:r>
            <a:r>
              <a:rPr sz="2400" b="1" dirty="0" err="1">
                <a:solidFill>
                  <a:srgbClr val="FFFFFF"/>
                </a:solidFill>
              </a:rPr>
              <a:t>čo</a:t>
            </a:r>
            <a:r>
              <a:rPr sz="2400" b="1" dirty="0">
                <a:solidFill>
                  <a:srgbClr val="FFFFFF"/>
                </a:solidFill>
              </a:rPr>
              <a:t> </a:t>
            </a:r>
            <a:r>
              <a:rPr sz="2400" b="1" dirty="0" err="1">
                <a:solidFill>
                  <a:srgbClr val="FFFFFF"/>
                </a:solidFill>
              </a:rPr>
              <a:t>sme</a:t>
            </a:r>
            <a:r>
              <a:rPr sz="2400" b="1" dirty="0">
                <a:solidFill>
                  <a:srgbClr val="FFFFFF"/>
                </a:solidFill>
              </a:rPr>
              <a:t> </a:t>
            </a:r>
            <a:r>
              <a:rPr sz="2400" b="1" dirty="0" err="1">
                <a:solidFill>
                  <a:srgbClr val="FFFFFF"/>
                </a:solidFill>
              </a:rPr>
              <a:t>dosiahli</a:t>
            </a:r>
            <a:endParaRPr sz="2400" b="1" dirty="0">
              <a:solidFill>
                <a:srgbClr val="FFFFFF"/>
              </a:solidFill>
            </a:endParaRPr>
          </a:p>
        </p:txBody>
      </p:sp>
      <p:sp>
        <p:nvSpPr>
          <p:cNvPr id="6" name="TextBox 5"/>
          <p:cNvSpPr txBox="1"/>
          <p:nvPr/>
        </p:nvSpPr>
        <p:spPr>
          <a:xfrm>
            <a:off x="320040" y="1188720"/>
            <a:ext cx="11551615" cy="3698448"/>
          </a:xfrm>
          <a:prstGeom prst="rect">
            <a:avLst/>
          </a:prstGeom>
          <a:noFill/>
        </p:spPr>
        <p:txBody>
          <a:bodyPr wrap="square">
            <a:spAutoFit/>
          </a:bodyPr>
          <a:lstStyle/>
          <a:p>
            <a:pPr>
              <a:spcAft>
                <a:spcPts val="700"/>
              </a:spcAft>
            </a:pPr>
            <a:r>
              <a:rPr sz="1600" b="1" dirty="0">
                <a:solidFill>
                  <a:srgbClr val="1A237E"/>
                </a:solidFill>
              </a:rPr>
              <a:t>• Dataset:  </a:t>
            </a:r>
            <a:r>
              <a:rPr sz="1600" dirty="0">
                <a:solidFill>
                  <a:srgbClr val="222222"/>
                </a:solidFill>
              </a:rPr>
              <a:t>25 600 </a:t>
            </a:r>
            <a:r>
              <a:rPr sz="1600" dirty="0" err="1">
                <a:solidFill>
                  <a:srgbClr val="222222"/>
                </a:solidFill>
              </a:rPr>
              <a:t>vzoriek</a:t>
            </a:r>
            <a:r>
              <a:rPr sz="1600" dirty="0">
                <a:solidFill>
                  <a:srgbClr val="222222"/>
                </a:solidFill>
              </a:rPr>
              <a:t>,  0 </a:t>
            </a:r>
            <a:r>
              <a:rPr sz="1600" dirty="0" err="1">
                <a:solidFill>
                  <a:srgbClr val="222222"/>
                </a:solidFill>
              </a:rPr>
              <a:t>NaN</a:t>
            </a:r>
            <a:r>
              <a:rPr sz="1600" dirty="0">
                <a:solidFill>
                  <a:srgbClr val="222222"/>
                </a:solidFill>
              </a:rPr>
              <a:t>,  8 </a:t>
            </a:r>
            <a:r>
              <a:rPr sz="1600" dirty="0" err="1">
                <a:solidFill>
                  <a:srgbClr val="222222"/>
                </a:solidFill>
              </a:rPr>
              <a:t>chýbajúcich</a:t>
            </a:r>
            <a:r>
              <a:rPr sz="1600" dirty="0">
                <a:solidFill>
                  <a:srgbClr val="222222"/>
                </a:solidFill>
              </a:rPr>
              <a:t> </a:t>
            </a:r>
            <a:r>
              <a:rPr sz="1600" dirty="0" err="1">
                <a:solidFill>
                  <a:srgbClr val="222222"/>
                </a:solidFill>
              </a:rPr>
              <a:t>dní</a:t>
            </a:r>
            <a:endParaRPr lang="sk-SK" sz="1600" dirty="0">
              <a:solidFill>
                <a:srgbClr val="222222"/>
              </a:solidFill>
            </a:endParaRPr>
          </a:p>
          <a:p>
            <a:pPr>
              <a:spcAft>
                <a:spcPts val="700"/>
              </a:spcAft>
            </a:pPr>
            <a:endParaRPr sz="1600" dirty="0">
              <a:solidFill>
                <a:srgbClr val="222222"/>
              </a:solidFill>
            </a:endParaRPr>
          </a:p>
          <a:p>
            <a:pPr>
              <a:spcAft>
                <a:spcPts val="700"/>
              </a:spcAft>
            </a:pPr>
            <a:r>
              <a:rPr sz="1600" b="1" dirty="0">
                <a:solidFill>
                  <a:srgbClr val="1A237E"/>
                </a:solidFill>
              </a:rPr>
              <a:t>• </a:t>
            </a:r>
            <a:r>
              <a:rPr sz="1600" b="1" dirty="0" err="1">
                <a:solidFill>
                  <a:srgbClr val="1A237E"/>
                </a:solidFill>
              </a:rPr>
              <a:t>Detekcia</a:t>
            </a:r>
            <a:r>
              <a:rPr sz="1600" b="1" dirty="0">
                <a:solidFill>
                  <a:srgbClr val="1A237E"/>
                </a:solidFill>
              </a:rPr>
              <a:t> </a:t>
            </a:r>
            <a:r>
              <a:rPr sz="1600" b="1" dirty="0" err="1">
                <a:solidFill>
                  <a:srgbClr val="1A237E"/>
                </a:solidFill>
              </a:rPr>
              <a:t>chýb</a:t>
            </a:r>
            <a:r>
              <a:rPr sz="1600" b="1" dirty="0">
                <a:solidFill>
                  <a:srgbClr val="1A237E"/>
                </a:solidFill>
              </a:rPr>
              <a:t>:  </a:t>
            </a:r>
            <a:r>
              <a:rPr sz="1600" dirty="0">
                <a:solidFill>
                  <a:srgbClr val="222222"/>
                </a:solidFill>
              </a:rPr>
              <a:t>189 </a:t>
            </a:r>
            <a:r>
              <a:rPr sz="1600" dirty="0" err="1">
                <a:solidFill>
                  <a:srgbClr val="222222"/>
                </a:solidFill>
              </a:rPr>
              <a:t>poškodených</a:t>
            </a:r>
            <a:r>
              <a:rPr sz="1600" dirty="0">
                <a:solidFill>
                  <a:srgbClr val="222222"/>
                </a:solidFill>
              </a:rPr>
              <a:t> </a:t>
            </a:r>
            <a:r>
              <a:rPr sz="1600" dirty="0" err="1">
                <a:solidFill>
                  <a:srgbClr val="222222"/>
                </a:solidFill>
              </a:rPr>
              <a:t>vzoriek</a:t>
            </a:r>
            <a:r>
              <a:rPr sz="1600" dirty="0">
                <a:solidFill>
                  <a:srgbClr val="222222"/>
                </a:solidFill>
              </a:rPr>
              <a:t> (0.74 %), 151 </a:t>
            </a:r>
            <a:r>
              <a:rPr sz="1600" dirty="0" err="1">
                <a:solidFill>
                  <a:srgbClr val="222222"/>
                </a:solidFill>
              </a:rPr>
              <a:t>skupín</a:t>
            </a:r>
            <a:r>
              <a:rPr sz="1600" dirty="0">
                <a:solidFill>
                  <a:srgbClr val="222222"/>
                </a:solidFill>
              </a:rPr>
              <a:t>, max. </a:t>
            </a:r>
            <a:r>
              <a:rPr sz="1600" dirty="0" err="1">
                <a:solidFill>
                  <a:srgbClr val="222222"/>
                </a:solidFill>
              </a:rPr>
              <a:t>dĺžka</a:t>
            </a:r>
            <a:r>
              <a:rPr sz="1600" dirty="0">
                <a:solidFill>
                  <a:srgbClr val="222222"/>
                </a:solidFill>
              </a:rPr>
              <a:t> 12</a:t>
            </a:r>
          </a:p>
          <a:p>
            <a:pPr>
              <a:spcAft>
                <a:spcPts val="700"/>
              </a:spcAft>
            </a:pPr>
            <a:endParaRPr lang="sk-SK" sz="1600" b="1" dirty="0">
              <a:solidFill>
                <a:srgbClr val="1A237E"/>
              </a:solidFill>
            </a:endParaRPr>
          </a:p>
          <a:p>
            <a:pPr>
              <a:spcAft>
                <a:spcPts val="700"/>
              </a:spcAft>
            </a:pPr>
            <a:r>
              <a:rPr sz="1600" b="1" dirty="0">
                <a:solidFill>
                  <a:srgbClr val="1A237E"/>
                </a:solidFill>
              </a:rPr>
              <a:t>• Po </a:t>
            </a:r>
            <a:r>
              <a:rPr sz="1600" b="1" dirty="0" err="1">
                <a:solidFill>
                  <a:srgbClr val="1A237E"/>
                </a:solidFill>
              </a:rPr>
              <a:t>čistení</a:t>
            </a:r>
            <a:r>
              <a:rPr sz="1600" b="1" dirty="0">
                <a:solidFill>
                  <a:srgbClr val="1A237E"/>
                </a:solidFill>
              </a:rPr>
              <a:t>:  </a:t>
            </a:r>
            <a:r>
              <a:rPr sz="1600" dirty="0">
                <a:solidFill>
                  <a:srgbClr val="222222"/>
                </a:solidFill>
              </a:rPr>
              <a:t>25 411 </a:t>
            </a:r>
            <a:r>
              <a:rPr sz="1600" dirty="0" err="1">
                <a:solidFill>
                  <a:srgbClr val="222222"/>
                </a:solidFill>
              </a:rPr>
              <a:t>platných</a:t>
            </a:r>
            <a:r>
              <a:rPr sz="1600" dirty="0">
                <a:solidFill>
                  <a:srgbClr val="222222"/>
                </a:solidFill>
              </a:rPr>
              <a:t> </a:t>
            </a:r>
            <a:r>
              <a:rPr sz="1600" dirty="0" err="1">
                <a:solidFill>
                  <a:srgbClr val="222222"/>
                </a:solidFill>
              </a:rPr>
              <a:t>vzoriek</a:t>
            </a:r>
            <a:r>
              <a:rPr sz="1600" dirty="0">
                <a:solidFill>
                  <a:srgbClr val="222222"/>
                </a:solidFill>
              </a:rPr>
              <a:t> → cleaned.csv</a:t>
            </a:r>
          </a:p>
          <a:p>
            <a:pPr>
              <a:spcAft>
                <a:spcPts val="700"/>
              </a:spcAft>
            </a:pPr>
            <a:endParaRPr lang="sk-SK" sz="1600" b="1" dirty="0">
              <a:solidFill>
                <a:srgbClr val="1A237E"/>
              </a:solidFill>
            </a:endParaRPr>
          </a:p>
          <a:p>
            <a:pPr>
              <a:spcAft>
                <a:spcPts val="700"/>
              </a:spcAft>
            </a:pPr>
            <a:r>
              <a:rPr sz="1600" b="1" dirty="0">
                <a:solidFill>
                  <a:srgbClr val="1A237E"/>
                </a:solidFill>
              </a:rPr>
              <a:t>• </a:t>
            </a:r>
            <a:r>
              <a:rPr sz="1600" b="1" dirty="0" err="1">
                <a:solidFill>
                  <a:srgbClr val="1A237E"/>
                </a:solidFill>
              </a:rPr>
              <a:t>Žiarenie</a:t>
            </a:r>
            <a:r>
              <a:rPr sz="1600" b="1" dirty="0">
                <a:solidFill>
                  <a:srgbClr val="1A237E"/>
                </a:solidFill>
              </a:rPr>
              <a:t>:  </a:t>
            </a:r>
            <a:r>
              <a:rPr sz="1600" dirty="0" err="1">
                <a:solidFill>
                  <a:srgbClr val="222222"/>
                </a:solidFill>
              </a:rPr>
              <a:t>Silný</a:t>
            </a:r>
            <a:r>
              <a:rPr sz="1600" dirty="0">
                <a:solidFill>
                  <a:srgbClr val="222222"/>
                </a:solidFill>
              </a:rPr>
              <a:t> </a:t>
            </a:r>
            <a:r>
              <a:rPr sz="1600" dirty="0" err="1">
                <a:solidFill>
                  <a:srgbClr val="222222"/>
                </a:solidFill>
              </a:rPr>
              <a:t>sezónny</a:t>
            </a:r>
            <a:r>
              <a:rPr sz="1600" dirty="0">
                <a:solidFill>
                  <a:srgbClr val="222222"/>
                </a:solidFill>
              </a:rPr>
              <a:t> </a:t>
            </a:r>
            <a:r>
              <a:rPr sz="1600" dirty="0" err="1">
                <a:solidFill>
                  <a:srgbClr val="222222"/>
                </a:solidFill>
              </a:rPr>
              <a:t>vzor</a:t>
            </a:r>
            <a:r>
              <a:rPr sz="1600" dirty="0">
                <a:solidFill>
                  <a:srgbClr val="222222"/>
                </a:solidFill>
              </a:rPr>
              <a:t> </a:t>
            </a:r>
            <a:r>
              <a:rPr lang="sk-SK" sz="1600" dirty="0">
                <a:solidFill>
                  <a:srgbClr val="222222"/>
                </a:solidFill>
              </a:rPr>
              <a:t>-</a:t>
            </a:r>
            <a:r>
              <a:rPr sz="1600" dirty="0">
                <a:solidFill>
                  <a:srgbClr val="222222"/>
                </a:solidFill>
              </a:rPr>
              <a:t> </a:t>
            </a:r>
            <a:r>
              <a:rPr sz="1600" dirty="0" err="1">
                <a:solidFill>
                  <a:srgbClr val="222222"/>
                </a:solidFill>
              </a:rPr>
              <a:t>letné</a:t>
            </a:r>
            <a:r>
              <a:rPr sz="1600" dirty="0">
                <a:solidFill>
                  <a:srgbClr val="222222"/>
                </a:solidFill>
              </a:rPr>
              <a:t> max. ~500</a:t>
            </a:r>
            <a:r>
              <a:rPr lang="sk-SK" sz="1600" dirty="0">
                <a:solidFill>
                  <a:srgbClr val="222222"/>
                </a:solidFill>
              </a:rPr>
              <a:t>-</a:t>
            </a:r>
            <a:r>
              <a:rPr sz="1600" dirty="0">
                <a:solidFill>
                  <a:srgbClr val="222222"/>
                </a:solidFill>
              </a:rPr>
              <a:t>600 W/m², </a:t>
            </a:r>
            <a:r>
              <a:rPr sz="1600" dirty="0" err="1">
                <a:solidFill>
                  <a:srgbClr val="222222"/>
                </a:solidFill>
              </a:rPr>
              <a:t>zimné</a:t>
            </a:r>
            <a:r>
              <a:rPr sz="1600" dirty="0">
                <a:solidFill>
                  <a:srgbClr val="222222"/>
                </a:solidFill>
              </a:rPr>
              <a:t> min. ~50</a:t>
            </a:r>
            <a:r>
              <a:rPr lang="sk-SK" sz="1600" dirty="0">
                <a:solidFill>
                  <a:srgbClr val="222222"/>
                </a:solidFill>
              </a:rPr>
              <a:t>-</a:t>
            </a:r>
            <a:r>
              <a:rPr sz="1600" dirty="0">
                <a:solidFill>
                  <a:srgbClr val="222222"/>
                </a:solidFill>
              </a:rPr>
              <a:t>100 W/m²</a:t>
            </a:r>
          </a:p>
          <a:p>
            <a:pPr>
              <a:spcAft>
                <a:spcPts val="700"/>
              </a:spcAft>
            </a:pPr>
            <a:endParaRPr lang="sk-SK" sz="1600" b="1" dirty="0">
              <a:solidFill>
                <a:srgbClr val="1A237E"/>
              </a:solidFill>
            </a:endParaRPr>
          </a:p>
          <a:p>
            <a:pPr>
              <a:spcAft>
                <a:spcPts val="700"/>
              </a:spcAft>
            </a:pPr>
            <a:r>
              <a:rPr sz="1600" b="1" dirty="0">
                <a:solidFill>
                  <a:srgbClr val="1A237E"/>
                </a:solidFill>
              </a:rPr>
              <a:t>• </a:t>
            </a:r>
            <a:r>
              <a:rPr sz="1600" b="1" dirty="0" err="1">
                <a:solidFill>
                  <a:srgbClr val="1A237E"/>
                </a:solidFill>
              </a:rPr>
              <a:t>Najsilnejšia</a:t>
            </a:r>
            <a:r>
              <a:rPr sz="1600" b="1" dirty="0">
                <a:solidFill>
                  <a:srgbClr val="1A237E"/>
                </a:solidFill>
              </a:rPr>
              <a:t> </a:t>
            </a:r>
            <a:r>
              <a:rPr sz="1600" b="1" dirty="0" err="1">
                <a:solidFill>
                  <a:srgbClr val="1A237E"/>
                </a:solidFill>
              </a:rPr>
              <a:t>korelácia</a:t>
            </a:r>
            <a:r>
              <a:rPr sz="1600" b="1" dirty="0">
                <a:solidFill>
                  <a:srgbClr val="1A237E"/>
                </a:solidFill>
              </a:rPr>
              <a:t>:  </a:t>
            </a:r>
            <a:r>
              <a:rPr sz="1600" dirty="0" err="1">
                <a:solidFill>
                  <a:srgbClr val="222222"/>
                </a:solidFill>
              </a:rPr>
              <a:t>FanSpeed↔Pressure</a:t>
            </a:r>
            <a:r>
              <a:rPr sz="1600" dirty="0">
                <a:solidFill>
                  <a:srgbClr val="222222"/>
                </a:solidFill>
              </a:rPr>
              <a:t>  r = −0.998  (nep</a:t>
            </a:r>
            <a:r>
              <a:rPr lang="sk-SK" sz="1600" dirty="0" err="1">
                <a:solidFill>
                  <a:srgbClr val="222222"/>
                </a:solidFill>
              </a:rPr>
              <a:t>ria</a:t>
            </a:r>
            <a:r>
              <a:rPr sz="1600" dirty="0">
                <a:solidFill>
                  <a:srgbClr val="222222"/>
                </a:solidFill>
              </a:rPr>
              <a:t>my </a:t>
            </a:r>
            <a:r>
              <a:rPr sz="1600" dirty="0" err="1">
                <a:solidFill>
                  <a:srgbClr val="222222"/>
                </a:solidFill>
              </a:rPr>
              <a:t>sezónny</a:t>
            </a:r>
            <a:r>
              <a:rPr sz="1600" dirty="0">
                <a:solidFill>
                  <a:srgbClr val="222222"/>
                </a:solidFill>
              </a:rPr>
              <a:t> </a:t>
            </a:r>
            <a:r>
              <a:rPr sz="1600" dirty="0" err="1">
                <a:solidFill>
                  <a:srgbClr val="222222"/>
                </a:solidFill>
              </a:rPr>
              <a:t>efekt</a:t>
            </a:r>
            <a:r>
              <a:rPr sz="1600" dirty="0">
                <a:solidFill>
                  <a:srgbClr val="222222"/>
                </a:solidFill>
              </a:rPr>
              <a:t>)</a:t>
            </a:r>
          </a:p>
          <a:p>
            <a:pPr>
              <a:spcAft>
                <a:spcPts val="700"/>
              </a:spcAft>
            </a:pPr>
            <a:endParaRPr lang="sk-SK" sz="1600" b="1" dirty="0">
              <a:solidFill>
                <a:srgbClr val="1A237E"/>
              </a:solidFill>
            </a:endParaRPr>
          </a:p>
          <a:p>
            <a:pPr>
              <a:spcAft>
                <a:spcPts val="700"/>
              </a:spcAft>
            </a:pPr>
            <a:r>
              <a:rPr sz="1600" b="1" dirty="0">
                <a:solidFill>
                  <a:srgbClr val="1A237E"/>
                </a:solidFill>
              </a:rPr>
              <a:t>• </a:t>
            </a:r>
            <a:r>
              <a:rPr sz="1600" b="1" dirty="0" err="1">
                <a:solidFill>
                  <a:srgbClr val="1A237E"/>
                </a:solidFill>
              </a:rPr>
              <a:t>Teplotné</a:t>
            </a:r>
            <a:r>
              <a:rPr sz="1600" b="1" dirty="0">
                <a:solidFill>
                  <a:srgbClr val="1A237E"/>
                </a:solidFill>
              </a:rPr>
              <a:t> </a:t>
            </a:r>
            <a:r>
              <a:rPr sz="1600" b="1" dirty="0" err="1">
                <a:solidFill>
                  <a:srgbClr val="1A237E"/>
                </a:solidFill>
              </a:rPr>
              <a:t>snímače</a:t>
            </a:r>
            <a:r>
              <a:rPr sz="1600" b="1" dirty="0">
                <a:solidFill>
                  <a:srgbClr val="1A237E"/>
                </a:solidFill>
              </a:rPr>
              <a:t>:  </a:t>
            </a:r>
            <a:r>
              <a:rPr sz="1600" dirty="0">
                <a:solidFill>
                  <a:srgbClr val="222222"/>
                </a:solidFill>
              </a:rPr>
              <a:t>r ≈ +0.999 — </a:t>
            </a:r>
            <a:r>
              <a:rPr sz="1600" dirty="0" err="1">
                <a:solidFill>
                  <a:srgbClr val="222222"/>
                </a:solidFill>
              </a:rPr>
              <a:t>potvrdená</a:t>
            </a:r>
            <a:r>
              <a:rPr sz="1600" dirty="0">
                <a:solidFill>
                  <a:srgbClr val="222222"/>
                </a:solidFill>
              </a:rPr>
              <a:t> </a:t>
            </a:r>
            <a:r>
              <a:rPr sz="1600" dirty="0" err="1">
                <a:solidFill>
                  <a:srgbClr val="222222"/>
                </a:solidFill>
              </a:rPr>
              <a:t>kalib</a:t>
            </a:r>
            <a:r>
              <a:rPr lang="sk-SK" sz="1600" dirty="0">
                <a:solidFill>
                  <a:srgbClr val="222222"/>
                </a:solidFill>
              </a:rPr>
              <a:t>r</a:t>
            </a:r>
            <a:r>
              <a:rPr sz="1600" dirty="0" err="1">
                <a:solidFill>
                  <a:srgbClr val="222222"/>
                </a:solidFill>
              </a:rPr>
              <a:t>ácia</a:t>
            </a:r>
            <a:endParaRPr sz="1600" dirty="0">
              <a:solidFill>
                <a:srgbClr val="222222"/>
              </a:solidFill>
            </a:endParaRPr>
          </a:p>
        </p:txBody>
      </p:sp>
      <p:sp>
        <p:nvSpPr>
          <p:cNvPr id="9" name="Rectangle 8"/>
          <p:cNvSpPr/>
          <p:nvPr/>
        </p:nvSpPr>
        <p:spPr>
          <a:xfrm>
            <a:off x="320040" y="5322060"/>
            <a:ext cx="11551615" cy="118872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02919" y="5685587"/>
            <a:ext cx="11185855" cy="523220"/>
          </a:xfrm>
          <a:prstGeom prst="rect">
            <a:avLst/>
          </a:prstGeom>
          <a:noFill/>
        </p:spPr>
        <p:txBody>
          <a:bodyPr wrap="square">
            <a:spAutoFit/>
          </a:bodyPr>
          <a:lstStyle/>
          <a:p>
            <a:pPr algn="ctr"/>
            <a:r>
              <a:rPr lang="sk-SK" sz="2800" b="1" i="0" dirty="0">
                <a:solidFill>
                  <a:srgbClr val="FFFFFF"/>
                </a:solidFill>
              </a:rPr>
              <a:t>ĎAKUJEME</a:t>
            </a:r>
            <a:r>
              <a:rPr lang="sk-SK" sz="2400" b="1" i="0" dirty="0">
                <a:solidFill>
                  <a:srgbClr val="FFFFFF"/>
                </a:solidFill>
              </a:rPr>
              <a:t> </a:t>
            </a:r>
            <a:r>
              <a:rPr lang="sk-SK" sz="2800" b="1" i="0" dirty="0">
                <a:solidFill>
                  <a:srgbClr val="FFFFFF"/>
                </a:solidFill>
              </a:rPr>
              <a:t>ZA</a:t>
            </a:r>
            <a:r>
              <a:rPr lang="sk-SK" sz="2400" b="1" i="0" dirty="0">
                <a:solidFill>
                  <a:srgbClr val="FFFFFF"/>
                </a:solidFill>
              </a:rPr>
              <a:t> </a:t>
            </a:r>
            <a:r>
              <a:rPr lang="sk-SK" sz="2800" b="1" i="0" dirty="0">
                <a:solidFill>
                  <a:srgbClr val="FFFFFF"/>
                </a:solidFill>
              </a:rPr>
              <a:t>POZORNOSŤ</a:t>
            </a:r>
            <a:endParaRPr lang="sk-SK" sz="2400" b="1" i="0" dirty="0">
              <a:solidFill>
                <a:srgbClr val="FFFFFF"/>
              </a:solidFill>
            </a:endParaRPr>
          </a:p>
        </p:txBody>
      </p:sp>
    </p:spTree>
  </p:cSld>
  <p:clrMapOvr>
    <a:masterClrMapping/>
  </p:clrMapOvr>
</p:sld>
</file>

<file path=ppt/theme/theme1.xml><?xml version="1.0" encoding="utf-8"?>
<a:theme xmlns:a="http://schemas.openxmlformats.org/drawingml/2006/main" name="Motív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Motív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1239</TotalTime>
  <Words>1946</Words>
  <Application>Microsoft Office PowerPoint</Application>
  <PresentationFormat>Širokouhlá</PresentationFormat>
  <Paragraphs>227</Paragraphs>
  <Slides>12</Slides>
  <Notes>12</Notes>
  <HiddenSlides>0</HiddenSlides>
  <MMClips>0</MMClips>
  <ScaleCrop>false</ScaleCrop>
  <HeadingPairs>
    <vt:vector size="6" baseType="variant">
      <vt:variant>
        <vt:lpstr>Použité písma</vt:lpstr>
      </vt:variant>
      <vt:variant>
        <vt:i4>4</vt:i4>
      </vt:variant>
      <vt:variant>
        <vt:lpstr>Motív</vt:lpstr>
      </vt:variant>
      <vt:variant>
        <vt:i4>1</vt:i4>
      </vt:variant>
      <vt:variant>
        <vt:lpstr>Nadpisy snímok</vt:lpstr>
      </vt:variant>
      <vt:variant>
        <vt:i4>12</vt:i4>
      </vt:variant>
    </vt:vector>
  </HeadingPairs>
  <TitlesOfParts>
    <vt:vector size="17" baseType="lpstr">
      <vt:lpstr>Aptos</vt:lpstr>
      <vt:lpstr>Aptos Display</vt:lpstr>
      <vt:lpstr>Arial</vt:lpstr>
      <vt:lpstr>Cambria Math</vt:lpstr>
      <vt:lpstr>Motív Office</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Matej Režnák</dc:creator>
  <cp:lastModifiedBy>Tomáš Varmuža</cp:lastModifiedBy>
  <cp:revision>17</cp:revision>
  <dcterms:created xsi:type="dcterms:W3CDTF">2025-04-28T17:19:28Z</dcterms:created>
  <dcterms:modified xsi:type="dcterms:W3CDTF">2026-05-10T20:59:35Z</dcterms:modified>
</cp:coreProperties>
</file>